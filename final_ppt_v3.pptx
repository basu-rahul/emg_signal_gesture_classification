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6.jpg" ContentType="image/jpeg"/>
  <Override PartName="/ppt/media/image17.jpg" ContentType="image/jpeg"/>
  <Override PartName="/ppt/media/image19.jpg" ContentType="image/jpeg"/>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36.jpg" ContentType="image/jpeg"/>
  <Override PartName="/ppt/media/image39.jpg" ContentType="image/jpe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49"/>
  </p:notesMasterIdLst>
  <p:sldIdLst>
    <p:sldId id="320" r:id="rId2"/>
    <p:sldId id="321" r:id="rId3"/>
    <p:sldId id="260" r:id="rId4"/>
    <p:sldId id="256" r:id="rId5"/>
    <p:sldId id="257" r:id="rId6"/>
    <p:sldId id="258" r:id="rId7"/>
    <p:sldId id="322" r:id="rId8"/>
    <p:sldId id="287" r:id="rId9"/>
    <p:sldId id="288" r:id="rId10"/>
    <p:sldId id="263" r:id="rId11"/>
    <p:sldId id="294" r:id="rId12"/>
    <p:sldId id="295" r:id="rId13"/>
    <p:sldId id="296" r:id="rId14"/>
    <p:sldId id="297" r:id="rId15"/>
    <p:sldId id="299" r:id="rId16"/>
    <p:sldId id="300" r:id="rId17"/>
    <p:sldId id="301" r:id="rId18"/>
    <p:sldId id="302" r:id="rId19"/>
    <p:sldId id="303" r:id="rId20"/>
    <p:sldId id="304" r:id="rId21"/>
    <p:sldId id="305" r:id="rId22"/>
    <p:sldId id="268" r:id="rId23"/>
    <p:sldId id="291" r:id="rId24"/>
    <p:sldId id="292" r:id="rId25"/>
    <p:sldId id="269" r:id="rId26"/>
    <p:sldId id="276" r:id="rId27"/>
    <p:sldId id="306" r:id="rId28"/>
    <p:sldId id="307" r:id="rId29"/>
    <p:sldId id="308" r:id="rId30"/>
    <p:sldId id="310" r:id="rId31"/>
    <p:sldId id="277" r:id="rId32"/>
    <p:sldId id="309" r:id="rId33"/>
    <p:sldId id="293" r:id="rId34"/>
    <p:sldId id="312" r:id="rId35"/>
    <p:sldId id="313" r:id="rId36"/>
    <p:sldId id="314" r:id="rId37"/>
    <p:sldId id="315" r:id="rId38"/>
    <p:sldId id="317" r:id="rId39"/>
    <p:sldId id="282" r:id="rId40"/>
    <p:sldId id="283" r:id="rId41"/>
    <p:sldId id="319" r:id="rId42"/>
    <p:sldId id="318" r:id="rId43"/>
    <p:sldId id="325" r:id="rId44"/>
    <p:sldId id="324" r:id="rId45"/>
    <p:sldId id="284" r:id="rId46"/>
    <p:sldId id="285" r:id="rId47"/>
    <p:sldId id="286" r:id="rId4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07D016-DE28-4103-8F57-D7495C7F4516}">
  <a:tblStyle styleId="{F707D016-DE28-4103-8F57-D7495C7F451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96ab8efc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96ab8efc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7e9cac382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7e9cac382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7e9cac382a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7e9cac382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7e9cac382a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7e9cac382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7e9cac382a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7e9cac382a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7e9cac382a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7e9cac382a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7e9cac382a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17e9cac382a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097d2aaf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097d2aaf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15f4900a04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15f4900a04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cf7a3c503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cf7a3c503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543963"/>
            <a:ext cx="3714900" cy="64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478925"/>
            <a:ext cx="1650900" cy="97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279625"/>
            <a:ext cx="4561200" cy="39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360375" y="1433050"/>
            <a:ext cx="17253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4021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225400"/>
            <a:ext cx="6899100" cy="269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539500"/>
            <a:ext cx="3557100" cy="977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497763"/>
            <a:ext cx="7717500" cy="16443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27878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410500" y="2932775"/>
            <a:ext cx="4323000" cy="49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91" name="Google Shape;91;p14"/>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92" name="Google Shape;92;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 name="Google Shape;93;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1994850" y="1697488"/>
            <a:ext cx="5154300" cy="112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96" name="Google Shape;96;p15"/>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97" name="Google Shape;97;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8" name="Google Shape;98;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1" name="Google Shape;10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2" name="Google Shape;10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3" name="Google Shape;103;p16"/>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04"/>
        <p:cNvGrpSpPr/>
        <p:nvPr/>
      </p:nvGrpSpPr>
      <p:grpSpPr>
        <a:xfrm>
          <a:off x="0" y="0"/>
          <a:ext cx="0" cy="0"/>
          <a:chOff x="0" y="0"/>
          <a:chExt cx="0" cy="0"/>
        </a:xfrm>
      </p:grpSpPr>
      <p:sp>
        <p:nvSpPr>
          <p:cNvPr id="105" name="Google Shape;105;p17"/>
          <p:cNvSpPr txBox="1">
            <a:spLocks noGrp="1"/>
          </p:cNvSpPr>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6" name="Google Shape;106;p17"/>
          <p:cNvSpPr txBox="1">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107" name="Google Shape;107;p17"/>
          <p:cNvSpPr txBox="1">
            <a:spLocks noGrp="1"/>
          </p:cNvSpPr>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08" name="Google Shape;10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9" name="Google Shape;10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7"/>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3_1">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1043725" y="1185550"/>
            <a:ext cx="3123000" cy="2019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3" name="Google Shape;113;p18"/>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114" name="Google Shape;114;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5" name="Google Shape;115;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6" name="Google Shape;116;p18"/>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17"/>
        <p:cNvGrpSpPr/>
        <p:nvPr/>
      </p:nvGrpSpPr>
      <p:grpSpPr>
        <a:xfrm>
          <a:off x="0" y="0"/>
          <a:ext cx="0" cy="0"/>
          <a:chOff x="0" y="0"/>
          <a:chExt cx="0" cy="0"/>
        </a:xfrm>
      </p:grpSpPr>
      <p:sp>
        <p:nvSpPr>
          <p:cNvPr id="118" name="Google Shape;118;p19"/>
          <p:cNvSpPr txBox="1">
            <a:spLocks noGrp="1"/>
          </p:cNvSpPr>
          <p:nvPr>
            <p:ph type="subTitle" idx="1"/>
          </p:nvPr>
        </p:nvSpPr>
        <p:spPr>
          <a:xfrm>
            <a:off x="3509000" y="2636125"/>
            <a:ext cx="212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19" name="Google Shape;119;p19"/>
          <p:cNvSpPr txBox="1">
            <a:spLocks noGrp="1"/>
          </p:cNvSpPr>
          <p:nvPr>
            <p:ph type="subTitle" idx="2"/>
          </p:nvPr>
        </p:nvSpPr>
        <p:spPr>
          <a:xfrm>
            <a:off x="3509025" y="2976125"/>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0" name="Google Shape;120;p19"/>
          <p:cNvSpPr txBox="1">
            <a:spLocks noGrp="1"/>
          </p:cNvSpPr>
          <p:nvPr>
            <p:ph type="subTitle" idx="3"/>
          </p:nvPr>
        </p:nvSpPr>
        <p:spPr>
          <a:xfrm>
            <a:off x="953025" y="2636125"/>
            <a:ext cx="212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21" name="Google Shape;121;p19"/>
          <p:cNvSpPr txBox="1">
            <a:spLocks noGrp="1"/>
          </p:cNvSpPr>
          <p:nvPr>
            <p:ph type="subTitle" idx="4"/>
          </p:nvPr>
        </p:nvSpPr>
        <p:spPr>
          <a:xfrm>
            <a:off x="953125" y="2976125"/>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 name="Google Shape;122;p19"/>
          <p:cNvSpPr txBox="1">
            <a:spLocks noGrp="1"/>
          </p:cNvSpPr>
          <p:nvPr>
            <p:ph type="subTitle" idx="5"/>
          </p:nvPr>
        </p:nvSpPr>
        <p:spPr>
          <a:xfrm>
            <a:off x="6064875" y="2636125"/>
            <a:ext cx="212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23" name="Google Shape;123;p19"/>
          <p:cNvSpPr txBox="1">
            <a:spLocks noGrp="1"/>
          </p:cNvSpPr>
          <p:nvPr>
            <p:ph type="subTitle" idx="6"/>
          </p:nvPr>
        </p:nvSpPr>
        <p:spPr>
          <a:xfrm>
            <a:off x="6064875" y="2976125"/>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4" name="Google Shape;124;p19"/>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25" name="Google Shape;125;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6" name="Google Shape;126;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CUSTOM_4_2_1">
    <p:spTree>
      <p:nvGrpSpPr>
        <p:cNvPr id="1" name="Shape 127"/>
        <p:cNvGrpSpPr/>
        <p:nvPr/>
      </p:nvGrpSpPr>
      <p:grpSpPr>
        <a:xfrm>
          <a:off x="0" y="0"/>
          <a:ext cx="0" cy="0"/>
          <a:chOff x="0" y="0"/>
          <a:chExt cx="0" cy="0"/>
        </a:xfrm>
      </p:grpSpPr>
      <p:sp>
        <p:nvSpPr>
          <p:cNvPr id="128" name="Google Shape;128;p20"/>
          <p:cNvSpPr txBox="1">
            <a:spLocks noGrp="1"/>
          </p:cNvSpPr>
          <p:nvPr>
            <p:ph type="subTitle" idx="1"/>
          </p:nvPr>
        </p:nvSpPr>
        <p:spPr>
          <a:xfrm>
            <a:off x="3718325" y="3391775"/>
            <a:ext cx="16428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29" name="Google Shape;129;p20"/>
          <p:cNvSpPr txBox="1">
            <a:spLocks noGrp="1"/>
          </p:cNvSpPr>
          <p:nvPr>
            <p:ph type="subTitle" idx="2"/>
          </p:nvPr>
        </p:nvSpPr>
        <p:spPr>
          <a:xfrm>
            <a:off x="3617675" y="3731775"/>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130" name="Google Shape;130;p20"/>
          <p:cNvSpPr txBox="1">
            <a:spLocks noGrp="1"/>
          </p:cNvSpPr>
          <p:nvPr>
            <p:ph type="subTitle" idx="3"/>
          </p:nvPr>
        </p:nvSpPr>
        <p:spPr>
          <a:xfrm>
            <a:off x="1328025" y="3391775"/>
            <a:ext cx="16428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31" name="Google Shape;131;p20"/>
          <p:cNvSpPr txBox="1">
            <a:spLocks noGrp="1"/>
          </p:cNvSpPr>
          <p:nvPr>
            <p:ph type="subTitle" idx="4"/>
          </p:nvPr>
        </p:nvSpPr>
        <p:spPr>
          <a:xfrm>
            <a:off x="1227426" y="3731775"/>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132" name="Google Shape;132;p20"/>
          <p:cNvSpPr txBox="1">
            <a:spLocks noGrp="1"/>
          </p:cNvSpPr>
          <p:nvPr>
            <p:ph type="subTitle" idx="5"/>
          </p:nvPr>
        </p:nvSpPr>
        <p:spPr>
          <a:xfrm>
            <a:off x="6108550" y="3391775"/>
            <a:ext cx="1643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33" name="Google Shape;133;p20"/>
          <p:cNvSpPr txBox="1">
            <a:spLocks noGrp="1"/>
          </p:cNvSpPr>
          <p:nvPr>
            <p:ph type="subTitle" idx="6"/>
          </p:nvPr>
        </p:nvSpPr>
        <p:spPr>
          <a:xfrm>
            <a:off x="6008050" y="3731775"/>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134" name="Google Shape;134;p20"/>
          <p:cNvSpPr txBox="1">
            <a:spLocks noGrp="1"/>
          </p:cNvSpPr>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35" name="Google Shape;135;p2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2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4_1">
    <p:spTree>
      <p:nvGrpSpPr>
        <p:cNvPr id="1" name="Shape 137"/>
        <p:cNvGrpSpPr/>
        <p:nvPr/>
      </p:nvGrpSpPr>
      <p:grpSpPr>
        <a:xfrm>
          <a:off x="0" y="0"/>
          <a:ext cx="0" cy="0"/>
          <a:chOff x="0" y="0"/>
          <a:chExt cx="0" cy="0"/>
        </a:xfrm>
      </p:grpSpPr>
      <p:sp>
        <p:nvSpPr>
          <p:cNvPr id="138" name="Google Shape;138;p21"/>
          <p:cNvSpPr txBox="1">
            <a:spLocks noGrp="1"/>
          </p:cNvSpPr>
          <p:nvPr>
            <p:ph type="subTitle" idx="1"/>
          </p:nvPr>
        </p:nvSpPr>
        <p:spPr>
          <a:xfrm>
            <a:off x="3414050" y="1811988"/>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39" name="Google Shape;139;p21"/>
          <p:cNvSpPr txBox="1">
            <a:spLocks noGrp="1"/>
          </p:cNvSpPr>
          <p:nvPr>
            <p:ph type="subTitle" idx="2"/>
          </p:nvPr>
        </p:nvSpPr>
        <p:spPr>
          <a:xfrm>
            <a:off x="3564200" y="2152000"/>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0" name="Google Shape;140;p21"/>
          <p:cNvSpPr txBox="1">
            <a:spLocks noGrp="1"/>
          </p:cNvSpPr>
          <p:nvPr>
            <p:ph type="subTitle" idx="3"/>
          </p:nvPr>
        </p:nvSpPr>
        <p:spPr>
          <a:xfrm>
            <a:off x="705725" y="1811988"/>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41" name="Google Shape;141;p21"/>
          <p:cNvSpPr txBox="1">
            <a:spLocks noGrp="1"/>
          </p:cNvSpPr>
          <p:nvPr>
            <p:ph type="subTitle" idx="4"/>
          </p:nvPr>
        </p:nvSpPr>
        <p:spPr>
          <a:xfrm>
            <a:off x="855875" y="2152000"/>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2" name="Google Shape;142;p21"/>
          <p:cNvSpPr txBox="1">
            <a:spLocks noGrp="1"/>
          </p:cNvSpPr>
          <p:nvPr>
            <p:ph type="subTitle" idx="5"/>
          </p:nvPr>
        </p:nvSpPr>
        <p:spPr>
          <a:xfrm>
            <a:off x="6122325" y="1811988"/>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43" name="Google Shape;143;p21"/>
          <p:cNvSpPr txBox="1">
            <a:spLocks noGrp="1"/>
          </p:cNvSpPr>
          <p:nvPr>
            <p:ph type="subTitle" idx="6"/>
          </p:nvPr>
        </p:nvSpPr>
        <p:spPr>
          <a:xfrm>
            <a:off x="6272475" y="2152000"/>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4" name="Google Shape;144;p21"/>
          <p:cNvSpPr txBox="1">
            <a:spLocks noGrp="1"/>
          </p:cNvSpPr>
          <p:nvPr>
            <p:ph type="subTitle" idx="7"/>
          </p:nvPr>
        </p:nvSpPr>
        <p:spPr>
          <a:xfrm>
            <a:off x="3414050" y="3543463"/>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45" name="Google Shape;145;p21"/>
          <p:cNvSpPr txBox="1">
            <a:spLocks noGrp="1"/>
          </p:cNvSpPr>
          <p:nvPr>
            <p:ph type="subTitle" idx="8"/>
          </p:nvPr>
        </p:nvSpPr>
        <p:spPr>
          <a:xfrm>
            <a:off x="3564200" y="3883475"/>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6" name="Google Shape;146;p21"/>
          <p:cNvSpPr txBox="1">
            <a:spLocks noGrp="1"/>
          </p:cNvSpPr>
          <p:nvPr>
            <p:ph type="subTitle" idx="9"/>
          </p:nvPr>
        </p:nvSpPr>
        <p:spPr>
          <a:xfrm>
            <a:off x="705725" y="3543463"/>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47" name="Google Shape;147;p21"/>
          <p:cNvSpPr txBox="1">
            <a:spLocks noGrp="1"/>
          </p:cNvSpPr>
          <p:nvPr>
            <p:ph type="subTitle" idx="13"/>
          </p:nvPr>
        </p:nvSpPr>
        <p:spPr>
          <a:xfrm>
            <a:off x="855875" y="3883475"/>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8" name="Google Shape;148;p21"/>
          <p:cNvSpPr txBox="1">
            <a:spLocks noGrp="1"/>
          </p:cNvSpPr>
          <p:nvPr>
            <p:ph type="subTitle" idx="14"/>
          </p:nvPr>
        </p:nvSpPr>
        <p:spPr>
          <a:xfrm>
            <a:off x="6122325" y="3543463"/>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149" name="Google Shape;149;p21"/>
          <p:cNvSpPr txBox="1">
            <a:spLocks noGrp="1"/>
          </p:cNvSpPr>
          <p:nvPr>
            <p:ph type="subTitle" idx="15"/>
          </p:nvPr>
        </p:nvSpPr>
        <p:spPr>
          <a:xfrm>
            <a:off x="6272475" y="3883475"/>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50" name="Google Shape;150;p21"/>
          <p:cNvSpPr txBox="1">
            <a:spLocks noGrp="1"/>
          </p:cNvSpPr>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51" name="Google Shape;151;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1">
  <p:cSld name="CUSTOM_4_1_1">
    <p:spTree>
      <p:nvGrpSpPr>
        <p:cNvPr id="1" name="Shape 153"/>
        <p:cNvGrpSpPr/>
        <p:nvPr/>
      </p:nvGrpSpPr>
      <p:grpSpPr>
        <a:xfrm>
          <a:off x="0" y="0"/>
          <a:ext cx="0" cy="0"/>
          <a:chOff x="0" y="0"/>
          <a:chExt cx="0" cy="0"/>
        </a:xfrm>
      </p:grpSpPr>
      <p:sp>
        <p:nvSpPr>
          <p:cNvPr id="154" name="Google Shape;154;p22"/>
          <p:cNvSpPr txBox="1">
            <a:spLocks noGrp="1"/>
          </p:cNvSpPr>
          <p:nvPr>
            <p:ph type="subTitle" idx="1"/>
          </p:nvPr>
        </p:nvSpPr>
        <p:spPr>
          <a:xfrm>
            <a:off x="4916850" y="1970400"/>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55" name="Google Shape;155;p22"/>
          <p:cNvSpPr txBox="1">
            <a:spLocks noGrp="1"/>
          </p:cNvSpPr>
          <p:nvPr>
            <p:ph type="subTitle" idx="2"/>
          </p:nvPr>
        </p:nvSpPr>
        <p:spPr>
          <a:xfrm>
            <a:off x="5058900" y="231041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56" name="Google Shape;156;p22"/>
          <p:cNvSpPr txBox="1">
            <a:spLocks noGrp="1"/>
          </p:cNvSpPr>
          <p:nvPr>
            <p:ph type="subTitle" idx="3"/>
          </p:nvPr>
        </p:nvSpPr>
        <p:spPr>
          <a:xfrm>
            <a:off x="1911150" y="1970400"/>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57" name="Google Shape;157;p22"/>
          <p:cNvSpPr txBox="1">
            <a:spLocks noGrp="1"/>
          </p:cNvSpPr>
          <p:nvPr>
            <p:ph type="subTitle" idx="4"/>
          </p:nvPr>
        </p:nvSpPr>
        <p:spPr>
          <a:xfrm>
            <a:off x="2053300" y="231041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58" name="Google Shape;158;p22"/>
          <p:cNvSpPr txBox="1">
            <a:spLocks noGrp="1"/>
          </p:cNvSpPr>
          <p:nvPr>
            <p:ph type="subTitle" idx="5"/>
          </p:nvPr>
        </p:nvSpPr>
        <p:spPr>
          <a:xfrm>
            <a:off x="4916850" y="3625538"/>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59" name="Google Shape;159;p22"/>
          <p:cNvSpPr txBox="1">
            <a:spLocks noGrp="1"/>
          </p:cNvSpPr>
          <p:nvPr>
            <p:ph type="subTitle" idx="6"/>
          </p:nvPr>
        </p:nvSpPr>
        <p:spPr>
          <a:xfrm>
            <a:off x="5058900" y="3965550"/>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0" name="Google Shape;160;p22"/>
          <p:cNvSpPr txBox="1">
            <a:spLocks noGrp="1"/>
          </p:cNvSpPr>
          <p:nvPr>
            <p:ph type="subTitle" idx="7"/>
          </p:nvPr>
        </p:nvSpPr>
        <p:spPr>
          <a:xfrm>
            <a:off x="1911150" y="3625538"/>
            <a:ext cx="2316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1" name="Google Shape;161;p22"/>
          <p:cNvSpPr txBox="1">
            <a:spLocks noGrp="1"/>
          </p:cNvSpPr>
          <p:nvPr>
            <p:ph type="subTitle" idx="8"/>
          </p:nvPr>
        </p:nvSpPr>
        <p:spPr>
          <a:xfrm>
            <a:off x="2053200" y="3965550"/>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2" name="Google Shape;162;p22"/>
          <p:cNvSpPr txBox="1">
            <a:spLocks noGrp="1"/>
          </p:cNvSpPr>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63" name="Google Shape;163;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4" name="Google Shape;164;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2">
  <p:cSld name="CUSTOM_4_2_2">
    <p:spTree>
      <p:nvGrpSpPr>
        <p:cNvPr id="1" name="Shape 165"/>
        <p:cNvGrpSpPr/>
        <p:nvPr/>
      </p:nvGrpSpPr>
      <p:grpSpPr>
        <a:xfrm>
          <a:off x="0" y="0"/>
          <a:ext cx="0" cy="0"/>
          <a:chOff x="0" y="0"/>
          <a:chExt cx="0" cy="0"/>
        </a:xfrm>
      </p:grpSpPr>
      <p:sp>
        <p:nvSpPr>
          <p:cNvPr id="166" name="Google Shape;166;p23"/>
          <p:cNvSpPr txBox="1">
            <a:spLocks noGrp="1"/>
          </p:cNvSpPr>
          <p:nvPr>
            <p:ph type="subTitle" idx="1"/>
          </p:nvPr>
        </p:nvSpPr>
        <p:spPr>
          <a:xfrm>
            <a:off x="3568125" y="2994600"/>
            <a:ext cx="20154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7" name="Google Shape;167;p23"/>
          <p:cNvSpPr txBox="1">
            <a:spLocks noGrp="1"/>
          </p:cNvSpPr>
          <p:nvPr>
            <p:ph type="subTitle" idx="2"/>
          </p:nvPr>
        </p:nvSpPr>
        <p:spPr>
          <a:xfrm>
            <a:off x="3568125" y="3334600"/>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8" name="Google Shape;168;p23"/>
          <p:cNvSpPr txBox="1">
            <a:spLocks noGrp="1"/>
          </p:cNvSpPr>
          <p:nvPr>
            <p:ph type="subTitle" idx="3"/>
          </p:nvPr>
        </p:nvSpPr>
        <p:spPr>
          <a:xfrm>
            <a:off x="1088350" y="2994600"/>
            <a:ext cx="20154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9" name="Google Shape;169;p23"/>
          <p:cNvSpPr txBox="1">
            <a:spLocks noGrp="1"/>
          </p:cNvSpPr>
          <p:nvPr>
            <p:ph type="subTitle" idx="4"/>
          </p:nvPr>
        </p:nvSpPr>
        <p:spPr>
          <a:xfrm>
            <a:off x="1088450" y="3334600"/>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0" name="Google Shape;170;p23"/>
          <p:cNvSpPr txBox="1">
            <a:spLocks noGrp="1"/>
          </p:cNvSpPr>
          <p:nvPr>
            <p:ph type="subTitle" idx="5"/>
          </p:nvPr>
        </p:nvSpPr>
        <p:spPr>
          <a:xfrm>
            <a:off x="6055450" y="2994600"/>
            <a:ext cx="20154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71" name="Google Shape;171;p23"/>
          <p:cNvSpPr txBox="1">
            <a:spLocks noGrp="1"/>
          </p:cNvSpPr>
          <p:nvPr>
            <p:ph type="subTitle" idx="6"/>
          </p:nvPr>
        </p:nvSpPr>
        <p:spPr>
          <a:xfrm>
            <a:off x="6055450" y="3334600"/>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2" name="Google Shape;172;p23"/>
          <p:cNvSpPr txBox="1">
            <a:spLocks noGrp="1"/>
          </p:cNvSpPr>
          <p:nvPr>
            <p:ph type="title"/>
          </p:nvPr>
        </p:nvSpPr>
        <p:spPr>
          <a:xfrm>
            <a:off x="713225" y="445025"/>
            <a:ext cx="4763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73" name="Google Shape;173;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4" name="Google Shape;174;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5" name="Google Shape;175;p23"/>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2">
  <p:cSld name="CUSTOM_5">
    <p:spTree>
      <p:nvGrpSpPr>
        <p:cNvPr id="1" name="Shape 176"/>
        <p:cNvGrpSpPr/>
        <p:nvPr/>
      </p:nvGrpSpPr>
      <p:grpSpPr>
        <a:xfrm>
          <a:off x="0" y="0"/>
          <a:ext cx="0" cy="0"/>
          <a:chOff x="0" y="0"/>
          <a:chExt cx="0" cy="0"/>
        </a:xfrm>
      </p:grpSpPr>
      <p:sp>
        <p:nvSpPr>
          <p:cNvPr id="177" name="Google Shape;177;p24"/>
          <p:cNvSpPr txBox="1">
            <a:spLocks noGrp="1"/>
          </p:cNvSpPr>
          <p:nvPr>
            <p:ph type="subTitle" idx="1"/>
          </p:nvPr>
        </p:nvSpPr>
        <p:spPr>
          <a:xfrm>
            <a:off x="4750187" y="1722900"/>
            <a:ext cx="2014800" cy="357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78" name="Google Shape;178;p24"/>
          <p:cNvSpPr txBox="1">
            <a:spLocks noGrp="1"/>
          </p:cNvSpPr>
          <p:nvPr>
            <p:ph type="subTitle" idx="2"/>
          </p:nvPr>
        </p:nvSpPr>
        <p:spPr>
          <a:xfrm>
            <a:off x="4750184" y="2062900"/>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9" name="Google Shape;179;p24"/>
          <p:cNvSpPr txBox="1">
            <a:spLocks noGrp="1"/>
          </p:cNvSpPr>
          <p:nvPr>
            <p:ph type="subTitle" idx="3"/>
          </p:nvPr>
        </p:nvSpPr>
        <p:spPr>
          <a:xfrm>
            <a:off x="2306462" y="1722900"/>
            <a:ext cx="20148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80" name="Google Shape;180;p24"/>
          <p:cNvSpPr txBox="1">
            <a:spLocks noGrp="1"/>
          </p:cNvSpPr>
          <p:nvPr>
            <p:ph type="subTitle" idx="4"/>
          </p:nvPr>
        </p:nvSpPr>
        <p:spPr>
          <a:xfrm>
            <a:off x="2306462" y="2062900"/>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1" name="Google Shape;181;p24"/>
          <p:cNvSpPr txBox="1">
            <a:spLocks noGrp="1"/>
          </p:cNvSpPr>
          <p:nvPr>
            <p:ph type="subTitle" idx="5"/>
          </p:nvPr>
        </p:nvSpPr>
        <p:spPr>
          <a:xfrm>
            <a:off x="4750187" y="3158925"/>
            <a:ext cx="2014800" cy="357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82" name="Google Shape;182;p24"/>
          <p:cNvSpPr txBox="1">
            <a:spLocks noGrp="1"/>
          </p:cNvSpPr>
          <p:nvPr>
            <p:ph type="subTitle" idx="6"/>
          </p:nvPr>
        </p:nvSpPr>
        <p:spPr>
          <a:xfrm>
            <a:off x="4750184" y="3498925"/>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3" name="Google Shape;183;p24"/>
          <p:cNvSpPr txBox="1">
            <a:spLocks noGrp="1"/>
          </p:cNvSpPr>
          <p:nvPr>
            <p:ph type="subTitle" idx="7"/>
          </p:nvPr>
        </p:nvSpPr>
        <p:spPr>
          <a:xfrm>
            <a:off x="2306462" y="3158925"/>
            <a:ext cx="20148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84" name="Google Shape;184;p24"/>
          <p:cNvSpPr txBox="1">
            <a:spLocks noGrp="1"/>
          </p:cNvSpPr>
          <p:nvPr>
            <p:ph type="subTitle" idx="8"/>
          </p:nvPr>
        </p:nvSpPr>
        <p:spPr>
          <a:xfrm>
            <a:off x="2306462" y="3498925"/>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5" name="Google Shape;185;p24"/>
          <p:cNvSpPr txBox="1">
            <a:spLocks noGrp="1"/>
          </p:cNvSpPr>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86" name="Google Shape;186;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7" name="Google Shape;187;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188"/>
        <p:cNvGrpSpPr/>
        <p:nvPr/>
      </p:nvGrpSpPr>
      <p:grpSpPr>
        <a:xfrm>
          <a:off x="0" y="0"/>
          <a:ext cx="0" cy="0"/>
          <a:chOff x="0" y="0"/>
          <a:chExt cx="0" cy="0"/>
        </a:xfrm>
      </p:grpSpPr>
      <p:sp>
        <p:nvSpPr>
          <p:cNvPr id="189" name="Google Shape;189;p25"/>
          <p:cNvSpPr txBox="1">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0" name="Google Shape;190;p25"/>
          <p:cNvSpPr txBox="1">
            <a:spLocks noGrp="1"/>
          </p:cNvSpPr>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1" name="Google Shape;191;p25"/>
          <p:cNvSpPr txBox="1">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2" name="Google Shape;192;p25"/>
          <p:cNvSpPr txBox="1">
            <a:spLocks noGrp="1"/>
          </p:cNvSpPr>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3" name="Google Shape;193;p25"/>
          <p:cNvSpPr txBox="1">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4" name="Google Shape;194;p25"/>
          <p:cNvSpPr txBox="1">
            <a:spLocks noGrp="1"/>
          </p:cNvSpPr>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5" name="Google Shape;195;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6" name="Google Shape;196;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7_1">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803750" y="2025800"/>
            <a:ext cx="4087500" cy="673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9" name="Google Shape;199;p26"/>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0" name="Google Shape;200;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1" name="Google Shape;201;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7_2">
    <p:spTree>
      <p:nvGrpSpPr>
        <p:cNvPr id="1" name="Shape 202"/>
        <p:cNvGrpSpPr/>
        <p:nvPr/>
      </p:nvGrpSpPr>
      <p:grpSpPr>
        <a:xfrm>
          <a:off x="0" y="0"/>
          <a:ext cx="0" cy="0"/>
          <a:chOff x="0" y="0"/>
          <a:chExt cx="0" cy="0"/>
        </a:xfrm>
      </p:grpSpPr>
      <p:sp>
        <p:nvSpPr>
          <p:cNvPr id="203" name="Google Shape;203;p27"/>
          <p:cNvSpPr txBox="1">
            <a:spLocks noGrp="1"/>
          </p:cNvSpPr>
          <p:nvPr>
            <p:ph type="title"/>
          </p:nvPr>
        </p:nvSpPr>
        <p:spPr>
          <a:xfrm>
            <a:off x="4490150" y="2047725"/>
            <a:ext cx="3364200" cy="62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204" name="Google Shape;204;p27"/>
          <p:cNvSpPr txBox="1">
            <a:spLocks noGrp="1"/>
          </p:cNvSpPr>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400"/>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a:endParaRPr/>
          </a:p>
        </p:txBody>
      </p:sp>
      <p:cxnSp>
        <p:nvCxnSpPr>
          <p:cNvPr id="205" name="Google Shape;205;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6" name="Google Shape;206;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1">
  <p:cSld name="CUSTOM_8">
    <p:spTree>
      <p:nvGrpSpPr>
        <p:cNvPr id="1" name="Shape 207"/>
        <p:cNvGrpSpPr/>
        <p:nvPr/>
      </p:nvGrpSpPr>
      <p:grpSpPr>
        <a:xfrm>
          <a:off x="0" y="0"/>
          <a:ext cx="0" cy="0"/>
          <a:chOff x="0" y="0"/>
          <a:chExt cx="0" cy="0"/>
        </a:xfrm>
      </p:grpSpPr>
      <p:sp>
        <p:nvSpPr>
          <p:cNvPr id="208" name="Google Shape;208;p28"/>
          <p:cNvSpPr txBox="1">
            <a:spLocks noGrp="1"/>
          </p:cNvSpPr>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209" name="Google Shape;209;p28"/>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10" name="Google Shape;210;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1" name="Google Shape;211;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2" name="Google Shape;212;p28"/>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CUSTOM_9">
    <p:spTree>
      <p:nvGrpSpPr>
        <p:cNvPr id="1" name="Shape 213"/>
        <p:cNvGrpSpPr/>
        <p:nvPr/>
      </p:nvGrpSpPr>
      <p:grpSpPr>
        <a:xfrm>
          <a:off x="0" y="0"/>
          <a:ext cx="0" cy="0"/>
          <a:chOff x="0" y="0"/>
          <a:chExt cx="0" cy="0"/>
        </a:xfrm>
      </p:grpSpPr>
      <p:sp>
        <p:nvSpPr>
          <p:cNvPr id="214" name="Google Shape;214;p29"/>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15" name="Google Shape;215;p29"/>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6" name="Google Shape;216;p29"/>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17" name="Google Shape;217;p29"/>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8" name="Google Shape;218;p29"/>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19" name="Google Shape;219;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223" name="Google Shape;223;p30"/>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4" name="Google Shape;224;p30"/>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2"/>
                </a:solidFill>
                <a:latin typeface="Montserrat"/>
                <a:ea typeface="Montserrat"/>
                <a:cs typeface="Montserrat"/>
                <a:sym typeface="Montserrat"/>
              </a:rPr>
              <a:t>CREDITS</a:t>
            </a:r>
            <a:r>
              <a:rPr lang="en" sz="1000">
                <a:solidFill>
                  <a:schemeClr val="dk2"/>
                </a:solidFill>
                <a:latin typeface="Montserrat"/>
                <a:ea typeface="Montserrat"/>
                <a:cs typeface="Montserrat"/>
                <a:sym typeface="Montserrat"/>
              </a:rPr>
              <a:t>: This presentation template was created by </a:t>
            </a:r>
            <a:r>
              <a:rPr lang="en" sz="10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000">
                <a:solidFill>
                  <a:schemeClr val="dk2"/>
                </a:solidFill>
                <a:latin typeface="Montserrat"/>
                <a:ea typeface="Montserrat"/>
                <a:cs typeface="Montserrat"/>
                <a:sym typeface="Montserrat"/>
              </a:rPr>
              <a:t>, including icons by </a:t>
            </a:r>
            <a:r>
              <a:rPr lang="en" sz="10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000">
                <a:solidFill>
                  <a:schemeClr val="dk2"/>
                </a:solidFill>
                <a:latin typeface="Montserrat"/>
                <a:ea typeface="Montserrat"/>
                <a:cs typeface="Montserrat"/>
                <a:sym typeface="Montserrat"/>
              </a:rPr>
              <a:t>,and infographics &amp; images by </a:t>
            </a:r>
            <a:r>
              <a:rPr lang="en" sz="10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000" b="1">
              <a:solidFill>
                <a:schemeClr val="dk2"/>
              </a:solidFill>
              <a:latin typeface="Montserrat"/>
              <a:ea typeface="Montserrat"/>
              <a:cs typeface="Montserrat"/>
              <a:sym typeface="Montserrat"/>
            </a:endParaRPr>
          </a:p>
        </p:txBody>
      </p:sp>
      <p:cxnSp>
        <p:nvCxnSpPr>
          <p:cNvPr id="225" name="Google Shape;225;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6" name="Google Shape;226;p30"/>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7" name="Google Shape;227;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8" name="Google Shape;228;p30"/>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1" name="Google Shape;231;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0" name="Google Shape;240;p3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953262"/>
            <a:ext cx="9143999" cy="4190236"/>
          </a:xfrm>
          <a:prstGeom prst="rect">
            <a:avLst/>
          </a:prstGeom>
          <a:blipFill>
            <a:blip r:embed="rId2" cstate="print"/>
            <a:stretch>
              <a:fillRect/>
            </a:stretch>
          </a:blipFill>
        </p:spPr>
        <p:txBody>
          <a:bodyPr wrap="square" lIns="0" tIns="0" rIns="0" bIns="0" rtlCol="0"/>
          <a:lstStyle/>
          <a:p>
            <a:endParaRPr sz="1050"/>
          </a:p>
        </p:txBody>
      </p:sp>
      <p:sp>
        <p:nvSpPr>
          <p:cNvPr id="17" name="bg object 17"/>
          <p:cNvSpPr/>
          <p:nvPr/>
        </p:nvSpPr>
        <p:spPr>
          <a:xfrm>
            <a:off x="2133981" y="1154430"/>
            <a:ext cx="4618863" cy="3741039"/>
          </a:xfrm>
          <a:prstGeom prst="rect">
            <a:avLst/>
          </a:prstGeom>
          <a:blipFill>
            <a:blip r:embed="rId3" cstate="print"/>
            <a:stretch>
              <a:fillRect/>
            </a:stretch>
          </a:blipFill>
        </p:spPr>
        <p:txBody>
          <a:bodyPr wrap="square" lIns="0" tIns="0" rIns="0" bIns="0" rtlCol="0"/>
          <a:lstStyle/>
          <a:p>
            <a:endParaRPr sz="1050"/>
          </a:p>
        </p:txBody>
      </p:sp>
      <p:sp>
        <p:nvSpPr>
          <p:cNvPr id="18" name="bg object 18"/>
          <p:cNvSpPr/>
          <p:nvPr/>
        </p:nvSpPr>
        <p:spPr>
          <a:xfrm>
            <a:off x="349758" y="314325"/>
            <a:ext cx="2145411" cy="358902"/>
          </a:xfrm>
          <a:prstGeom prst="rect">
            <a:avLst/>
          </a:prstGeom>
          <a:blipFill>
            <a:blip r:embed="rId4" cstate="print"/>
            <a:stretch>
              <a:fillRect/>
            </a:stretch>
          </a:blipFill>
        </p:spPr>
        <p:txBody>
          <a:bodyPr wrap="square" lIns="0" tIns="0" rIns="0" bIns="0" rtlCol="0"/>
          <a:lstStyle/>
          <a:p>
            <a:endParaRPr sz="1050"/>
          </a:p>
        </p:txBody>
      </p:sp>
      <p:sp>
        <p:nvSpPr>
          <p:cNvPr id="2" name="Holder 2"/>
          <p:cNvSpPr>
            <a:spLocks noGrp="1"/>
          </p:cNvSpPr>
          <p:nvPr>
            <p:ph type="ctrTitle"/>
          </p:nvPr>
        </p:nvSpPr>
        <p:spPr>
          <a:xfrm>
            <a:off x="2666239" y="1406651"/>
            <a:ext cx="3811523" cy="415498"/>
          </a:xfrm>
          <a:prstGeom prst="rect">
            <a:avLst/>
          </a:prstGeom>
        </p:spPr>
        <p:txBody>
          <a:bodyPr wrap="square" lIns="0" tIns="0" rIns="0" bIns="0">
            <a:spAutoFit/>
          </a:bodyPr>
          <a:lstStyle>
            <a:lvl1pPr>
              <a:defRPr sz="2700" b="1" i="0">
                <a:solidFill>
                  <a:srgbClr val="4F1B58"/>
                </a:solidFill>
                <a:latin typeface="Arial"/>
                <a:cs typeface="Arial"/>
              </a:defRPr>
            </a:lvl1pPr>
          </a:lstStyle>
          <a:p>
            <a:endParaRPr/>
          </a:p>
        </p:txBody>
      </p:sp>
      <p:sp>
        <p:nvSpPr>
          <p:cNvPr id="3" name="Holder 3"/>
          <p:cNvSpPr>
            <a:spLocks noGrp="1"/>
          </p:cNvSpPr>
          <p:nvPr>
            <p:ph type="subTitle" idx="4"/>
          </p:nvPr>
        </p:nvSpPr>
        <p:spPr>
          <a:xfrm>
            <a:off x="1371600" y="2880360"/>
            <a:ext cx="6400800" cy="31854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897175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50" b="1" i="0">
                <a:solidFill>
                  <a:srgbClr val="4F1B58"/>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86083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1" r:id="rId31"/>
    <p:sldLayoutId id="2147483682"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3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7" Type="http://schemas.openxmlformats.org/officeDocument/2006/relationships/image" Target="../media/image22.png"/><Relationship Id="rId2" Type="http://schemas.openxmlformats.org/officeDocument/2006/relationships/image" Target="../media/image18.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1.pn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graphics, font, graphic design, design&#10;&#10;Description automatically generated">
            <a:extLst>
              <a:ext uri="{FF2B5EF4-FFF2-40B4-BE49-F238E27FC236}">
                <a16:creationId xmlns:a16="http://schemas.microsoft.com/office/drawing/2014/main" id="{31A75B28-38DA-9576-4904-44EC3D20E1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86700" y="-167974"/>
            <a:ext cx="1392079" cy="1392079"/>
          </a:xfrm>
          <a:prstGeom prst="rect">
            <a:avLst/>
          </a:prstGeom>
        </p:spPr>
      </p:pic>
      <p:sp>
        <p:nvSpPr>
          <p:cNvPr id="13" name="Rectangle 12">
            <a:extLst>
              <a:ext uri="{FF2B5EF4-FFF2-40B4-BE49-F238E27FC236}">
                <a16:creationId xmlns:a16="http://schemas.microsoft.com/office/drawing/2014/main" id="{4CA7DFF8-64CC-2B88-E0C7-88EA3D6B4869}"/>
              </a:ext>
            </a:extLst>
          </p:cNvPr>
          <p:cNvSpPr/>
          <p:nvPr/>
        </p:nvSpPr>
        <p:spPr>
          <a:xfrm>
            <a:off x="23247" y="1731936"/>
            <a:ext cx="9144000" cy="1943100"/>
          </a:xfrm>
          <a:prstGeom prst="rect">
            <a:avLst/>
          </a:prstGeom>
          <a:solidFill>
            <a:srgbClr val="6E28A8">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 name="TextBox 1">
            <a:extLst>
              <a:ext uri="{FF2B5EF4-FFF2-40B4-BE49-F238E27FC236}">
                <a16:creationId xmlns:a16="http://schemas.microsoft.com/office/drawing/2014/main" id="{A29DAC1C-3BEE-DFF9-ABF2-372E6C90099B}"/>
              </a:ext>
            </a:extLst>
          </p:cNvPr>
          <p:cNvSpPr txBox="1"/>
          <p:nvPr/>
        </p:nvSpPr>
        <p:spPr>
          <a:xfrm>
            <a:off x="759417" y="2411098"/>
            <a:ext cx="7966129" cy="1077218"/>
          </a:xfrm>
          <a:prstGeom prst="rect">
            <a:avLst/>
          </a:prstGeom>
          <a:noFill/>
        </p:spPr>
        <p:txBody>
          <a:bodyPr wrap="square" rtlCol="0">
            <a:spAutoFit/>
          </a:bodyPr>
          <a:lstStyle/>
          <a:p>
            <a:pPr algn="ctr"/>
            <a:r>
              <a:rPr lang="en-US" sz="3200" dirty="0">
                <a:solidFill>
                  <a:schemeClr val="bg1"/>
                </a:solidFill>
                <a:latin typeface="Lora" pitchFamily="2" charset="0"/>
              </a:rPr>
              <a:t>Dynamic Hand Gesture Detection using</a:t>
            </a:r>
            <a:r>
              <a:rPr lang="en-US" sz="3200" b="0" i="0" dirty="0">
                <a:solidFill>
                  <a:schemeClr val="bg1"/>
                </a:solidFill>
                <a:effectLst/>
                <a:latin typeface="Lora" pitchFamily="2" charset="0"/>
              </a:rPr>
              <a:t> EMG Signals</a:t>
            </a:r>
            <a:endParaRPr lang="en-IN" sz="3000" dirty="0">
              <a:solidFill>
                <a:schemeClr val="bg1"/>
              </a:solidFill>
              <a:latin typeface="Janna LT" panose="01000000000000000000" pitchFamily="2" charset="-78"/>
              <a:cs typeface="Janna LT" panose="010000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3595" y="186595"/>
            <a:ext cx="1998345" cy="391774"/>
          </a:xfrm>
          <a:prstGeom prst="rect">
            <a:avLst/>
          </a:prstGeom>
        </p:spPr>
        <p:txBody>
          <a:bodyPr spcFirstLastPara="1" vert="horz" wrap="square" lIns="0" tIns="9525" rIns="0" bIns="0" rtlCol="0" anchor="t" anchorCtr="0">
            <a:spAutoFit/>
          </a:bodyPr>
          <a:lstStyle/>
          <a:p>
            <a:pPr marL="9525">
              <a:spcBef>
                <a:spcPts val="75"/>
              </a:spcBef>
            </a:pPr>
            <a:r>
              <a:rPr sz="2400" dirty="0">
                <a:solidFill>
                  <a:srgbClr val="51274D"/>
                </a:solidFill>
                <a:latin typeface="Janna LT" panose="01000000000000000000" pitchFamily="2" charset="-78"/>
                <a:cs typeface="Janna LT" panose="01000000000000000000" pitchFamily="2" charset="-78"/>
              </a:rPr>
              <a:t>About the</a:t>
            </a:r>
            <a:r>
              <a:rPr sz="2400" spc="-90" dirty="0">
                <a:solidFill>
                  <a:srgbClr val="51274D"/>
                </a:solidFill>
                <a:latin typeface="Janna LT" panose="01000000000000000000" pitchFamily="2" charset="-78"/>
                <a:cs typeface="Janna LT" panose="01000000000000000000" pitchFamily="2" charset="-78"/>
              </a:rPr>
              <a:t> </a:t>
            </a:r>
            <a:r>
              <a:rPr sz="2400" dirty="0">
                <a:solidFill>
                  <a:srgbClr val="51274D"/>
                </a:solidFill>
                <a:latin typeface="Janna LT" panose="01000000000000000000" pitchFamily="2" charset="-78"/>
                <a:cs typeface="Janna LT" panose="01000000000000000000" pitchFamily="2" charset="-78"/>
              </a:rPr>
              <a:t>IET</a:t>
            </a:r>
            <a:endParaRPr sz="2400" dirty="0">
              <a:latin typeface="Janna LT" panose="01000000000000000000" pitchFamily="2" charset="-78"/>
              <a:cs typeface="Janna LT" panose="01000000000000000000" pitchFamily="2" charset="-78"/>
            </a:endParaRPr>
          </a:p>
        </p:txBody>
      </p:sp>
      <p:sp>
        <p:nvSpPr>
          <p:cNvPr id="3" name="object 3"/>
          <p:cNvSpPr txBox="1"/>
          <p:nvPr/>
        </p:nvSpPr>
        <p:spPr>
          <a:xfrm>
            <a:off x="723595" y="742950"/>
            <a:ext cx="6061710" cy="3811267"/>
          </a:xfrm>
          <a:prstGeom prst="rect">
            <a:avLst/>
          </a:prstGeom>
        </p:spPr>
        <p:txBody>
          <a:bodyPr vert="horz" wrap="square" lIns="0" tIns="10001" rIns="0" bIns="0" rtlCol="0">
            <a:spAutoFit/>
          </a:bodyPr>
          <a:lstStyle/>
          <a:p>
            <a:pPr marL="266700" indent="-257651">
              <a:spcBef>
                <a:spcPts val="79"/>
              </a:spcBef>
              <a:buChar char="•"/>
              <a:tabLst>
                <a:tab pos="266224" algn="l"/>
                <a:tab pos="267176" algn="l"/>
              </a:tabLst>
            </a:pP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Professional home for engineers, across the</a:t>
            </a:r>
            <a:r>
              <a:rPr sz="1500" spc="-131"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world</a:t>
            </a:r>
          </a:p>
          <a:p>
            <a:pPr>
              <a:spcBef>
                <a:spcPts val="8"/>
              </a:spcBef>
              <a:buFont typeface="Arial"/>
              <a:buChar char="•"/>
            </a:pPr>
            <a:endParaRPr sz="1425" dirty="0">
              <a:latin typeface="Rockford Sans Light" panose="00000400000000000000" pitchFamily="50" charset="0"/>
              <a:ea typeface="Yu Gothic UI Semilight" panose="020B0400000000000000" pitchFamily="34" charset="-128"/>
              <a:cs typeface="Segoe UI Light" panose="020B0502040204020203" pitchFamily="34" charset="0"/>
            </a:endParaRPr>
          </a:p>
          <a:p>
            <a:pPr marL="266700" indent="-257651">
              <a:buChar char="•"/>
              <a:tabLst>
                <a:tab pos="266224" algn="l"/>
                <a:tab pos="267176" algn="l"/>
              </a:tabLst>
            </a:pP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Headquartered in </a:t>
            </a:r>
            <a:r>
              <a:rPr sz="1500" spc="-4" dirty="0">
                <a:latin typeface="Rockford Sans Light" panose="00000400000000000000" pitchFamily="50" charset="0"/>
                <a:ea typeface="Yu Gothic UI Semilight" panose="020B0400000000000000" pitchFamily="34" charset="-128"/>
                <a:cs typeface="Segoe UI Light" panose="020B0502040204020203" pitchFamily="34" charset="0"/>
              </a:rPr>
              <a:t>the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UK, 150-years of engineering</a:t>
            </a:r>
            <a:r>
              <a:rPr sz="1500" spc="-113"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legacy</a:t>
            </a:r>
          </a:p>
          <a:p>
            <a:pPr>
              <a:spcBef>
                <a:spcPts val="19"/>
              </a:spcBef>
              <a:buFont typeface="Arial"/>
              <a:buChar char="•"/>
            </a:pPr>
            <a:endParaRPr sz="1425" dirty="0">
              <a:latin typeface="Rockford Sans Light" panose="00000400000000000000" pitchFamily="50" charset="0"/>
              <a:ea typeface="Yu Gothic UI Semilight" panose="020B0400000000000000" pitchFamily="34" charset="-128"/>
              <a:cs typeface="Segoe UI Light" panose="020B0502040204020203" pitchFamily="34" charset="0"/>
            </a:endParaRPr>
          </a:p>
          <a:p>
            <a:pPr marL="266700" indent="-257651">
              <a:buChar char="•"/>
              <a:tabLst>
                <a:tab pos="266224" algn="l"/>
                <a:tab pos="267176" algn="l"/>
              </a:tabLst>
            </a:pP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Powered by members, driven by</a:t>
            </a:r>
            <a:r>
              <a:rPr sz="1500" spc="-90"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volunteers</a:t>
            </a:r>
          </a:p>
          <a:p>
            <a:pPr marL="266224" marR="1143953" indent="-266224">
              <a:lnSpc>
                <a:spcPct val="150100"/>
              </a:lnSpc>
              <a:spcBef>
                <a:spcPts val="746"/>
              </a:spcBef>
              <a:buChar char="•"/>
              <a:tabLst>
                <a:tab pos="266224" algn="l"/>
                <a:tab pos="267176" algn="l"/>
              </a:tabLst>
            </a:pPr>
            <a:r>
              <a:rPr sz="1500" spc="-11" dirty="0">
                <a:latin typeface="Rockford Sans Light" panose="00000400000000000000" pitchFamily="50" charset="0"/>
                <a:ea typeface="Yu Gothic UI Semilight" panose="020B0400000000000000" pitchFamily="34" charset="-128"/>
                <a:cs typeface="Segoe UI Light" panose="020B0502040204020203" pitchFamily="34" charset="0"/>
              </a:rPr>
              <a:t>We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inspire, inform and influence the global</a:t>
            </a:r>
            <a:r>
              <a:rPr sz="1500" spc="-94"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engineering  community to engineer a better</a:t>
            </a:r>
            <a:r>
              <a:rPr sz="1500" spc="-105"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world.</a:t>
            </a:r>
          </a:p>
          <a:p>
            <a:pPr marL="266700" marR="79058" indent="-257651">
              <a:lnSpc>
                <a:spcPct val="150100"/>
              </a:lnSpc>
              <a:spcBef>
                <a:spcPts val="743"/>
              </a:spcBef>
              <a:buChar char="•"/>
              <a:tabLst>
                <a:tab pos="266224" algn="l"/>
                <a:tab pos="267176" algn="l"/>
              </a:tabLst>
            </a:pPr>
            <a:r>
              <a:rPr sz="1500" spc="-11" dirty="0">
                <a:latin typeface="Rockford Sans Light" panose="00000400000000000000" pitchFamily="50" charset="0"/>
                <a:ea typeface="Yu Gothic UI Semilight" panose="020B0400000000000000" pitchFamily="34" charset="-128"/>
                <a:cs typeface="Segoe UI Light" panose="020B0502040204020203" pitchFamily="34" charset="0"/>
              </a:rPr>
              <a:t>We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are a diverse home for engineering and technology intelligence  throughout the world. This breadth and depth mean we are</a:t>
            </a:r>
            <a:r>
              <a:rPr sz="1500" spc="-158"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uniquely  placed to fast-track solutions to societal</a:t>
            </a:r>
            <a:r>
              <a:rPr sz="1500" spc="-124"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problem.</a:t>
            </a:r>
          </a:p>
          <a:p>
            <a:pPr marL="266700" marR="3810" indent="-257651">
              <a:lnSpc>
                <a:spcPct val="150100"/>
              </a:lnSpc>
              <a:spcBef>
                <a:spcPts val="754"/>
              </a:spcBef>
              <a:buChar char="•"/>
              <a:tabLst>
                <a:tab pos="266224" algn="l"/>
                <a:tab pos="267176" algn="l"/>
              </a:tabLst>
            </a:pPr>
            <a:r>
              <a:rPr sz="1500" spc="-11" dirty="0">
                <a:latin typeface="Rockford Sans Light" panose="00000400000000000000" pitchFamily="50" charset="0"/>
                <a:ea typeface="Yu Gothic UI Semilight" panose="020B0400000000000000" pitchFamily="34" charset="-128"/>
                <a:cs typeface="Segoe UI Light" panose="020B0502040204020203" pitchFamily="34" charset="0"/>
              </a:rPr>
              <a:t>We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want to build </a:t>
            </a:r>
            <a:r>
              <a:rPr sz="1500" spc="-4" dirty="0">
                <a:latin typeface="Rockford Sans Light" panose="00000400000000000000" pitchFamily="50" charset="0"/>
                <a:ea typeface="Yu Gothic UI Semilight" panose="020B0400000000000000" pitchFamily="34" charset="-128"/>
                <a:cs typeface="Segoe UI Light" panose="020B0502040204020203" pitchFamily="34" charset="0"/>
              </a:rPr>
              <a:t>the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profile of engineering and technology to</a:t>
            </a:r>
            <a:r>
              <a:rPr sz="1500" spc="-127"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change  outdated perceptions and tackle the skills</a:t>
            </a:r>
            <a:r>
              <a:rPr sz="1500" spc="-113" dirty="0">
                <a:latin typeface="Rockford Sans Light" panose="00000400000000000000" pitchFamily="50" charset="0"/>
                <a:ea typeface="Yu Gothic UI Semilight" panose="020B0400000000000000" pitchFamily="34" charset="-128"/>
                <a:cs typeface="Segoe UI Light" panose="020B0502040204020203" pitchFamily="34" charset="0"/>
              </a:rPr>
              <a:t> </a:t>
            </a:r>
            <a:r>
              <a:rPr sz="1500" dirty="0">
                <a:latin typeface="Rockford Sans Light" panose="00000400000000000000" pitchFamily="50" charset="0"/>
                <a:ea typeface="Yu Gothic UI Semilight" panose="020B0400000000000000" pitchFamily="34" charset="-128"/>
                <a:cs typeface="Segoe UI Light" panose="020B0502040204020203" pitchFamily="34" charset="0"/>
              </a:rPr>
              <a:t>gap.</a:t>
            </a:r>
          </a:p>
        </p:txBody>
      </p:sp>
      <p:sp>
        <p:nvSpPr>
          <p:cNvPr id="4" name="object 4"/>
          <p:cNvSpPr/>
          <p:nvPr/>
        </p:nvSpPr>
        <p:spPr>
          <a:xfrm>
            <a:off x="6645401" y="353187"/>
            <a:ext cx="2125980" cy="2350008"/>
          </a:xfrm>
          <a:prstGeom prst="rect">
            <a:avLst/>
          </a:prstGeom>
          <a:blipFill>
            <a:blip r:embed="rId2" cstate="print"/>
            <a:stretch>
              <a:fillRect/>
            </a:stretch>
          </a:blipFill>
        </p:spPr>
        <p:txBody>
          <a:bodyPr wrap="square" lIns="0" tIns="0" rIns="0" bIns="0" rtlCol="0"/>
          <a:lstStyle/>
          <a:p>
            <a:endParaRPr sz="1050"/>
          </a:p>
        </p:txBody>
      </p:sp>
    </p:spTree>
    <p:extLst>
      <p:ext uri="{BB962C8B-B14F-4D97-AF65-F5344CB8AC3E}">
        <p14:creationId xmlns:p14="http://schemas.microsoft.com/office/powerpoint/2010/main" val="2732480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2495" y="1433147"/>
            <a:ext cx="5827205" cy="3379771"/>
          </a:xfrm>
          <a:prstGeom prst="rect">
            <a:avLst/>
          </a:prstGeom>
        </p:spPr>
        <p:txBody>
          <a:bodyPr vert="horz" wrap="square" lIns="0" tIns="93345" rIns="0" bIns="0" rtlCol="0">
            <a:spAutoFit/>
          </a:bodyPr>
          <a:lstStyle/>
          <a:p>
            <a:pPr marL="480536">
              <a:spcBef>
                <a:spcPts val="735"/>
              </a:spcBef>
            </a:pPr>
            <a:r>
              <a:rPr sz="2100" spc="-4" dirty="0">
                <a:solidFill>
                  <a:srgbClr val="B36BC3"/>
                </a:solidFill>
                <a:latin typeface="Rockford Sans Light" panose="00000400000000000000" pitchFamily="50" charset="0"/>
              </a:rPr>
              <a:t>Thought Leadership</a:t>
            </a:r>
            <a:r>
              <a:rPr sz="2100" spc="23" dirty="0">
                <a:solidFill>
                  <a:srgbClr val="B36BC3"/>
                </a:solidFill>
                <a:latin typeface="Rockford Sans Light" panose="00000400000000000000" pitchFamily="50" charset="0"/>
              </a:rPr>
              <a:t> </a:t>
            </a:r>
            <a:r>
              <a:rPr sz="2100" spc="-4" dirty="0">
                <a:solidFill>
                  <a:srgbClr val="B36BC3"/>
                </a:solidFill>
                <a:latin typeface="Rockford Sans Light" panose="00000400000000000000" pitchFamily="50" charset="0"/>
              </a:rPr>
              <a:t>Platforms</a:t>
            </a:r>
            <a:endParaRPr sz="2100" dirty="0">
              <a:latin typeface="Rockford Sans Light" panose="00000400000000000000" pitchFamily="50" charset="0"/>
            </a:endParaRPr>
          </a:p>
          <a:p>
            <a:pPr marL="2128838">
              <a:spcBef>
                <a:spcPts val="761"/>
              </a:spcBef>
            </a:pPr>
            <a:r>
              <a:rPr sz="2400" spc="-4" dirty="0">
                <a:solidFill>
                  <a:srgbClr val="51274D"/>
                </a:solidFill>
                <a:latin typeface="Rockford Sans Light" panose="00000400000000000000" pitchFamily="50" charset="0"/>
              </a:rPr>
              <a:t>Professional</a:t>
            </a:r>
            <a:r>
              <a:rPr sz="2400" spc="-19" dirty="0">
                <a:solidFill>
                  <a:srgbClr val="51274D"/>
                </a:solidFill>
                <a:latin typeface="Rockford Sans Light" panose="00000400000000000000" pitchFamily="50" charset="0"/>
              </a:rPr>
              <a:t> </a:t>
            </a:r>
            <a:r>
              <a:rPr sz="2400" spc="-4" dirty="0">
                <a:solidFill>
                  <a:srgbClr val="51274D"/>
                </a:solidFill>
                <a:latin typeface="Rockford Sans Light" panose="00000400000000000000" pitchFamily="50" charset="0"/>
              </a:rPr>
              <a:t>Registration</a:t>
            </a:r>
            <a:endParaRPr sz="2400" dirty="0">
              <a:latin typeface="Rockford Sans Light" panose="00000400000000000000" pitchFamily="50" charset="0"/>
            </a:endParaRPr>
          </a:p>
          <a:p>
            <a:pPr marL="9525">
              <a:spcBef>
                <a:spcPts val="799"/>
              </a:spcBef>
            </a:pPr>
            <a:r>
              <a:rPr sz="1800" dirty="0">
                <a:solidFill>
                  <a:srgbClr val="755270"/>
                </a:solidFill>
                <a:latin typeface="Rockford Sans Light" panose="00000400000000000000" pitchFamily="50" charset="0"/>
              </a:rPr>
              <a:t>Improving the </a:t>
            </a:r>
            <a:r>
              <a:rPr sz="1800" spc="-4" dirty="0">
                <a:solidFill>
                  <a:srgbClr val="755270"/>
                </a:solidFill>
                <a:latin typeface="Rockford Sans Light" panose="00000400000000000000" pitchFamily="50" charset="0"/>
              </a:rPr>
              <a:t>quality </a:t>
            </a:r>
            <a:r>
              <a:rPr sz="1800" dirty="0">
                <a:solidFill>
                  <a:srgbClr val="755270"/>
                </a:solidFill>
                <a:latin typeface="Rockford Sans Light" panose="00000400000000000000" pitchFamily="50" charset="0"/>
              </a:rPr>
              <a:t>of </a:t>
            </a:r>
            <a:r>
              <a:rPr sz="1800" spc="-4" dirty="0">
                <a:solidFill>
                  <a:srgbClr val="755270"/>
                </a:solidFill>
                <a:latin typeface="Rockford Sans Light" panose="00000400000000000000" pitchFamily="50" charset="0"/>
              </a:rPr>
              <a:t>Engineering</a:t>
            </a:r>
            <a:r>
              <a:rPr sz="1800" spc="30" dirty="0">
                <a:solidFill>
                  <a:srgbClr val="755270"/>
                </a:solidFill>
                <a:latin typeface="Rockford Sans Light" panose="00000400000000000000" pitchFamily="50" charset="0"/>
              </a:rPr>
              <a:t> </a:t>
            </a:r>
            <a:r>
              <a:rPr sz="1800" spc="-4" dirty="0">
                <a:solidFill>
                  <a:srgbClr val="755270"/>
                </a:solidFill>
                <a:latin typeface="Rockford Sans Light" panose="00000400000000000000" pitchFamily="50" charset="0"/>
              </a:rPr>
              <a:t>Education</a:t>
            </a:r>
            <a:endParaRPr sz="1800" dirty="0">
              <a:latin typeface="Rockford Sans Light" panose="00000400000000000000" pitchFamily="50" charset="0"/>
            </a:endParaRPr>
          </a:p>
          <a:p>
            <a:pPr marL="1965008" algn="ctr">
              <a:spcBef>
                <a:spcPts val="746"/>
              </a:spcBef>
            </a:pPr>
            <a:r>
              <a:rPr sz="2400" spc="-23" dirty="0">
                <a:solidFill>
                  <a:srgbClr val="864892"/>
                </a:solidFill>
                <a:latin typeface="Rockford Sans Light" panose="00000400000000000000" pitchFamily="50" charset="0"/>
              </a:rPr>
              <a:t>Technology-led</a:t>
            </a:r>
            <a:r>
              <a:rPr sz="2400" spc="-38" dirty="0">
                <a:solidFill>
                  <a:srgbClr val="864892"/>
                </a:solidFill>
                <a:latin typeface="Rockford Sans Light" panose="00000400000000000000" pitchFamily="50" charset="0"/>
              </a:rPr>
              <a:t> </a:t>
            </a:r>
            <a:r>
              <a:rPr sz="2400" dirty="0">
                <a:solidFill>
                  <a:srgbClr val="864892"/>
                </a:solidFill>
                <a:latin typeface="Rockford Sans Light" panose="00000400000000000000" pitchFamily="50" charset="0"/>
              </a:rPr>
              <a:t>Events</a:t>
            </a:r>
            <a:endParaRPr sz="2400" dirty="0">
              <a:latin typeface="Rockford Sans Light" panose="00000400000000000000" pitchFamily="50" charset="0"/>
            </a:endParaRPr>
          </a:p>
          <a:p>
            <a:pPr marR="506254" algn="ctr">
              <a:spcBef>
                <a:spcPts val="791"/>
              </a:spcBef>
            </a:pPr>
            <a:r>
              <a:rPr sz="2100" spc="-4" dirty="0">
                <a:solidFill>
                  <a:srgbClr val="9F46B4"/>
                </a:solidFill>
                <a:latin typeface="Rockford Sans Light" panose="00000400000000000000" pitchFamily="50" charset="0"/>
              </a:rPr>
              <a:t>Position</a:t>
            </a:r>
            <a:r>
              <a:rPr sz="2100" spc="-8" dirty="0">
                <a:solidFill>
                  <a:srgbClr val="9F46B4"/>
                </a:solidFill>
                <a:latin typeface="Rockford Sans Light" panose="00000400000000000000" pitchFamily="50" charset="0"/>
              </a:rPr>
              <a:t> </a:t>
            </a:r>
            <a:r>
              <a:rPr sz="2100" dirty="0">
                <a:solidFill>
                  <a:srgbClr val="9F46B4"/>
                </a:solidFill>
                <a:latin typeface="Rockford Sans Light" panose="00000400000000000000" pitchFamily="50" charset="0"/>
              </a:rPr>
              <a:t>papers</a:t>
            </a:r>
            <a:endParaRPr sz="2100" dirty="0">
              <a:latin typeface="Rockford Sans Light" panose="00000400000000000000" pitchFamily="50" charset="0"/>
            </a:endParaRPr>
          </a:p>
          <a:p>
            <a:pPr marL="2281238" algn="ctr">
              <a:spcBef>
                <a:spcPts val="758"/>
              </a:spcBef>
            </a:pPr>
            <a:r>
              <a:rPr sz="2400" dirty="0">
                <a:solidFill>
                  <a:srgbClr val="52274E"/>
                </a:solidFill>
                <a:latin typeface="Rockford Sans Light" panose="00000400000000000000" pitchFamily="50" charset="0"/>
              </a:rPr>
              <a:t>Scholarship </a:t>
            </a:r>
            <a:r>
              <a:rPr sz="2400" spc="-4" dirty="0">
                <a:solidFill>
                  <a:srgbClr val="52274E"/>
                </a:solidFill>
                <a:latin typeface="Rockford Sans Light" panose="00000400000000000000" pitchFamily="50" charset="0"/>
              </a:rPr>
              <a:t>and</a:t>
            </a:r>
            <a:r>
              <a:rPr sz="2400" spc="-229" dirty="0">
                <a:solidFill>
                  <a:srgbClr val="52274E"/>
                </a:solidFill>
                <a:latin typeface="Rockford Sans Light" panose="00000400000000000000" pitchFamily="50" charset="0"/>
              </a:rPr>
              <a:t> </a:t>
            </a:r>
            <a:r>
              <a:rPr sz="2400" spc="-8" dirty="0">
                <a:solidFill>
                  <a:srgbClr val="52274E"/>
                </a:solidFill>
                <a:latin typeface="Rockford Sans Light" panose="00000400000000000000" pitchFamily="50" charset="0"/>
              </a:rPr>
              <a:t>Awards</a:t>
            </a:r>
            <a:endParaRPr sz="2400" dirty="0">
              <a:latin typeface="Rockford Sans Light" panose="00000400000000000000" pitchFamily="50" charset="0"/>
            </a:endParaRPr>
          </a:p>
          <a:p>
            <a:pPr marR="122396" algn="ctr">
              <a:spcBef>
                <a:spcPts val="803"/>
              </a:spcBef>
            </a:pPr>
            <a:r>
              <a:rPr sz="1800" spc="-26" dirty="0">
                <a:solidFill>
                  <a:srgbClr val="9F46B4"/>
                </a:solidFill>
                <a:latin typeface="Rockford Sans Light" panose="00000400000000000000" pitchFamily="50" charset="0"/>
              </a:rPr>
              <a:t>Technical</a:t>
            </a:r>
            <a:r>
              <a:rPr sz="1800" spc="8" dirty="0">
                <a:solidFill>
                  <a:srgbClr val="9F46B4"/>
                </a:solidFill>
                <a:latin typeface="Rockford Sans Light" panose="00000400000000000000" pitchFamily="50" charset="0"/>
              </a:rPr>
              <a:t> </a:t>
            </a:r>
            <a:r>
              <a:rPr sz="1800" spc="-4" dirty="0">
                <a:solidFill>
                  <a:srgbClr val="9F46B4"/>
                </a:solidFill>
                <a:latin typeface="Rockford Sans Light" panose="00000400000000000000" pitchFamily="50" charset="0"/>
              </a:rPr>
              <a:t>publishing</a:t>
            </a:r>
            <a:endParaRPr sz="1800" dirty="0">
              <a:latin typeface="Rockford Sans Light" panose="00000400000000000000" pitchFamily="50" charset="0"/>
            </a:endParaRPr>
          </a:p>
          <a:p>
            <a:pPr marL="2948464" algn="ctr">
              <a:spcBef>
                <a:spcPts val="363"/>
              </a:spcBef>
            </a:pPr>
            <a:r>
              <a:rPr sz="2100" dirty="0">
                <a:solidFill>
                  <a:srgbClr val="977C94"/>
                </a:solidFill>
                <a:latin typeface="Rockford Sans Light" panose="00000400000000000000" pitchFamily="50" charset="0"/>
              </a:rPr>
              <a:t>Government</a:t>
            </a:r>
            <a:r>
              <a:rPr sz="2100" spc="-143" dirty="0">
                <a:solidFill>
                  <a:srgbClr val="977C94"/>
                </a:solidFill>
                <a:latin typeface="Rockford Sans Light" panose="00000400000000000000" pitchFamily="50" charset="0"/>
              </a:rPr>
              <a:t> </a:t>
            </a:r>
            <a:r>
              <a:rPr sz="2100" dirty="0">
                <a:solidFill>
                  <a:srgbClr val="977C94"/>
                </a:solidFill>
                <a:latin typeface="Rockford Sans Light" panose="00000400000000000000" pitchFamily="50" charset="0"/>
              </a:rPr>
              <a:t>Advisory</a:t>
            </a:r>
            <a:endParaRPr sz="2100" dirty="0">
              <a:latin typeface="Rockford Sans Light" panose="00000400000000000000" pitchFamily="50" charset="0"/>
            </a:endParaRPr>
          </a:p>
        </p:txBody>
      </p:sp>
      <p:sp>
        <p:nvSpPr>
          <p:cNvPr id="3" name="object 3"/>
          <p:cNvSpPr txBox="1"/>
          <p:nvPr/>
        </p:nvSpPr>
        <p:spPr>
          <a:xfrm>
            <a:off x="675818" y="176783"/>
            <a:ext cx="1463516" cy="321242"/>
          </a:xfrm>
          <a:prstGeom prst="rect">
            <a:avLst/>
          </a:prstGeom>
        </p:spPr>
        <p:txBody>
          <a:bodyPr vert="horz" wrap="square" lIns="0" tIns="9525" rIns="0" bIns="0" rtlCol="0">
            <a:spAutoFit/>
          </a:bodyPr>
          <a:lstStyle/>
          <a:p>
            <a:pPr marL="9525">
              <a:spcBef>
                <a:spcPts val="75"/>
              </a:spcBef>
            </a:pPr>
            <a:r>
              <a:rPr sz="2025" b="1" spc="-8" dirty="0">
                <a:solidFill>
                  <a:srgbClr val="51274D"/>
                </a:solidFill>
              </a:rPr>
              <a:t>IET in</a:t>
            </a:r>
            <a:r>
              <a:rPr sz="2025" b="1" spc="-71" dirty="0">
                <a:solidFill>
                  <a:srgbClr val="51274D"/>
                </a:solidFill>
              </a:rPr>
              <a:t> </a:t>
            </a:r>
            <a:r>
              <a:rPr sz="2025" b="1" spc="-11" dirty="0">
                <a:solidFill>
                  <a:srgbClr val="51274D"/>
                </a:solidFill>
              </a:rPr>
              <a:t>India:</a:t>
            </a:r>
            <a:endParaRPr sz="2025"/>
          </a:p>
        </p:txBody>
      </p:sp>
      <p:sp>
        <p:nvSpPr>
          <p:cNvPr id="4" name="object 4"/>
          <p:cNvSpPr txBox="1">
            <a:spLocks noGrp="1"/>
          </p:cNvSpPr>
          <p:nvPr>
            <p:ph type="title"/>
          </p:nvPr>
        </p:nvSpPr>
        <p:spPr>
          <a:xfrm>
            <a:off x="4762500" y="1050283"/>
            <a:ext cx="3981450" cy="392255"/>
          </a:xfrm>
          <a:prstGeom prst="rect">
            <a:avLst/>
          </a:prstGeom>
        </p:spPr>
        <p:txBody>
          <a:bodyPr spcFirstLastPara="1" vert="horz" wrap="square" lIns="0" tIns="10001" rIns="0" bIns="0" rtlCol="0" anchor="t" anchorCtr="0">
            <a:spAutoFit/>
          </a:bodyPr>
          <a:lstStyle/>
          <a:p>
            <a:pPr marL="9525">
              <a:spcBef>
                <a:spcPts val="79"/>
              </a:spcBef>
            </a:pPr>
            <a:r>
              <a:rPr sz="2400" b="0" spc="-4" dirty="0">
                <a:solidFill>
                  <a:srgbClr val="4D1F47"/>
                </a:solidFill>
                <a:latin typeface="Rockford Sans Light" panose="00000400000000000000" pitchFamily="50" charset="0"/>
              </a:rPr>
              <a:t>Communities </a:t>
            </a:r>
            <a:r>
              <a:rPr sz="2400" b="0" dirty="0">
                <a:solidFill>
                  <a:srgbClr val="4D1F47"/>
                </a:solidFill>
                <a:latin typeface="Rockford Sans Light" panose="00000400000000000000" pitchFamily="50" charset="0"/>
              </a:rPr>
              <a:t>&amp;</a:t>
            </a:r>
            <a:r>
              <a:rPr sz="2400" b="0" spc="-19" dirty="0">
                <a:solidFill>
                  <a:srgbClr val="4D1F47"/>
                </a:solidFill>
                <a:latin typeface="Rockford Sans Light" panose="00000400000000000000" pitchFamily="50" charset="0"/>
              </a:rPr>
              <a:t> </a:t>
            </a:r>
            <a:r>
              <a:rPr sz="2400" b="0" dirty="0">
                <a:solidFill>
                  <a:srgbClr val="4D1F47"/>
                </a:solidFill>
                <a:latin typeface="Rockford Sans Light" panose="00000400000000000000" pitchFamily="50" charset="0"/>
              </a:rPr>
              <a:t>Networks</a:t>
            </a:r>
            <a:endParaRPr sz="2400" dirty="0">
              <a:latin typeface="Rockford Sans Light" panose="00000400000000000000" pitchFamily="50" charset="0"/>
            </a:endParaRPr>
          </a:p>
        </p:txBody>
      </p:sp>
      <p:sp>
        <p:nvSpPr>
          <p:cNvPr id="5" name="object 5"/>
          <p:cNvSpPr/>
          <p:nvPr/>
        </p:nvSpPr>
        <p:spPr>
          <a:xfrm>
            <a:off x="668143" y="2849216"/>
            <a:ext cx="534829" cy="499110"/>
          </a:xfrm>
          <a:custGeom>
            <a:avLst/>
            <a:gdLst/>
            <a:ahLst/>
            <a:cxnLst/>
            <a:rect l="l" t="t" r="r" b="b"/>
            <a:pathLst>
              <a:path w="713105" h="665479">
                <a:moveTo>
                  <a:pt x="478019" y="468714"/>
                </a:moveTo>
                <a:lnTo>
                  <a:pt x="425496" y="468714"/>
                </a:lnTo>
                <a:lnTo>
                  <a:pt x="507321" y="550439"/>
                </a:lnTo>
                <a:lnTo>
                  <a:pt x="498417" y="573953"/>
                </a:lnTo>
                <a:lnTo>
                  <a:pt x="504312" y="622032"/>
                </a:lnTo>
                <a:lnTo>
                  <a:pt x="543475" y="659414"/>
                </a:lnTo>
                <a:lnTo>
                  <a:pt x="571817" y="665111"/>
                </a:lnTo>
                <a:lnTo>
                  <a:pt x="600230" y="659778"/>
                </a:lnTo>
                <a:lnTo>
                  <a:pt x="625283" y="643391"/>
                </a:lnTo>
                <a:lnTo>
                  <a:pt x="642009" y="618581"/>
                </a:lnTo>
                <a:lnTo>
                  <a:pt x="647714" y="590273"/>
                </a:lnTo>
                <a:lnTo>
                  <a:pt x="642376" y="561895"/>
                </a:lnTo>
                <a:lnTo>
                  <a:pt x="625974" y="536873"/>
                </a:lnTo>
                <a:lnTo>
                  <a:pt x="609491" y="525018"/>
                </a:lnTo>
                <a:lnTo>
                  <a:pt x="533811" y="525018"/>
                </a:lnTo>
                <a:lnTo>
                  <a:pt x="478019" y="468714"/>
                </a:lnTo>
                <a:close/>
              </a:path>
              <a:path w="713105" h="665479">
                <a:moveTo>
                  <a:pt x="154767" y="514209"/>
                </a:moveTo>
                <a:lnTo>
                  <a:pt x="125906" y="515879"/>
                </a:lnTo>
                <a:lnTo>
                  <a:pt x="99777" y="528238"/>
                </a:lnTo>
                <a:lnTo>
                  <a:pt x="79704" y="550439"/>
                </a:lnTo>
                <a:lnTo>
                  <a:pt x="69829" y="578674"/>
                </a:lnTo>
                <a:lnTo>
                  <a:pt x="71502" y="607500"/>
                </a:lnTo>
                <a:lnTo>
                  <a:pt x="83875" y="633598"/>
                </a:lnTo>
                <a:lnTo>
                  <a:pt x="106099" y="653646"/>
                </a:lnTo>
                <a:lnTo>
                  <a:pt x="134370" y="663509"/>
                </a:lnTo>
                <a:lnTo>
                  <a:pt x="163233" y="661837"/>
                </a:lnTo>
                <a:lnTo>
                  <a:pt x="189363" y="649480"/>
                </a:lnTo>
                <a:lnTo>
                  <a:pt x="209433" y="627283"/>
                </a:lnTo>
                <a:lnTo>
                  <a:pt x="217347" y="608611"/>
                </a:lnTo>
                <a:lnTo>
                  <a:pt x="219985" y="588858"/>
                </a:lnTo>
                <a:lnTo>
                  <a:pt x="217347" y="569107"/>
                </a:lnTo>
                <a:lnTo>
                  <a:pt x="209433" y="550439"/>
                </a:lnTo>
                <a:lnTo>
                  <a:pt x="235828" y="524076"/>
                </a:lnTo>
                <a:lnTo>
                  <a:pt x="183038" y="524076"/>
                </a:lnTo>
                <a:lnTo>
                  <a:pt x="154767" y="514209"/>
                </a:lnTo>
                <a:close/>
              </a:path>
              <a:path w="713105" h="665479">
                <a:moveTo>
                  <a:pt x="581937" y="515081"/>
                </a:moveTo>
                <a:lnTo>
                  <a:pt x="557358" y="515951"/>
                </a:lnTo>
                <a:lnTo>
                  <a:pt x="533811" y="525018"/>
                </a:lnTo>
                <a:lnTo>
                  <a:pt x="609491" y="525018"/>
                </a:lnTo>
                <a:lnTo>
                  <a:pt x="605493" y="522142"/>
                </a:lnTo>
                <a:lnTo>
                  <a:pt x="581937" y="515081"/>
                </a:lnTo>
                <a:close/>
              </a:path>
              <a:path w="713105" h="665479">
                <a:moveTo>
                  <a:pt x="238127" y="305642"/>
                </a:moveTo>
                <a:lnTo>
                  <a:pt x="138731" y="305642"/>
                </a:lnTo>
                <a:lnTo>
                  <a:pt x="242898" y="348011"/>
                </a:lnTo>
                <a:lnTo>
                  <a:pt x="240470" y="372841"/>
                </a:lnTo>
                <a:lnTo>
                  <a:pt x="243302" y="397355"/>
                </a:lnTo>
                <a:lnTo>
                  <a:pt x="251211" y="420736"/>
                </a:lnTo>
                <a:lnTo>
                  <a:pt x="264014" y="442163"/>
                </a:lnTo>
                <a:lnTo>
                  <a:pt x="183038" y="524076"/>
                </a:lnTo>
                <a:lnTo>
                  <a:pt x="235828" y="524076"/>
                </a:lnTo>
                <a:lnTo>
                  <a:pt x="291258" y="468714"/>
                </a:lnTo>
                <a:lnTo>
                  <a:pt x="478019" y="468714"/>
                </a:lnTo>
                <a:lnTo>
                  <a:pt x="452363" y="442822"/>
                </a:lnTo>
                <a:lnTo>
                  <a:pt x="458798" y="432748"/>
                </a:lnTo>
                <a:lnTo>
                  <a:pt x="292955" y="432748"/>
                </a:lnTo>
                <a:lnTo>
                  <a:pt x="299554" y="393957"/>
                </a:lnTo>
                <a:lnTo>
                  <a:pt x="338493" y="376548"/>
                </a:lnTo>
                <a:lnTo>
                  <a:pt x="359037" y="374185"/>
                </a:lnTo>
                <a:lnTo>
                  <a:pt x="476036" y="374185"/>
                </a:lnTo>
                <a:lnTo>
                  <a:pt x="476146" y="372841"/>
                </a:lnTo>
                <a:lnTo>
                  <a:pt x="476223" y="366841"/>
                </a:lnTo>
                <a:lnTo>
                  <a:pt x="358943" y="366841"/>
                </a:lnTo>
                <a:lnTo>
                  <a:pt x="346102" y="364251"/>
                </a:lnTo>
                <a:lnTo>
                  <a:pt x="335614" y="357188"/>
                </a:lnTo>
                <a:lnTo>
                  <a:pt x="328542" y="346713"/>
                </a:lnTo>
                <a:lnTo>
                  <a:pt x="325949" y="333888"/>
                </a:lnTo>
                <a:lnTo>
                  <a:pt x="328542" y="321059"/>
                </a:lnTo>
                <a:lnTo>
                  <a:pt x="333802" y="313268"/>
                </a:lnTo>
                <a:lnTo>
                  <a:pt x="256379" y="313268"/>
                </a:lnTo>
                <a:lnTo>
                  <a:pt x="238127" y="305642"/>
                </a:lnTo>
                <a:close/>
              </a:path>
              <a:path w="713105" h="665479">
                <a:moveTo>
                  <a:pt x="425496" y="468714"/>
                </a:moveTo>
                <a:lnTo>
                  <a:pt x="291258" y="468714"/>
                </a:lnTo>
                <a:lnTo>
                  <a:pt x="323582" y="484461"/>
                </a:lnTo>
                <a:lnTo>
                  <a:pt x="358377" y="489710"/>
                </a:lnTo>
                <a:lnTo>
                  <a:pt x="393172" y="484461"/>
                </a:lnTo>
                <a:lnTo>
                  <a:pt x="425496" y="468714"/>
                </a:lnTo>
                <a:close/>
              </a:path>
              <a:path w="713105" h="665479">
                <a:moveTo>
                  <a:pt x="476036" y="374185"/>
                </a:moveTo>
                <a:lnTo>
                  <a:pt x="359037" y="374185"/>
                </a:lnTo>
                <a:lnTo>
                  <a:pt x="365945" y="374454"/>
                </a:lnTo>
                <a:lnTo>
                  <a:pt x="372806" y="375221"/>
                </a:lnTo>
                <a:lnTo>
                  <a:pt x="411085" y="388828"/>
                </a:lnTo>
                <a:lnTo>
                  <a:pt x="425019" y="420736"/>
                </a:lnTo>
                <a:lnTo>
                  <a:pt x="424931" y="432748"/>
                </a:lnTo>
                <a:lnTo>
                  <a:pt x="458798" y="432748"/>
                </a:lnTo>
                <a:lnTo>
                  <a:pt x="462623" y="426761"/>
                </a:lnTo>
                <a:lnTo>
                  <a:pt x="470097" y="409369"/>
                </a:lnTo>
                <a:lnTo>
                  <a:pt x="474667" y="391002"/>
                </a:lnTo>
                <a:lnTo>
                  <a:pt x="476036" y="374185"/>
                </a:lnTo>
                <a:close/>
              </a:path>
              <a:path w="713105" h="665479">
                <a:moveTo>
                  <a:pt x="451317" y="300934"/>
                </a:moveTo>
                <a:lnTo>
                  <a:pt x="358943" y="300934"/>
                </a:lnTo>
                <a:lnTo>
                  <a:pt x="371787" y="303523"/>
                </a:lnTo>
                <a:lnTo>
                  <a:pt x="382274" y="310585"/>
                </a:lnTo>
                <a:lnTo>
                  <a:pt x="389344" y="321059"/>
                </a:lnTo>
                <a:lnTo>
                  <a:pt x="391937" y="333888"/>
                </a:lnTo>
                <a:lnTo>
                  <a:pt x="389344" y="346713"/>
                </a:lnTo>
                <a:lnTo>
                  <a:pt x="382274" y="357188"/>
                </a:lnTo>
                <a:lnTo>
                  <a:pt x="371787" y="364251"/>
                </a:lnTo>
                <a:lnTo>
                  <a:pt x="358943" y="366841"/>
                </a:lnTo>
                <a:lnTo>
                  <a:pt x="476223" y="366841"/>
                </a:lnTo>
                <a:lnTo>
                  <a:pt x="476221" y="364251"/>
                </a:lnTo>
                <a:lnTo>
                  <a:pt x="475466" y="356665"/>
                </a:lnTo>
                <a:lnTo>
                  <a:pt x="473950" y="349140"/>
                </a:lnTo>
                <a:lnTo>
                  <a:pt x="559522" y="314022"/>
                </a:lnTo>
                <a:lnTo>
                  <a:pt x="460847" y="314022"/>
                </a:lnTo>
                <a:lnTo>
                  <a:pt x="451317" y="300934"/>
                </a:lnTo>
                <a:close/>
              </a:path>
              <a:path w="713105" h="665479">
                <a:moveTo>
                  <a:pt x="695927" y="306583"/>
                </a:moveTo>
                <a:lnTo>
                  <a:pt x="577646" y="306583"/>
                </a:lnTo>
                <a:lnTo>
                  <a:pt x="595714" y="323720"/>
                </a:lnTo>
                <a:lnTo>
                  <a:pt x="617786" y="333867"/>
                </a:lnTo>
                <a:lnTo>
                  <a:pt x="641942" y="336492"/>
                </a:lnTo>
                <a:lnTo>
                  <a:pt x="666258" y="331063"/>
                </a:lnTo>
                <a:lnTo>
                  <a:pt x="690965" y="314127"/>
                </a:lnTo>
                <a:lnTo>
                  <a:pt x="695927" y="306583"/>
                </a:lnTo>
                <a:close/>
              </a:path>
              <a:path w="713105" h="665479">
                <a:moveTo>
                  <a:pt x="91809" y="179101"/>
                </a:moveTo>
                <a:lnTo>
                  <a:pt x="60556" y="179566"/>
                </a:lnTo>
                <a:lnTo>
                  <a:pt x="32862" y="191553"/>
                </a:lnTo>
                <a:lnTo>
                  <a:pt x="11699" y="213022"/>
                </a:lnTo>
                <a:lnTo>
                  <a:pt x="0" y="241971"/>
                </a:lnTo>
                <a:lnTo>
                  <a:pt x="462" y="273187"/>
                </a:lnTo>
                <a:lnTo>
                  <a:pt x="12458" y="300843"/>
                </a:lnTo>
                <a:lnTo>
                  <a:pt x="33962" y="321990"/>
                </a:lnTo>
                <a:lnTo>
                  <a:pt x="62947" y="333676"/>
                </a:lnTo>
                <a:lnTo>
                  <a:pt x="84258" y="334706"/>
                </a:lnTo>
                <a:lnTo>
                  <a:pt x="104716" y="330110"/>
                </a:lnTo>
                <a:lnTo>
                  <a:pt x="123236" y="320288"/>
                </a:lnTo>
                <a:lnTo>
                  <a:pt x="138731" y="305642"/>
                </a:lnTo>
                <a:lnTo>
                  <a:pt x="238127" y="305642"/>
                </a:lnTo>
                <a:lnTo>
                  <a:pt x="154757" y="270805"/>
                </a:lnTo>
                <a:lnTo>
                  <a:pt x="154295" y="239586"/>
                </a:lnTo>
                <a:lnTo>
                  <a:pt x="142299" y="211931"/>
                </a:lnTo>
                <a:lnTo>
                  <a:pt x="120795" y="190786"/>
                </a:lnTo>
                <a:lnTo>
                  <a:pt x="91809" y="179101"/>
                </a:lnTo>
                <a:close/>
              </a:path>
              <a:path w="713105" h="665479">
                <a:moveTo>
                  <a:pt x="637169" y="186024"/>
                </a:moveTo>
                <a:lnTo>
                  <a:pt x="586669" y="205395"/>
                </a:lnTo>
                <a:lnTo>
                  <a:pt x="562918" y="246925"/>
                </a:lnTo>
                <a:lnTo>
                  <a:pt x="562091" y="271747"/>
                </a:lnTo>
                <a:lnTo>
                  <a:pt x="460847" y="314022"/>
                </a:lnTo>
                <a:lnTo>
                  <a:pt x="559522" y="314022"/>
                </a:lnTo>
                <a:lnTo>
                  <a:pt x="577646" y="306583"/>
                </a:lnTo>
                <a:lnTo>
                  <a:pt x="695927" y="306583"/>
                </a:lnTo>
                <a:lnTo>
                  <a:pt x="706865" y="289954"/>
                </a:lnTo>
                <a:lnTo>
                  <a:pt x="712692" y="261620"/>
                </a:lnTo>
                <a:lnTo>
                  <a:pt x="707179" y="232203"/>
                </a:lnTo>
                <a:lnTo>
                  <a:pt x="690126" y="207376"/>
                </a:lnTo>
                <a:lnTo>
                  <a:pt x="665724" y="191553"/>
                </a:lnTo>
                <a:lnTo>
                  <a:pt x="637169" y="186024"/>
                </a:lnTo>
                <a:close/>
              </a:path>
              <a:path w="713105" h="665479">
                <a:moveTo>
                  <a:pt x="369429" y="0"/>
                </a:moveTo>
                <a:lnTo>
                  <a:pt x="339523" y="1615"/>
                </a:lnTo>
                <a:lnTo>
                  <a:pt x="312585" y="14669"/>
                </a:lnTo>
                <a:lnTo>
                  <a:pt x="293416" y="36280"/>
                </a:lnTo>
                <a:lnTo>
                  <a:pt x="283760" y="63494"/>
                </a:lnTo>
                <a:lnTo>
                  <a:pt x="285358" y="93359"/>
                </a:lnTo>
                <a:lnTo>
                  <a:pt x="292980" y="112043"/>
                </a:lnTo>
                <a:lnTo>
                  <a:pt x="305052" y="127791"/>
                </a:lnTo>
                <a:lnTo>
                  <a:pt x="320819" y="139850"/>
                </a:lnTo>
                <a:lnTo>
                  <a:pt x="339523" y="147465"/>
                </a:lnTo>
                <a:lnTo>
                  <a:pt x="339523" y="255929"/>
                </a:lnTo>
                <a:lnTo>
                  <a:pt x="314279" y="262960"/>
                </a:lnTo>
                <a:lnTo>
                  <a:pt x="291476" y="275225"/>
                </a:lnTo>
                <a:lnTo>
                  <a:pt x="271911" y="292177"/>
                </a:lnTo>
                <a:lnTo>
                  <a:pt x="256379" y="313268"/>
                </a:lnTo>
                <a:lnTo>
                  <a:pt x="333802" y="313268"/>
                </a:lnTo>
                <a:lnTo>
                  <a:pt x="335614" y="310585"/>
                </a:lnTo>
                <a:lnTo>
                  <a:pt x="346102" y="303523"/>
                </a:lnTo>
                <a:lnTo>
                  <a:pt x="358943" y="300934"/>
                </a:lnTo>
                <a:lnTo>
                  <a:pt x="451317" y="300934"/>
                </a:lnTo>
                <a:lnTo>
                  <a:pt x="445304" y="292677"/>
                </a:lnTo>
                <a:lnTo>
                  <a:pt x="425647" y="275519"/>
                </a:lnTo>
                <a:lnTo>
                  <a:pt x="402685" y="263113"/>
                </a:lnTo>
                <a:lnTo>
                  <a:pt x="377231" y="256023"/>
                </a:lnTo>
                <a:lnTo>
                  <a:pt x="377231" y="147465"/>
                </a:lnTo>
                <a:lnTo>
                  <a:pt x="404174" y="134402"/>
                </a:lnTo>
                <a:lnTo>
                  <a:pt x="423344" y="112786"/>
                </a:lnTo>
                <a:lnTo>
                  <a:pt x="432999" y="85567"/>
                </a:lnTo>
                <a:lnTo>
                  <a:pt x="431396" y="55698"/>
                </a:lnTo>
                <a:lnTo>
                  <a:pt x="418321" y="28789"/>
                </a:lnTo>
                <a:lnTo>
                  <a:pt x="396681" y="9640"/>
                </a:lnTo>
                <a:lnTo>
                  <a:pt x="369429" y="0"/>
                </a:lnTo>
                <a:close/>
              </a:path>
            </a:pathLst>
          </a:custGeom>
          <a:solidFill>
            <a:srgbClr val="965FA2"/>
          </a:solidFill>
        </p:spPr>
        <p:txBody>
          <a:bodyPr wrap="square" lIns="0" tIns="0" rIns="0" bIns="0" rtlCol="0"/>
          <a:lstStyle/>
          <a:p>
            <a:endParaRPr sz="1050"/>
          </a:p>
        </p:txBody>
      </p:sp>
      <p:grpSp>
        <p:nvGrpSpPr>
          <p:cNvPr id="6" name="object 6"/>
          <p:cNvGrpSpPr/>
          <p:nvPr/>
        </p:nvGrpSpPr>
        <p:grpSpPr>
          <a:xfrm>
            <a:off x="699346" y="3592786"/>
            <a:ext cx="408146" cy="453866"/>
            <a:chOff x="932460" y="4790381"/>
            <a:chExt cx="544195" cy="605155"/>
          </a:xfrm>
        </p:grpSpPr>
        <p:sp>
          <p:nvSpPr>
            <p:cNvPr id="7" name="object 7"/>
            <p:cNvSpPr/>
            <p:nvPr/>
          </p:nvSpPr>
          <p:spPr>
            <a:xfrm>
              <a:off x="1037882" y="4863726"/>
              <a:ext cx="199278" cy="335011"/>
            </a:xfrm>
            <a:prstGeom prst="rect">
              <a:avLst/>
            </a:prstGeom>
            <a:blipFill>
              <a:blip r:embed="rId2" cstate="print"/>
              <a:stretch>
                <a:fillRect/>
              </a:stretch>
            </a:blipFill>
          </p:spPr>
          <p:txBody>
            <a:bodyPr wrap="square" lIns="0" tIns="0" rIns="0" bIns="0" rtlCol="0"/>
            <a:lstStyle/>
            <a:p>
              <a:endParaRPr sz="1050"/>
            </a:p>
          </p:txBody>
        </p:sp>
        <p:sp>
          <p:nvSpPr>
            <p:cNvPr id="8" name="object 8"/>
            <p:cNvSpPr/>
            <p:nvPr/>
          </p:nvSpPr>
          <p:spPr>
            <a:xfrm>
              <a:off x="932460" y="4790381"/>
              <a:ext cx="544195" cy="605155"/>
            </a:xfrm>
            <a:custGeom>
              <a:avLst/>
              <a:gdLst/>
              <a:ahLst/>
              <a:cxnLst/>
              <a:rect l="l" t="t" r="r" b="b"/>
              <a:pathLst>
                <a:path w="544194" h="605154">
                  <a:moveTo>
                    <a:pt x="293866" y="0"/>
                  </a:moveTo>
                  <a:lnTo>
                    <a:pt x="247782" y="2041"/>
                  </a:lnTo>
                  <a:lnTo>
                    <a:pt x="203803" y="11182"/>
                  </a:lnTo>
                  <a:lnTo>
                    <a:pt x="162532" y="26862"/>
                  </a:lnTo>
                  <a:lnTo>
                    <a:pt x="124573" y="48520"/>
                  </a:lnTo>
                  <a:lnTo>
                    <a:pt x="90533" y="75596"/>
                  </a:lnTo>
                  <a:lnTo>
                    <a:pt x="61014" y="107530"/>
                  </a:lnTo>
                  <a:lnTo>
                    <a:pt x="36622" y="143760"/>
                  </a:lnTo>
                  <a:lnTo>
                    <a:pt x="17961" y="183726"/>
                  </a:lnTo>
                  <a:lnTo>
                    <a:pt x="5636" y="226869"/>
                  </a:lnTo>
                  <a:lnTo>
                    <a:pt x="251" y="272627"/>
                  </a:lnTo>
                  <a:lnTo>
                    <a:pt x="0" y="279508"/>
                  </a:lnTo>
                  <a:lnTo>
                    <a:pt x="0" y="286396"/>
                  </a:lnTo>
                  <a:lnTo>
                    <a:pt x="4913" y="345940"/>
                  </a:lnTo>
                  <a:lnTo>
                    <a:pt x="18947" y="396243"/>
                  </a:lnTo>
                  <a:lnTo>
                    <a:pt x="41774" y="443001"/>
                  </a:lnTo>
                  <a:lnTo>
                    <a:pt x="72814" y="485024"/>
                  </a:lnTo>
                  <a:lnTo>
                    <a:pt x="111488" y="521127"/>
                  </a:lnTo>
                  <a:lnTo>
                    <a:pt x="111488" y="604574"/>
                  </a:lnTo>
                  <a:lnTo>
                    <a:pt x="289092" y="426974"/>
                  </a:lnTo>
                  <a:lnTo>
                    <a:pt x="252262" y="426974"/>
                  </a:lnTo>
                  <a:lnTo>
                    <a:pt x="233902" y="421307"/>
                  </a:lnTo>
                  <a:lnTo>
                    <a:pt x="217253" y="405234"/>
                  </a:lnTo>
                  <a:lnTo>
                    <a:pt x="202837" y="380147"/>
                  </a:lnTo>
                  <a:lnTo>
                    <a:pt x="193543" y="354076"/>
                  </a:lnTo>
                  <a:lnTo>
                    <a:pt x="143327" y="354076"/>
                  </a:lnTo>
                  <a:lnTo>
                    <a:pt x="101212" y="342789"/>
                  </a:lnTo>
                  <a:lnTo>
                    <a:pt x="89238" y="315421"/>
                  </a:lnTo>
                  <a:lnTo>
                    <a:pt x="94691" y="293190"/>
                  </a:lnTo>
                  <a:lnTo>
                    <a:pt x="108925" y="268405"/>
                  </a:lnTo>
                  <a:lnTo>
                    <a:pt x="131041" y="242200"/>
                  </a:lnTo>
                  <a:lnTo>
                    <a:pt x="107699" y="215253"/>
                  </a:lnTo>
                  <a:lnTo>
                    <a:pt x="92576" y="189715"/>
                  </a:lnTo>
                  <a:lnTo>
                    <a:pt x="86646" y="166816"/>
                  </a:lnTo>
                  <a:lnTo>
                    <a:pt x="90882" y="147788"/>
                  </a:lnTo>
                  <a:lnTo>
                    <a:pt x="98603" y="138892"/>
                  </a:lnTo>
                  <a:lnTo>
                    <a:pt x="109719" y="132602"/>
                  </a:lnTo>
                  <a:lnTo>
                    <a:pt x="123874" y="128865"/>
                  </a:lnTo>
                  <a:lnTo>
                    <a:pt x="140711" y="127631"/>
                  </a:lnTo>
                  <a:lnTo>
                    <a:pt x="193568" y="127631"/>
                  </a:lnTo>
                  <a:lnTo>
                    <a:pt x="202682" y="101923"/>
                  </a:lnTo>
                  <a:lnTo>
                    <a:pt x="217160" y="76658"/>
                  </a:lnTo>
                  <a:lnTo>
                    <a:pt x="233878" y="60472"/>
                  </a:lnTo>
                  <a:lnTo>
                    <a:pt x="252278" y="54765"/>
                  </a:lnTo>
                  <a:lnTo>
                    <a:pt x="450327" y="54765"/>
                  </a:lnTo>
                  <a:lnTo>
                    <a:pt x="422893" y="36340"/>
                  </a:lnTo>
                  <a:lnTo>
                    <a:pt x="382875" y="17699"/>
                  </a:lnTo>
                  <a:lnTo>
                    <a:pt x="339679" y="5384"/>
                  </a:lnTo>
                  <a:lnTo>
                    <a:pt x="293866" y="0"/>
                  </a:lnTo>
                  <a:close/>
                </a:path>
                <a:path w="544194" h="605154">
                  <a:moveTo>
                    <a:pt x="313529" y="346835"/>
                  </a:moveTo>
                  <a:lnTo>
                    <a:pt x="301845" y="379783"/>
                  </a:lnTo>
                  <a:lnTo>
                    <a:pt x="287364" y="405061"/>
                  </a:lnTo>
                  <a:lnTo>
                    <a:pt x="270650" y="421261"/>
                  </a:lnTo>
                  <a:lnTo>
                    <a:pt x="252262" y="426974"/>
                  </a:lnTo>
                  <a:lnTo>
                    <a:pt x="289092" y="426974"/>
                  </a:lnTo>
                  <a:lnTo>
                    <a:pt x="362077" y="353990"/>
                  </a:lnTo>
                  <a:lnTo>
                    <a:pt x="351087" y="353440"/>
                  </a:lnTo>
                  <a:lnTo>
                    <a:pt x="338443" y="352018"/>
                  </a:lnTo>
                  <a:lnTo>
                    <a:pt x="325912" y="349814"/>
                  </a:lnTo>
                  <a:lnTo>
                    <a:pt x="313529" y="346835"/>
                  </a:lnTo>
                  <a:close/>
                </a:path>
                <a:path w="544194" h="605154">
                  <a:moveTo>
                    <a:pt x="191176" y="347439"/>
                  </a:moveTo>
                  <a:lnTo>
                    <a:pt x="179380" y="350173"/>
                  </a:lnTo>
                  <a:lnTo>
                    <a:pt x="167452" y="352193"/>
                  </a:lnTo>
                  <a:lnTo>
                    <a:pt x="155423" y="353496"/>
                  </a:lnTo>
                  <a:lnTo>
                    <a:pt x="143327" y="354076"/>
                  </a:lnTo>
                  <a:lnTo>
                    <a:pt x="193543" y="354076"/>
                  </a:lnTo>
                  <a:lnTo>
                    <a:pt x="191176" y="347439"/>
                  </a:lnTo>
                  <a:close/>
                </a:path>
                <a:path w="544194" h="605154">
                  <a:moveTo>
                    <a:pt x="520224" y="127631"/>
                  </a:moveTo>
                  <a:lnTo>
                    <a:pt x="366437" y="127631"/>
                  </a:lnTo>
                  <a:lnTo>
                    <a:pt x="383274" y="128865"/>
                  </a:lnTo>
                  <a:lnTo>
                    <a:pt x="397431" y="132602"/>
                  </a:lnTo>
                  <a:lnTo>
                    <a:pt x="408552" y="138892"/>
                  </a:lnTo>
                  <a:lnTo>
                    <a:pt x="416282" y="147788"/>
                  </a:lnTo>
                  <a:lnTo>
                    <a:pt x="420510" y="166816"/>
                  </a:lnTo>
                  <a:lnTo>
                    <a:pt x="414577" y="189715"/>
                  </a:lnTo>
                  <a:lnTo>
                    <a:pt x="399452" y="215253"/>
                  </a:lnTo>
                  <a:lnTo>
                    <a:pt x="376107" y="242200"/>
                  </a:lnTo>
                  <a:lnTo>
                    <a:pt x="398222" y="268409"/>
                  </a:lnTo>
                  <a:lnTo>
                    <a:pt x="412454" y="293190"/>
                  </a:lnTo>
                  <a:lnTo>
                    <a:pt x="414506" y="301562"/>
                  </a:lnTo>
                  <a:lnTo>
                    <a:pt x="543807" y="172265"/>
                  </a:lnTo>
                  <a:lnTo>
                    <a:pt x="539937" y="162100"/>
                  </a:lnTo>
                  <a:lnTo>
                    <a:pt x="520224" y="127631"/>
                  </a:lnTo>
                  <a:close/>
                </a:path>
                <a:path w="544194" h="605154">
                  <a:moveTo>
                    <a:pt x="450327" y="54765"/>
                  </a:moveTo>
                  <a:lnTo>
                    <a:pt x="252278" y="54765"/>
                  </a:lnTo>
                  <a:lnTo>
                    <a:pt x="270708" y="60523"/>
                  </a:lnTo>
                  <a:lnTo>
                    <a:pt x="287492" y="76850"/>
                  </a:lnTo>
                  <a:lnTo>
                    <a:pt x="302033" y="102324"/>
                  </a:lnTo>
                  <a:lnTo>
                    <a:pt x="313733" y="135524"/>
                  </a:lnTo>
                  <a:lnTo>
                    <a:pt x="326698" y="132288"/>
                  </a:lnTo>
                  <a:lnTo>
                    <a:pt x="339832" y="129889"/>
                  </a:lnTo>
                  <a:lnTo>
                    <a:pt x="353092" y="128335"/>
                  </a:lnTo>
                  <a:lnTo>
                    <a:pt x="366437" y="127631"/>
                  </a:lnTo>
                  <a:lnTo>
                    <a:pt x="520224" y="127631"/>
                  </a:lnTo>
                  <a:lnTo>
                    <a:pt x="518254" y="124188"/>
                  </a:lnTo>
                  <a:lnTo>
                    <a:pt x="491144" y="90188"/>
                  </a:lnTo>
                  <a:lnTo>
                    <a:pt x="459170" y="60704"/>
                  </a:lnTo>
                  <a:lnTo>
                    <a:pt x="450327" y="54765"/>
                  </a:lnTo>
                  <a:close/>
                </a:path>
                <a:path w="544194" h="605154">
                  <a:moveTo>
                    <a:pt x="193568" y="127631"/>
                  </a:moveTo>
                  <a:lnTo>
                    <a:pt x="140711" y="127631"/>
                  </a:lnTo>
                  <a:lnTo>
                    <a:pt x="153435" y="128266"/>
                  </a:lnTo>
                  <a:lnTo>
                    <a:pt x="166084" y="129686"/>
                  </a:lnTo>
                  <a:lnTo>
                    <a:pt x="178619" y="131887"/>
                  </a:lnTo>
                  <a:lnTo>
                    <a:pt x="191003" y="134865"/>
                  </a:lnTo>
                  <a:lnTo>
                    <a:pt x="193568" y="127631"/>
                  </a:lnTo>
                  <a:close/>
                </a:path>
              </a:pathLst>
            </a:custGeom>
            <a:solidFill>
              <a:srgbClr val="977C94"/>
            </a:solidFill>
          </p:spPr>
          <p:txBody>
            <a:bodyPr wrap="square" lIns="0" tIns="0" rIns="0" bIns="0" rtlCol="0"/>
            <a:lstStyle/>
            <a:p>
              <a:endParaRPr sz="1050"/>
            </a:p>
          </p:txBody>
        </p:sp>
        <p:sp>
          <p:nvSpPr>
            <p:cNvPr id="9" name="object 9"/>
            <p:cNvSpPr/>
            <p:nvPr/>
          </p:nvSpPr>
          <p:spPr>
            <a:xfrm>
              <a:off x="1128902" y="4936616"/>
              <a:ext cx="205284" cy="189231"/>
            </a:xfrm>
            <a:prstGeom prst="rect">
              <a:avLst/>
            </a:prstGeom>
            <a:blipFill>
              <a:blip r:embed="rId3" cstate="print"/>
              <a:stretch>
                <a:fillRect/>
              </a:stretch>
            </a:blipFill>
          </p:spPr>
          <p:txBody>
            <a:bodyPr wrap="square" lIns="0" tIns="0" rIns="0" bIns="0" rtlCol="0"/>
            <a:lstStyle/>
            <a:p>
              <a:endParaRPr sz="1050"/>
            </a:p>
          </p:txBody>
        </p:sp>
      </p:grpSp>
      <p:sp>
        <p:nvSpPr>
          <p:cNvPr id="10" name="object 10"/>
          <p:cNvSpPr/>
          <p:nvPr/>
        </p:nvSpPr>
        <p:spPr>
          <a:xfrm>
            <a:off x="1229411" y="4034399"/>
            <a:ext cx="616744" cy="339090"/>
          </a:xfrm>
          <a:custGeom>
            <a:avLst/>
            <a:gdLst/>
            <a:ahLst/>
            <a:cxnLst/>
            <a:rect l="l" t="t" r="r" b="b"/>
            <a:pathLst>
              <a:path w="822325" h="452120">
                <a:moveTo>
                  <a:pt x="674966" y="238213"/>
                </a:moveTo>
                <a:lnTo>
                  <a:pt x="411010" y="331419"/>
                </a:lnTo>
                <a:lnTo>
                  <a:pt x="147053" y="238213"/>
                </a:lnTo>
                <a:lnTo>
                  <a:pt x="147053" y="348373"/>
                </a:lnTo>
                <a:lnTo>
                  <a:pt x="183019" y="398233"/>
                </a:lnTo>
                <a:lnTo>
                  <a:pt x="224243" y="419569"/>
                </a:lnTo>
                <a:lnTo>
                  <a:pt x="277634" y="436587"/>
                </a:lnTo>
                <a:lnTo>
                  <a:pt x="340728" y="447865"/>
                </a:lnTo>
                <a:lnTo>
                  <a:pt x="411010" y="451942"/>
                </a:lnTo>
                <a:lnTo>
                  <a:pt x="481291" y="447865"/>
                </a:lnTo>
                <a:lnTo>
                  <a:pt x="544385" y="436587"/>
                </a:lnTo>
                <a:lnTo>
                  <a:pt x="597776" y="419569"/>
                </a:lnTo>
                <a:lnTo>
                  <a:pt x="639000" y="398233"/>
                </a:lnTo>
                <a:lnTo>
                  <a:pt x="674966" y="348373"/>
                </a:lnTo>
                <a:lnTo>
                  <a:pt x="674966" y="238213"/>
                </a:lnTo>
                <a:close/>
              </a:path>
              <a:path w="822325" h="452120">
                <a:moveTo>
                  <a:pt x="822007" y="146875"/>
                </a:moveTo>
                <a:lnTo>
                  <a:pt x="411010" y="0"/>
                </a:lnTo>
                <a:lnTo>
                  <a:pt x="0" y="146875"/>
                </a:lnTo>
                <a:lnTo>
                  <a:pt x="52793" y="165709"/>
                </a:lnTo>
                <a:lnTo>
                  <a:pt x="52793" y="338950"/>
                </a:lnTo>
                <a:lnTo>
                  <a:pt x="54279" y="346265"/>
                </a:lnTo>
                <a:lnTo>
                  <a:pt x="58331" y="352247"/>
                </a:lnTo>
                <a:lnTo>
                  <a:pt x="64325" y="356298"/>
                </a:lnTo>
                <a:lnTo>
                  <a:pt x="71640" y="357784"/>
                </a:lnTo>
                <a:lnTo>
                  <a:pt x="78968" y="356298"/>
                </a:lnTo>
                <a:lnTo>
                  <a:pt x="84963" y="352247"/>
                </a:lnTo>
                <a:lnTo>
                  <a:pt x="89014" y="346265"/>
                </a:lnTo>
                <a:lnTo>
                  <a:pt x="90500" y="338950"/>
                </a:lnTo>
                <a:lnTo>
                  <a:pt x="90500" y="178892"/>
                </a:lnTo>
                <a:lnTo>
                  <a:pt x="411010" y="290931"/>
                </a:lnTo>
                <a:lnTo>
                  <a:pt x="822007" y="146875"/>
                </a:lnTo>
                <a:close/>
              </a:path>
            </a:pathLst>
          </a:custGeom>
          <a:solidFill>
            <a:srgbClr val="4D1F47"/>
          </a:solidFill>
        </p:spPr>
        <p:txBody>
          <a:bodyPr wrap="square" lIns="0" tIns="0" rIns="0" bIns="0" rtlCol="0"/>
          <a:lstStyle/>
          <a:p>
            <a:endParaRPr sz="1050"/>
          </a:p>
        </p:txBody>
      </p:sp>
      <p:grpSp>
        <p:nvGrpSpPr>
          <p:cNvPr id="11" name="object 11"/>
          <p:cNvGrpSpPr/>
          <p:nvPr/>
        </p:nvGrpSpPr>
        <p:grpSpPr>
          <a:xfrm>
            <a:off x="1382165" y="3305749"/>
            <a:ext cx="536734" cy="505778"/>
            <a:chOff x="1842886" y="4407666"/>
            <a:chExt cx="715645" cy="674370"/>
          </a:xfrm>
        </p:grpSpPr>
        <p:sp>
          <p:nvSpPr>
            <p:cNvPr id="12" name="object 12"/>
            <p:cNvSpPr/>
            <p:nvPr/>
          </p:nvSpPr>
          <p:spPr>
            <a:xfrm>
              <a:off x="1940830" y="4503882"/>
              <a:ext cx="111991" cy="111853"/>
            </a:xfrm>
            <a:prstGeom prst="rect">
              <a:avLst/>
            </a:prstGeom>
            <a:blipFill>
              <a:blip r:embed="rId4" cstate="print"/>
              <a:stretch>
                <a:fillRect/>
              </a:stretch>
            </a:blipFill>
          </p:spPr>
          <p:txBody>
            <a:bodyPr wrap="square" lIns="0" tIns="0" rIns="0" bIns="0" rtlCol="0"/>
            <a:lstStyle/>
            <a:p>
              <a:endParaRPr sz="1050"/>
            </a:p>
          </p:txBody>
        </p:sp>
        <p:sp>
          <p:nvSpPr>
            <p:cNvPr id="13" name="object 13"/>
            <p:cNvSpPr/>
            <p:nvPr/>
          </p:nvSpPr>
          <p:spPr>
            <a:xfrm>
              <a:off x="1842884" y="4407674"/>
              <a:ext cx="715645" cy="674370"/>
            </a:xfrm>
            <a:custGeom>
              <a:avLst/>
              <a:gdLst/>
              <a:ahLst/>
              <a:cxnLst/>
              <a:rect l="l" t="t" r="r" b="b"/>
              <a:pathLst>
                <a:path w="715644" h="674370">
                  <a:moveTo>
                    <a:pt x="409968" y="348361"/>
                  </a:moveTo>
                  <a:lnTo>
                    <a:pt x="355574" y="348361"/>
                  </a:lnTo>
                  <a:lnTo>
                    <a:pt x="332574" y="386016"/>
                  </a:lnTo>
                  <a:lnTo>
                    <a:pt x="372313" y="386016"/>
                  </a:lnTo>
                  <a:lnTo>
                    <a:pt x="409968" y="348361"/>
                  </a:lnTo>
                  <a:close/>
                </a:path>
                <a:path w="715644" h="674370">
                  <a:moveTo>
                    <a:pt x="489661" y="136156"/>
                  </a:moveTo>
                  <a:lnTo>
                    <a:pt x="484162" y="130581"/>
                  </a:lnTo>
                  <a:lnTo>
                    <a:pt x="478624" y="125120"/>
                  </a:lnTo>
                  <a:lnTo>
                    <a:pt x="469722" y="125120"/>
                  </a:lnTo>
                  <a:lnTo>
                    <a:pt x="464172" y="130581"/>
                  </a:lnTo>
                  <a:lnTo>
                    <a:pt x="342379" y="252222"/>
                  </a:lnTo>
                  <a:lnTo>
                    <a:pt x="335000" y="251167"/>
                  </a:lnTo>
                  <a:lnTo>
                    <a:pt x="295630" y="289636"/>
                  </a:lnTo>
                  <a:lnTo>
                    <a:pt x="277799" y="318604"/>
                  </a:lnTo>
                  <a:lnTo>
                    <a:pt x="267246" y="273697"/>
                  </a:lnTo>
                  <a:lnTo>
                    <a:pt x="230974" y="239979"/>
                  </a:lnTo>
                  <a:lnTo>
                    <a:pt x="188620" y="225386"/>
                  </a:lnTo>
                  <a:lnTo>
                    <a:pt x="153936" y="221996"/>
                  </a:lnTo>
                  <a:lnTo>
                    <a:pt x="142227" y="222567"/>
                  </a:lnTo>
                  <a:lnTo>
                    <a:pt x="91833" y="234111"/>
                  </a:lnTo>
                  <a:lnTo>
                    <a:pt x="49009" y="259664"/>
                  </a:lnTo>
                  <a:lnTo>
                    <a:pt x="40627" y="275107"/>
                  </a:lnTo>
                  <a:lnTo>
                    <a:pt x="17132" y="373672"/>
                  </a:lnTo>
                  <a:lnTo>
                    <a:pt x="5080" y="424573"/>
                  </a:lnTo>
                  <a:lnTo>
                    <a:pt x="635" y="444055"/>
                  </a:lnTo>
                  <a:lnTo>
                    <a:pt x="0" y="448348"/>
                  </a:lnTo>
                  <a:lnTo>
                    <a:pt x="2222" y="459333"/>
                  </a:lnTo>
                  <a:lnTo>
                    <a:pt x="8280" y="468312"/>
                  </a:lnTo>
                  <a:lnTo>
                    <a:pt x="17272" y="474370"/>
                  </a:lnTo>
                  <a:lnTo>
                    <a:pt x="28270" y="476592"/>
                  </a:lnTo>
                  <a:lnTo>
                    <a:pt x="37249" y="474891"/>
                  </a:lnTo>
                  <a:lnTo>
                    <a:pt x="45046" y="470547"/>
                  </a:lnTo>
                  <a:lnTo>
                    <a:pt x="51092" y="464007"/>
                  </a:lnTo>
                  <a:lnTo>
                    <a:pt x="54864" y="455688"/>
                  </a:lnTo>
                  <a:lnTo>
                    <a:pt x="84264" y="334137"/>
                  </a:lnTo>
                  <a:lnTo>
                    <a:pt x="84277" y="674052"/>
                  </a:lnTo>
                  <a:lnTo>
                    <a:pt x="139979" y="618337"/>
                  </a:lnTo>
                  <a:lnTo>
                    <a:pt x="139979" y="473481"/>
                  </a:lnTo>
                  <a:lnTo>
                    <a:pt x="168262" y="473481"/>
                  </a:lnTo>
                  <a:lnTo>
                    <a:pt x="168262" y="590054"/>
                  </a:lnTo>
                  <a:lnTo>
                    <a:pt x="223888" y="534441"/>
                  </a:lnTo>
                  <a:lnTo>
                    <a:pt x="223888" y="473481"/>
                  </a:lnTo>
                  <a:lnTo>
                    <a:pt x="223888" y="334137"/>
                  </a:lnTo>
                  <a:lnTo>
                    <a:pt x="223888" y="332346"/>
                  </a:lnTo>
                  <a:lnTo>
                    <a:pt x="234975" y="379653"/>
                  </a:lnTo>
                  <a:lnTo>
                    <a:pt x="237007" y="382244"/>
                  </a:lnTo>
                  <a:lnTo>
                    <a:pt x="239814" y="383667"/>
                  </a:lnTo>
                  <a:lnTo>
                    <a:pt x="248361" y="389191"/>
                  </a:lnTo>
                  <a:lnTo>
                    <a:pt x="257606" y="393293"/>
                  </a:lnTo>
                  <a:lnTo>
                    <a:pt x="267385" y="395897"/>
                  </a:lnTo>
                  <a:lnTo>
                    <a:pt x="277520" y="396938"/>
                  </a:lnTo>
                  <a:lnTo>
                    <a:pt x="284124" y="396913"/>
                  </a:lnTo>
                  <a:lnTo>
                    <a:pt x="290334" y="395084"/>
                  </a:lnTo>
                  <a:lnTo>
                    <a:pt x="295795" y="391617"/>
                  </a:lnTo>
                  <a:lnTo>
                    <a:pt x="300151" y="386676"/>
                  </a:lnTo>
                  <a:lnTo>
                    <a:pt x="333324" y="332346"/>
                  </a:lnTo>
                  <a:lnTo>
                    <a:pt x="341718" y="318604"/>
                  </a:lnTo>
                  <a:lnTo>
                    <a:pt x="357644" y="292519"/>
                  </a:lnTo>
                  <a:lnTo>
                    <a:pt x="361327" y="286727"/>
                  </a:lnTo>
                  <a:lnTo>
                    <a:pt x="362712" y="279781"/>
                  </a:lnTo>
                  <a:lnTo>
                    <a:pt x="361518" y="273037"/>
                  </a:lnTo>
                  <a:lnTo>
                    <a:pt x="382346" y="252222"/>
                  </a:lnTo>
                  <a:lnTo>
                    <a:pt x="489623" y="145110"/>
                  </a:lnTo>
                  <a:lnTo>
                    <a:pt x="489661" y="136156"/>
                  </a:lnTo>
                  <a:close/>
                </a:path>
                <a:path w="715644" h="674370">
                  <a:moveTo>
                    <a:pt x="715022" y="37655"/>
                  </a:moveTo>
                  <a:lnTo>
                    <a:pt x="712063" y="22999"/>
                  </a:lnTo>
                  <a:lnTo>
                    <a:pt x="703973" y="11036"/>
                  </a:lnTo>
                  <a:lnTo>
                    <a:pt x="691997" y="2959"/>
                  </a:lnTo>
                  <a:lnTo>
                    <a:pt x="677316" y="0"/>
                  </a:lnTo>
                  <a:lnTo>
                    <a:pt x="215392" y="0"/>
                  </a:lnTo>
                  <a:lnTo>
                    <a:pt x="200723" y="2959"/>
                  </a:lnTo>
                  <a:lnTo>
                    <a:pt x="188734" y="11036"/>
                  </a:lnTo>
                  <a:lnTo>
                    <a:pt x="180657" y="22999"/>
                  </a:lnTo>
                  <a:lnTo>
                    <a:pt x="177685" y="37655"/>
                  </a:lnTo>
                  <a:lnTo>
                    <a:pt x="177685" y="71551"/>
                  </a:lnTo>
                  <a:lnTo>
                    <a:pt x="188226" y="75196"/>
                  </a:lnTo>
                  <a:lnTo>
                    <a:pt x="198107" y="80238"/>
                  </a:lnTo>
                  <a:lnTo>
                    <a:pt x="207213" y="86575"/>
                  </a:lnTo>
                  <a:lnTo>
                    <a:pt x="215392" y="94145"/>
                  </a:lnTo>
                  <a:lnTo>
                    <a:pt x="215392" y="37655"/>
                  </a:lnTo>
                  <a:lnTo>
                    <a:pt x="677316" y="37655"/>
                  </a:lnTo>
                  <a:lnTo>
                    <a:pt x="677316" y="81013"/>
                  </a:lnTo>
                  <a:lnTo>
                    <a:pt x="715022" y="43307"/>
                  </a:lnTo>
                  <a:lnTo>
                    <a:pt x="715022" y="37655"/>
                  </a:lnTo>
                  <a:close/>
                </a:path>
              </a:pathLst>
            </a:custGeom>
            <a:solidFill>
              <a:srgbClr val="9F46B4"/>
            </a:solidFill>
          </p:spPr>
          <p:txBody>
            <a:bodyPr wrap="square" lIns="0" tIns="0" rIns="0" bIns="0" rtlCol="0"/>
            <a:lstStyle/>
            <a:p>
              <a:endParaRPr sz="1050"/>
            </a:p>
          </p:txBody>
        </p:sp>
      </p:grpSp>
      <p:sp>
        <p:nvSpPr>
          <p:cNvPr id="14" name="object 14"/>
          <p:cNvSpPr/>
          <p:nvPr/>
        </p:nvSpPr>
        <p:spPr>
          <a:xfrm>
            <a:off x="1984852" y="3884063"/>
            <a:ext cx="367665" cy="385763"/>
          </a:xfrm>
          <a:custGeom>
            <a:avLst/>
            <a:gdLst/>
            <a:ahLst/>
            <a:cxnLst/>
            <a:rect l="l" t="t" r="r" b="b"/>
            <a:pathLst>
              <a:path w="490219" h="514350">
                <a:moveTo>
                  <a:pt x="490106" y="139652"/>
                </a:moveTo>
                <a:lnTo>
                  <a:pt x="376984" y="139652"/>
                </a:lnTo>
                <a:lnTo>
                  <a:pt x="376984" y="252635"/>
                </a:lnTo>
                <a:lnTo>
                  <a:pt x="401692" y="252635"/>
                </a:lnTo>
                <a:lnTo>
                  <a:pt x="490106" y="164223"/>
                </a:lnTo>
                <a:lnTo>
                  <a:pt x="490106" y="139652"/>
                </a:lnTo>
                <a:close/>
              </a:path>
              <a:path w="490219" h="514350">
                <a:moveTo>
                  <a:pt x="59856" y="205578"/>
                </a:moveTo>
                <a:lnTo>
                  <a:pt x="37617" y="208720"/>
                </a:lnTo>
                <a:lnTo>
                  <a:pt x="18343" y="220237"/>
                </a:lnTo>
                <a:lnTo>
                  <a:pt x="5434" y="237636"/>
                </a:lnTo>
                <a:lnTo>
                  <a:pt x="0" y="258600"/>
                </a:lnTo>
                <a:lnTo>
                  <a:pt x="3146" y="280810"/>
                </a:lnTo>
                <a:lnTo>
                  <a:pt x="8670" y="292180"/>
                </a:lnTo>
                <a:lnTo>
                  <a:pt x="16478" y="301930"/>
                </a:lnTo>
                <a:lnTo>
                  <a:pt x="26238" y="309729"/>
                </a:lnTo>
                <a:lnTo>
                  <a:pt x="37617" y="315246"/>
                </a:lnTo>
                <a:lnTo>
                  <a:pt x="37617" y="411094"/>
                </a:lnTo>
                <a:lnTo>
                  <a:pt x="140486" y="513836"/>
                </a:lnTo>
                <a:lnTo>
                  <a:pt x="167147" y="487175"/>
                </a:lnTo>
                <a:lnTo>
                  <a:pt x="75325" y="395464"/>
                </a:lnTo>
                <a:lnTo>
                  <a:pt x="75324" y="315246"/>
                </a:lnTo>
                <a:lnTo>
                  <a:pt x="94600" y="303728"/>
                </a:lnTo>
                <a:lnTo>
                  <a:pt x="107511" y="286327"/>
                </a:lnTo>
                <a:lnTo>
                  <a:pt x="112949" y="265360"/>
                </a:lnTo>
                <a:lnTo>
                  <a:pt x="109803" y="243149"/>
                </a:lnTo>
                <a:lnTo>
                  <a:pt x="98271" y="223898"/>
                </a:lnTo>
                <a:lnTo>
                  <a:pt x="80848" y="211006"/>
                </a:lnTo>
                <a:lnTo>
                  <a:pt x="59856" y="205578"/>
                </a:lnTo>
                <a:close/>
              </a:path>
              <a:path w="490219" h="514350">
                <a:moveTo>
                  <a:pt x="263862" y="72105"/>
                </a:moveTo>
                <a:lnTo>
                  <a:pt x="226154" y="72105"/>
                </a:lnTo>
                <a:lnTo>
                  <a:pt x="226154" y="428169"/>
                </a:lnTo>
                <a:lnTo>
                  <a:pt x="263862" y="390462"/>
                </a:lnTo>
                <a:lnTo>
                  <a:pt x="263862" y="72105"/>
                </a:lnTo>
                <a:close/>
              </a:path>
              <a:path w="490219" h="514350">
                <a:moveTo>
                  <a:pt x="245008" y="0"/>
                </a:moveTo>
                <a:lnTo>
                  <a:pt x="165728" y="79323"/>
                </a:lnTo>
                <a:lnTo>
                  <a:pt x="162080" y="85836"/>
                </a:lnTo>
                <a:lnTo>
                  <a:pt x="161251" y="92999"/>
                </a:lnTo>
                <a:lnTo>
                  <a:pt x="163175" y="99956"/>
                </a:lnTo>
                <a:lnTo>
                  <a:pt x="167786" y="105851"/>
                </a:lnTo>
                <a:lnTo>
                  <a:pt x="173606" y="109245"/>
                </a:lnTo>
                <a:lnTo>
                  <a:pt x="180052" y="110376"/>
                </a:lnTo>
                <a:lnTo>
                  <a:pt x="186497" y="109245"/>
                </a:lnTo>
                <a:lnTo>
                  <a:pt x="192312" y="105851"/>
                </a:lnTo>
                <a:lnTo>
                  <a:pt x="226154" y="72105"/>
                </a:lnTo>
                <a:lnTo>
                  <a:pt x="317073" y="72105"/>
                </a:lnTo>
                <a:lnTo>
                  <a:pt x="245008" y="0"/>
                </a:lnTo>
                <a:close/>
              </a:path>
              <a:path w="490219" h="514350">
                <a:moveTo>
                  <a:pt x="317073" y="72105"/>
                </a:moveTo>
                <a:lnTo>
                  <a:pt x="263862" y="72105"/>
                </a:lnTo>
                <a:lnTo>
                  <a:pt x="297704" y="105851"/>
                </a:lnTo>
                <a:lnTo>
                  <a:pt x="304243" y="109493"/>
                </a:lnTo>
                <a:lnTo>
                  <a:pt x="311423" y="110319"/>
                </a:lnTo>
                <a:lnTo>
                  <a:pt x="318390" y="108397"/>
                </a:lnTo>
                <a:lnTo>
                  <a:pt x="324288" y="103795"/>
                </a:lnTo>
                <a:lnTo>
                  <a:pt x="327690" y="97983"/>
                </a:lnTo>
                <a:lnTo>
                  <a:pt x="328824" y="91547"/>
                </a:lnTo>
                <a:lnTo>
                  <a:pt x="327690" y="85117"/>
                </a:lnTo>
                <a:lnTo>
                  <a:pt x="324288" y="79323"/>
                </a:lnTo>
                <a:lnTo>
                  <a:pt x="317073" y="72105"/>
                </a:lnTo>
                <a:close/>
              </a:path>
            </a:pathLst>
          </a:custGeom>
          <a:solidFill>
            <a:srgbClr val="755270"/>
          </a:solidFill>
        </p:spPr>
        <p:txBody>
          <a:bodyPr wrap="square" lIns="0" tIns="0" rIns="0" bIns="0" rtlCol="0"/>
          <a:lstStyle/>
          <a:p>
            <a:endParaRPr sz="1050"/>
          </a:p>
        </p:txBody>
      </p:sp>
      <p:grpSp>
        <p:nvGrpSpPr>
          <p:cNvPr id="15" name="object 15"/>
          <p:cNvGrpSpPr/>
          <p:nvPr/>
        </p:nvGrpSpPr>
        <p:grpSpPr>
          <a:xfrm>
            <a:off x="738231" y="4584945"/>
            <a:ext cx="565785" cy="397193"/>
            <a:chOff x="984308" y="6113260"/>
            <a:chExt cx="754380" cy="529590"/>
          </a:xfrm>
        </p:grpSpPr>
        <p:sp>
          <p:nvSpPr>
            <p:cNvPr id="16" name="object 16"/>
            <p:cNvSpPr/>
            <p:nvPr/>
          </p:nvSpPr>
          <p:spPr>
            <a:xfrm>
              <a:off x="1295394" y="6113260"/>
              <a:ext cx="131975" cy="131813"/>
            </a:xfrm>
            <a:prstGeom prst="rect">
              <a:avLst/>
            </a:prstGeom>
            <a:blipFill>
              <a:blip r:embed="rId5" cstate="print"/>
              <a:stretch>
                <a:fillRect/>
              </a:stretch>
            </a:blipFill>
          </p:spPr>
          <p:txBody>
            <a:bodyPr wrap="square" lIns="0" tIns="0" rIns="0" bIns="0" rtlCol="0"/>
            <a:lstStyle/>
            <a:p>
              <a:endParaRPr sz="1050"/>
            </a:p>
          </p:txBody>
        </p:sp>
        <p:sp>
          <p:nvSpPr>
            <p:cNvPr id="17" name="object 17"/>
            <p:cNvSpPr/>
            <p:nvPr/>
          </p:nvSpPr>
          <p:spPr>
            <a:xfrm>
              <a:off x="989964" y="6393835"/>
              <a:ext cx="742950" cy="248920"/>
            </a:xfrm>
            <a:custGeom>
              <a:avLst/>
              <a:gdLst/>
              <a:ahLst/>
              <a:cxnLst/>
              <a:rect l="l" t="t" r="r" b="b"/>
              <a:pathLst>
                <a:path w="742950" h="248920">
                  <a:moveTo>
                    <a:pt x="371418" y="0"/>
                  </a:moveTo>
                  <a:lnTo>
                    <a:pt x="316447" y="2690"/>
                  </a:lnTo>
                  <a:lnTo>
                    <a:pt x="264009" y="10508"/>
                  </a:lnTo>
                  <a:lnTo>
                    <a:pt x="214674" y="23072"/>
                  </a:lnTo>
                  <a:lnTo>
                    <a:pt x="169010" y="39998"/>
                  </a:lnTo>
                  <a:lnTo>
                    <a:pt x="127587" y="60905"/>
                  </a:lnTo>
                  <a:lnTo>
                    <a:pt x="90975" y="85412"/>
                  </a:lnTo>
                  <a:lnTo>
                    <a:pt x="59742" y="113136"/>
                  </a:lnTo>
                  <a:lnTo>
                    <a:pt x="34459" y="143695"/>
                  </a:lnTo>
                  <a:lnTo>
                    <a:pt x="4018" y="211790"/>
                  </a:lnTo>
                  <a:lnTo>
                    <a:pt x="0" y="248563"/>
                  </a:lnTo>
                  <a:lnTo>
                    <a:pt x="742828" y="248563"/>
                  </a:lnTo>
                  <a:lnTo>
                    <a:pt x="727057" y="176707"/>
                  </a:lnTo>
                  <a:lnTo>
                    <a:pt x="682850" y="113136"/>
                  </a:lnTo>
                  <a:lnTo>
                    <a:pt x="651537" y="85412"/>
                  </a:lnTo>
                  <a:lnTo>
                    <a:pt x="614862" y="60905"/>
                  </a:lnTo>
                  <a:lnTo>
                    <a:pt x="573406" y="39998"/>
                  </a:lnTo>
                  <a:lnTo>
                    <a:pt x="527752" y="23072"/>
                  </a:lnTo>
                  <a:lnTo>
                    <a:pt x="478481" y="10508"/>
                  </a:lnTo>
                  <a:lnTo>
                    <a:pt x="426175" y="2690"/>
                  </a:lnTo>
                  <a:lnTo>
                    <a:pt x="371418" y="0"/>
                  </a:lnTo>
                  <a:close/>
                </a:path>
              </a:pathLst>
            </a:custGeom>
            <a:solidFill>
              <a:srgbClr val="755270"/>
            </a:solidFill>
          </p:spPr>
          <p:txBody>
            <a:bodyPr wrap="square" lIns="0" tIns="0" rIns="0" bIns="0" rtlCol="0"/>
            <a:lstStyle/>
            <a:p>
              <a:endParaRPr sz="1050"/>
            </a:p>
          </p:txBody>
        </p:sp>
        <p:sp>
          <p:nvSpPr>
            <p:cNvPr id="18" name="object 18"/>
            <p:cNvSpPr/>
            <p:nvPr/>
          </p:nvSpPr>
          <p:spPr>
            <a:xfrm>
              <a:off x="1247317" y="6264257"/>
              <a:ext cx="227187" cy="94741"/>
            </a:xfrm>
            <a:prstGeom prst="rect">
              <a:avLst/>
            </a:prstGeom>
            <a:blipFill>
              <a:blip r:embed="rId6" cstate="print"/>
              <a:stretch>
                <a:fillRect/>
              </a:stretch>
            </a:blipFill>
          </p:spPr>
          <p:txBody>
            <a:bodyPr wrap="square" lIns="0" tIns="0" rIns="0" bIns="0" rtlCol="0"/>
            <a:lstStyle/>
            <a:p>
              <a:endParaRPr sz="1050"/>
            </a:p>
          </p:txBody>
        </p:sp>
        <p:sp>
          <p:nvSpPr>
            <p:cNvPr id="19" name="object 19"/>
            <p:cNvSpPr/>
            <p:nvPr/>
          </p:nvSpPr>
          <p:spPr>
            <a:xfrm>
              <a:off x="1031442" y="6150921"/>
              <a:ext cx="131975" cy="131813"/>
            </a:xfrm>
            <a:prstGeom prst="rect">
              <a:avLst/>
            </a:prstGeom>
            <a:blipFill>
              <a:blip r:embed="rId7" cstate="print"/>
              <a:stretch>
                <a:fillRect/>
              </a:stretch>
            </a:blipFill>
          </p:spPr>
          <p:txBody>
            <a:bodyPr wrap="square" lIns="0" tIns="0" rIns="0" bIns="0" rtlCol="0"/>
            <a:lstStyle/>
            <a:p>
              <a:endParaRPr sz="1050"/>
            </a:p>
          </p:txBody>
        </p:sp>
        <p:sp>
          <p:nvSpPr>
            <p:cNvPr id="20" name="object 20"/>
            <p:cNvSpPr/>
            <p:nvPr/>
          </p:nvSpPr>
          <p:spPr>
            <a:xfrm>
              <a:off x="984308" y="6301918"/>
              <a:ext cx="226244" cy="216198"/>
            </a:xfrm>
            <a:prstGeom prst="rect">
              <a:avLst/>
            </a:prstGeom>
            <a:blipFill>
              <a:blip r:embed="rId8" cstate="print"/>
              <a:stretch>
                <a:fillRect/>
              </a:stretch>
            </a:blipFill>
          </p:spPr>
          <p:txBody>
            <a:bodyPr wrap="square" lIns="0" tIns="0" rIns="0" bIns="0" rtlCol="0"/>
            <a:lstStyle/>
            <a:p>
              <a:endParaRPr sz="1050"/>
            </a:p>
          </p:txBody>
        </p:sp>
        <p:sp>
          <p:nvSpPr>
            <p:cNvPr id="21" name="object 21"/>
            <p:cNvSpPr/>
            <p:nvPr/>
          </p:nvSpPr>
          <p:spPr>
            <a:xfrm>
              <a:off x="1559346" y="6150921"/>
              <a:ext cx="131968" cy="131813"/>
            </a:xfrm>
            <a:prstGeom prst="rect">
              <a:avLst/>
            </a:prstGeom>
            <a:blipFill>
              <a:blip r:embed="rId9" cstate="print"/>
              <a:stretch>
                <a:fillRect/>
              </a:stretch>
            </a:blipFill>
          </p:spPr>
          <p:txBody>
            <a:bodyPr wrap="square" lIns="0" tIns="0" rIns="0" bIns="0" rtlCol="0"/>
            <a:lstStyle/>
            <a:p>
              <a:endParaRPr sz="1050"/>
            </a:p>
          </p:txBody>
        </p:sp>
        <p:sp>
          <p:nvSpPr>
            <p:cNvPr id="22" name="object 22"/>
            <p:cNvSpPr/>
            <p:nvPr/>
          </p:nvSpPr>
          <p:spPr>
            <a:xfrm>
              <a:off x="1511269" y="6301918"/>
              <a:ext cx="227179" cy="216198"/>
            </a:xfrm>
            <a:prstGeom prst="rect">
              <a:avLst/>
            </a:prstGeom>
            <a:blipFill>
              <a:blip r:embed="rId10" cstate="print"/>
              <a:stretch>
                <a:fillRect/>
              </a:stretch>
            </a:blipFill>
          </p:spPr>
          <p:txBody>
            <a:bodyPr wrap="square" lIns="0" tIns="0" rIns="0" bIns="0" rtlCol="0"/>
            <a:lstStyle/>
            <a:p>
              <a:endParaRPr sz="1050"/>
            </a:p>
          </p:txBody>
        </p:sp>
      </p:grpSp>
      <p:sp>
        <p:nvSpPr>
          <p:cNvPr id="23" name="object 23"/>
          <p:cNvSpPr/>
          <p:nvPr/>
        </p:nvSpPr>
        <p:spPr>
          <a:xfrm>
            <a:off x="2545221" y="3611499"/>
            <a:ext cx="518636" cy="492919"/>
          </a:xfrm>
          <a:custGeom>
            <a:avLst/>
            <a:gdLst/>
            <a:ahLst/>
            <a:cxnLst/>
            <a:rect l="l" t="t" r="r" b="b"/>
            <a:pathLst>
              <a:path w="691514" h="657225">
                <a:moveTo>
                  <a:pt x="471340" y="0"/>
                </a:moveTo>
                <a:lnTo>
                  <a:pt x="67871" y="141221"/>
                </a:lnTo>
                <a:lnTo>
                  <a:pt x="33581" y="188886"/>
                </a:lnTo>
                <a:lnTo>
                  <a:pt x="28278" y="254204"/>
                </a:lnTo>
                <a:lnTo>
                  <a:pt x="28617" y="264781"/>
                </a:lnTo>
                <a:lnTo>
                  <a:pt x="29575" y="275271"/>
                </a:lnTo>
                <a:lnTo>
                  <a:pt x="31062" y="285583"/>
                </a:lnTo>
                <a:lnTo>
                  <a:pt x="32992" y="295631"/>
                </a:lnTo>
                <a:lnTo>
                  <a:pt x="14316" y="315742"/>
                </a:lnTo>
                <a:lnTo>
                  <a:pt x="4477" y="342825"/>
                </a:lnTo>
                <a:lnTo>
                  <a:pt x="648" y="373616"/>
                </a:lnTo>
                <a:lnTo>
                  <a:pt x="0" y="404848"/>
                </a:lnTo>
                <a:lnTo>
                  <a:pt x="1502" y="428901"/>
                </a:lnTo>
                <a:lnTo>
                  <a:pt x="6362" y="451101"/>
                </a:lnTo>
                <a:lnTo>
                  <a:pt x="15111" y="470652"/>
                </a:lnTo>
                <a:lnTo>
                  <a:pt x="28279" y="486761"/>
                </a:lnTo>
                <a:lnTo>
                  <a:pt x="25995" y="499472"/>
                </a:lnTo>
                <a:lnTo>
                  <a:pt x="25568" y="513595"/>
                </a:lnTo>
                <a:lnTo>
                  <a:pt x="26025" y="529130"/>
                </a:lnTo>
                <a:lnTo>
                  <a:pt x="26393" y="546077"/>
                </a:lnTo>
                <a:lnTo>
                  <a:pt x="36763" y="604099"/>
                </a:lnTo>
                <a:lnTo>
                  <a:pt x="75413" y="640230"/>
                </a:lnTo>
                <a:lnTo>
                  <a:pt x="115275" y="656700"/>
                </a:lnTo>
                <a:lnTo>
                  <a:pt x="156628" y="615348"/>
                </a:lnTo>
                <a:lnTo>
                  <a:pt x="76356" y="583738"/>
                </a:lnTo>
                <a:lnTo>
                  <a:pt x="76355" y="510299"/>
                </a:lnTo>
                <a:lnTo>
                  <a:pt x="222437" y="510299"/>
                </a:lnTo>
                <a:lnTo>
                  <a:pt x="50903" y="442509"/>
                </a:lnTo>
                <a:lnTo>
                  <a:pt x="50903" y="357772"/>
                </a:lnTo>
                <a:lnTo>
                  <a:pt x="245953" y="357772"/>
                </a:lnTo>
                <a:lnTo>
                  <a:pt x="79183" y="291865"/>
                </a:lnTo>
                <a:lnTo>
                  <a:pt x="79183" y="207128"/>
                </a:lnTo>
                <a:lnTo>
                  <a:pt x="564857" y="207128"/>
                </a:lnTo>
                <a:lnTo>
                  <a:pt x="690976" y="81012"/>
                </a:lnTo>
                <a:lnTo>
                  <a:pt x="471340" y="0"/>
                </a:lnTo>
                <a:close/>
              </a:path>
              <a:path w="691514" h="657225">
                <a:moveTo>
                  <a:pt x="222437" y="510299"/>
                </a:moveTo>
                <a:lnTo>
                  <a:pt x="76355" y="510299"/>
                </a:lnTo>
                <a:lnTo>
                  <a:pt x="207870" y="564107"/>
                </a:lnTo>
                <a:lnTo>
                  <a:pt x="250563" y="521415"/>
                </a:lnTo>
                <a:lnTo>
                  <a:pt x="222437" y="510299"/>
                </a:lnTo>
                <a:close/>
              </a:path>
              <a:path w="691514" h="657225">
                <a:moveTo>
                  <a:pt x="245953" y="357772"/>
                </a:moveTo>
                <a:lnTo>
                  <a:pt x="50903" y="357772"/>
                </a:lnTo>
                <a:lnTo>
                  <a:pt x="310757" y="461223"/>
                </a:lnTo>
                <a:lnTo>
                  <a:pt x="376548" y="395433"/>
                </a:lnTo>
                <a:lnTo>
                  <a:pt x="341250" y="395433"/>
                </a:lnTo>
                <a:lnTo>
                  <a:pt x="245953" y="357772"/>
                </a:lnTo>
                <a:close/>
              </a:path>
              <a:path w="691514" h="657225">
                <a:moveTo>
                  <a:pt x="401643" y="370338"/>
                </a:moveTo>
                <a:lnTo>
                  <a:pt x="341250" y="395433"/>
                </a:lnTo>
                <a:lnTo>
                  <a:pt x="376548" y="395433"/>
                </a:lnTo>
                <a:lnTo>
                  <a:pt x="401643" y="370338"/>
                </a:lnTo>
                <a:close/>
              </a:path>
              <a:path w="691514" h="657225">
                <a:moveTo>
                  <a:pt x="564857" y="207128"/>
                </a:moveTo>
                <a:lnTo>
                  <a:pt x="79183" y="207128"/>
                </a:lnTo>
                <a:lnTo>
                  <a:pt x="341250" y="309754"/>
                </a:lnTo>
                <a:lnTo>
                  <a:pt x="543902" y="228083"/>
                </a:lnTo>
                <a:lnTo>
                  <a:pt x="564857" y="207128"/>
                </a:lnTo>
                <a:close/>
              </a:path>
            </a:pathLst>
          </a:custGeom>
          <a:solidFill>
            <a:srgbClr val="51274D"/>
          </a:solidFill>
        </p:spPr>
        <p:txBody>
          <a:bodyPr wrap="square" lIns="0" tIns="0" rIns="0" bIns="0" rtlCol="0"/>
          <a:lstStyle/>
          <a:p>
            <a:endParaRPr sz="1050"/>
          </a:p>
        </p:txBody>
      </p:sp>
      <p:sp>
        <p:nvSpPr>
          <p:cNvPr id="24" name="object 24"/>
          <p:cNvSpPr/>
          <p:nvPr/>
        </p:nvSpPr>
        <p:spPr>
          <a:xfrm>
            <a:off x="2353284" y="4394825"/>
            <a:ext cx="565785" cy="558165"/>
          </a:xfrm>
          <a:custGeom>
            <a:avLst/>
            <a:gdLst/>
            <a:ahLst/>
            <a:cxnLst/>
            <a:rect l="l" t="t" r="r" b="b"/>
            <a:pathLst>
              <a:path w="754379" h="744220">
                <a:moveTo>
                  <a:pt x="348792" y="433095"/>
                </a:moveTo>
                <a:lnTo>
                  <a:pt x="292227" y="433095"/>
                </a:lnTo>
                <a:lnTo>
                  <a:pt x="292227" y="470763"/>
                </a:lnTo>
                <a:lnTo>
                  <a:pt x="348792" y="470763"/>
                </a:lnTo>
                <a:lnTo>
                  <a:pt x="348792" y="433095"/>
                </a:lnTo>
                <a:close/>
              </a:path>
              <a:path w="754379" h="744220">
                <a:moveTo>
                  <a:pt x="348792" y="150647"/>
                </a:moveTo>
                <a:lnTo>
                  <a:pt x="292227" y="150647"/>
                </a:lnTo>
                <a:lnTo>
                  <a:pt x="292227" y="188302"/>
                </a:lnTo>
                <a:lnTo>
                  <a:pt x="348792" y="188302"/>
                </a:lnTo>
                <a:lnTo>
                  <a:pt x="348792" y="150647"/>
                </a:lnTo>
                <a:close/>
              </a:path>
              <a:path w="754379" h="744220">
                <a:moveTo>
                  <a:pt x="452488" y="244792"/>
                </a:moveTo>
                <a:lnTo>
                  <a:pt x="292227" y="244792"/>
                </a:lnTo>
                <a:lnTo>
                  <a:pt x="292227" y="282460"/>
                </a:lnTo>
                <a:lnTo>
                  <a:pt x="452488" y="282460"/>
                </a:lnTo>
                <a:lnTo>
                  <a:pt x="452488" y="244792"/>
                </a:lnTo>
                <a:close/>
              </a:path>
              <a:path w="754379" h="744220">
                <a:moveTo>
                  <a:pt x="546760" y="433095"/>
                </a:moveTo>
                <a:lnTo>
                  <a:pt x="386499" y="433095"/>
                </a:lnTo>
                <a:lnTo>
                  <a:pt x="386499" y="470763"/>
                </a:lnTo>
                <a:lnTo>
                  <a:pt x="546760" y="470763"/>
                </a:lnTo>
                <a:lnTo>
                  <a:pt x="546760" y="433095"/>
                </a:lnTo>
                <a:close/>
              </a:path>
              <a:path w="754379" h="744220">
                <a:moveTo>
                  <a:pt x="546760" y="338950"/>
                </a:moveTo>
                <a:lnTo>
                  <a:pt x="292227" y="338950"/>
                </a:lnTo>
                <a:lnTo>
                  <a:pt x="292227" y="376605"/>
                </a:lnTo>
                <a:lnTo>
                  <a:pt x="546760" y="376605"/>
                </a:lnTo>
                <a:lnTo>
                  <a:pt x="546760" y="338950"/>
                </a:lnTo>
                <a:close/>
              </a:path>
              <a:path w="754379" h="744220">
                <a:moveTo>
                  <a:pt x="546760" y="244792"/>
                </a:moveTo>
                <a:lnTo>
                  <a:pt x="490194" y="244792"/>
                </a:lnTo>
                <a:lnTo>
                  <a:pt x="490194" y="282460"/>
                </a:lnTo>
                <a:lnTo>
                  <a:pt x="546760" y="282460"/>
                </a:lnTo>
                <a:lnTo>
                  <a:pt x="546760" y="244792"/>
                </a:lnTo>
                <a:close/>
              </a:path>
              <a:path w="754379" h="744220">
                <a:moveTo>
                  <a:pt x="546760" y="150647"/>
                </a:moveTo>
                <a:lnTo>
                  <a:pt x="386499" y="150647"/>
                </a:lnTo>
                <a:lnTo>
                  <a:pt x="386499" y="188302"/>
                </a:lnTo>
                <a:lnTo>
                  <a:pt x="546760" y="188302"/>
                </a:lnTo>
                <a:lnTo>
                  <a:pt x="546760" y="150647"/>
                </a:lnTo>
                <a:close/>
              </a:path>
              <a:path w="754379" h="744220">
                <a:moveTo>
                  <a:pt x="754202" y="649655"/>
                </a:moveTo>
                <a:lnTo>
                  <a:pt x="748639" y="617664"/>
                </a:lnTo>
                <a:lnTo>
                  <a:pt x="734733" y="593166"/>
                </a:lnTo>
                <a:lnTo>
                  <a:pt x="733005" y="590105"/>
                </a:lnTo>
                <a:lnTo>
                  <a:pt x="716432" y="575678"/>
                </a:lnTo>
                <a:lnTo>
                  <a:pt x="716432" y="649655"/>
                </a:lnTo>
                <a:lnTo>
                  <a:pt x="711987" y="671639"/>
                </a:lnTo>
                <a:lnTo>
                  <a:pt x="699871" y="689597"/>
                </a:lnTo>
                <a:lnTo>
                  <a:pt x="681901" y="701700"/>
                </a:lnTo>
                <a:lnTo>
                  <a:pt x="659879" y="706145"/>
                </a:lnTo>
                <a:lnTo>
                  <a:pt x="337058" y="706145"/>
                </a:lnTo>
                <a:lnTo>
                  <a:pt x="352069" y="679678"/>
                </a:lnTo>
                <a:lnTo>
                  <a:pt x="358089" y="650557"/>
                </a:lnTo>
                <a:lnTo>
                  <a:pt x="355015" y="620991"/>
                </a:lnTo>
                <a:lnTo>
                  <a:pt x="342798" y="593356"/>
                </a:lnTo>
                <a:lnTo>
                  <a:pt x="342709" y="593166"/>
                </a:lnTo>
                <a:lnTo>
                  <a:pt x="659879" y="593166"/>
                </a:lnTo>
                <a:lnTo>
                  <a:pt x="681901" y="597598"/>
                </a:lnTo>
                <a:lnTo>
                  <a:pt x="699871" y="609701"/>
                </a:lnTo>
                <a:lnTo>
                  <a:pt x="711987" y="627659"/>
                </a:lnTo>
                <a:lnTo>
                  <a:pt x="716432" y="649655"/>
                </a:lnTo>
                <a:lnTo>
                  <a:pt x="716432" y="575678"/>
                </a:lnTo>
                <a:lnTo>
                  <a:pt x="709091" y="569277"/>
                </a:lnTo>
                <a:lnTo>
                  <a:pt x="678738" y="557377"/>
                </a:lnTo>
                <a:lnTo>
                  <a:pt x="678738" y="299847"/>
                </a:lnTo>
                <a:lnTo>
                  <a:pt x="675728" y="294081"/>
                </a:lnTo>
                <a:lnTo>
                  <a:pt x="640359" y="269354"/>
                </a:lnTo>
                <a:lnTo>
                  <a:pt x="679500" y="222440"/>
                </a:lnTo>
                <a:lnTo>
                  <a:pt x="680173" y="213728"/>
                </a:lnTo>
                <a:lnTo>
                  <a:pt x="655307" y="172389"/>
                </a:lnTo>
                <a:lnTo>
                  <a:pt x="676719" y="150977"/>
                </a:lnTo>
                <a:lnTo>
                  <a:pt x="678713" y="146215"/>
                </a:lnTo>
                <a:lnTo>
                  <a:pt x="678738" y="98856"/>
                </a:lnTo>
                <a:lnTo>
                  <a:pt x="670928" y="60401"/>
                </a:lnTo>
                <a:lnTo>
                  <a:pt x="655574" y="37668"/>
                </a:lnTo>
                <a:lnTo>
                  <a:pt x="655307" y="37274"/>
                </a:lnTo>
                <a:lnTo>
                  <a:pt x="649706" y="28994"/>
                </a:lnTo>
                <a:lnTo>
                  <a:pt x="641032" y="23152"/>
                </a:lnTo>
                <a:lnTo>
                  <a:pt x="641032" y="98856"/>
                </a:lnTo>
                <a:lnTo>
                  <a:pt x="641032" y="133426"/>
                </a:lnTo>
                <a:lnTo>
                  <a:pt x="618274" y="156159"/>
                </a:lnTo>
                <a:lnTo>
                  <a:pt x="614629" y="161290"/>
                </a:lnTo>
                <a:lnTo>
                  <a:pt x="612889" y="167170"/>
                </a:lnTo>
                <a:lnTo>
                  <a:pt x="613143" y="173291"/>
                </a:lnTo>
                <a:lnTo>
                  <a:pt x="615442" y="179158"/>
                </a:lnTo>
                <a:lnTo>
                  <a:pt x="636828" y="214769"/>
                </a:lnTo>
                <a:lnTo>
                  <a:pt x="598258" y="260985"/>
                </a:lnTo>
                <a:lnTo>
                  <a:pt x="594702" y="267563"/>
                </a:lnTo>
                <a:lnTo>
                  <a:pt x="593966" y="274751"/>
                </a:lnTo>
                <a:lnTo>
                  <a:pt x="595985" y="281673"/>
                </a:lnTo>
                <a:lnTo>
                  <a:pt x="600671" y="287515"/>
                </a:lnTo>
                <a:lnTo>
                  <a:pt x="601510" y="288163"/>
                </a:lnTo>
                <a:lnTo>
                  <a:pt x="641032" y="315798"/>
                </a:lnTo>
                <a:lnTo>
                  <a:pt x="641032" y="555498"/>
                </a:lnTo>
                <a:lnTo>
                  <a:pt x="282803" y="555586"/>
                </a:lnTo>
                <a:lnTo>
                  <a:pt x="235623" y="571893"/>
                </a:lnTo>
                <a:lnTo>
                  <a:pt x="216814" y="613156"/>
                </a:lnTo>
                <a:lnTo>
                  <a:pt x="221043" y="634873"/>
                </a:lnTo>
                <a:lnTo>
                  <a:pt x="232867" y="652665"/>
                </a:lnTo>
                <a:lnTo>
                  <a:pt x="250520" y="664730"/>
                </a:lnTo>
                <a:lnTo>
                  <a:pt x="272199" y="669264"/>
                </a:lnTo>
                <a:lnTo>
                  <a:pt x="273380" y="669264"/>
                </a:lnTo>
                <a:lnTo>
                  <a:pt x="266230" y="630402"/>
                </a:lnTo>
                <a:lnTo>
                  <a:pt x="260299" y="626681"/>
                </a:lnTo>
                <a:lnTo>
                  <a:pt x="282536" y="593356"/>
                </a:lnTo>
                <a:lnTo>
                  <a:pt x="314629" y="619963"/>
                </a:lnTo>
                <a:lnTo>
                  <a:pt x="320509" y="645756"/>
                </a:lnTo>
                <a:lnTo>
                  <a:pt x="315556" y="669378"/>
                </a:lnTo>
                <a:lnTo>
                  <a:pt x="302374" y="688606"/>
                </a:lnTo>
                <a:lnTo>
                  <a:pt x="282956" y="701509"/>
                </a:lnTo>
                <a:lnTo>
                  <a:pt x="259245" y="706145"/>
                </a:lnTo>
                <a:lnTo>
                  <a:pt x="254520" y="706145"/>
                </a:lnTo>
                <a:lnTo>
                  <a:pt x="230695" y="701306"/>
                </a:lnTo>
                <a:lnTo>
                  <a:pt x="211226" y="688187"/>
                </a:lnTo>
                <a:lnTo>
                  <a:pt x="198094" y="668743"/>
                </a:lnTo>
                <a:lnTo>
                  <a:pt x="193255" y="644944"/>
                </a:lnTo>
                <a:lnTo>
                  <a:pt x="193255" y="525640"/>
                </a:lnTo>
                <a:lnTo>
                  <a:pt x="234861" y="484073"/>
                </a:lnTo>
                <a:lnTo>
                  <a:pt x="239001" y="477837"/>
                </a:lnTo>
                <a:lnTo>
                  <a:pt x="240385" y="470763"/>
                </a:lnTo>
                <a:lnTo>
                  <a:pt x="239001" y="463677"/>
                </a:lnTo>
                <a:lnTo>
                  <a:pt x="234861" y="457441"/>
                </a:lnTo>
                <a:lnTo>
                  <a:pt x="197967" y="420585"/>
                </a:lnTo>
                <a:lnTo>
                  <a:pt x="197967" y="188302"/>
                </a:lnTo>
                <a:lnTo>
                  <a:pt x="197967" y="150647"/>
                </a:lnTo>
                <a:lnTo>
                  <a:pt x="197891" y="98031"/>
                </a:lnTo>
                <a:lnTo>
                  <a:pt x="196596" y="82372"/>
                </a:lnTo>
                <a:lnTo>
                  <a:pt x="192506" y="66459"/>
                </a:lnTo>
                <a:lnTo>
                  <a:pt x="185826" y="51447"/>
                </a:lnTo>
                <a:lnTo>
                  <a:pt x="176669" y="37668"/>
                </a:lnTo>
                <a:lnTo>
                  <a:pt x="579755" y="37668"/>
                </a:lnTo>
                <a:lnTo>
                  <a:pt x="603592" y="42481"/>
                </a:lnTo>
                <a:lnTo>
                  <a:pt x="623062" y="55587"/>
                </a:lnTo>
                <a:lnTo>
                  <a:pt x="636193" y="75044"/>
                </a:lnTo>
                <a:lnTo>
                  <a:pt x="641032" y="98856"/>
                </a:lnTo>
                <a:lnTo>
                  <a:pt x="641032" y="23152"/>
                </a:lnTo>
                <a:lnTo>
                  <a:pt x="618261" y="7810"/>
                </a:lnTo>
                <a:lnTo>
                  <a:pt x="579755" y="0"/>
                </a:lnTo>
                <a:lnTo>
                  <a:pt x="160261" y="0"/>
                </a:lnTo>
                <a:lnTo>
                  <a:pt x="160261" y="98856"/>
                </a:lnTo>
                <a:lnTo>
                  <a:pt x="160261" y="150647"/>
                </a:lnTo>
                <a:lnTo>
                  <a:pt x="137350" y="150647"/>
                </a:lnTo>
                <a:lnTo>
                  <a:pt x="137426" y="150456"/>
                </a:lnTo>
                <a:lnTo>
                  <a:pt x="139992" y="144297"/>
                </a:lnTo>
                <a:lnTo>
                  <a:pt x="141274" y="137934"/>
                </a:lnTo>
                <a:lnTo>
                  <a:pt x="125349" y="91135"/>
                </a:lnTo>
                <a:lnTo>
                  <a:pt x="86029" y="74523"/>
                </a:lnTo>
                <a:lnTo>
                  <a:pt x="84836" y="74536"/>
                </a:lnTo>
                <a:lnTo>
                  <a:pt x="77508" y="76009"/>
                </a:lnTo>
                <a:lnTo>
                  <a:pt x="71513" y="80048"/>
                </a:lnTo>
                <a:lnTo>
                  <a:pt x="67475" y="86029"/>
                </a:lnTo>
                <a:lnTo>
                  <a:pt x="65989" y="93370"/>
                </a:lnTo>
                <a:lnTo>
                  <a:pt x="67475" y="100698"/>
                </a:lnTo>
                <a:lnTo>
                  <a:pt x="71513" y="106680"/>
                </a:lnTo>
                <a:lnTo>
                  <a:pt x="77508" y="110718"/>
                </a:lnTo>
                <a:lnTo>
                  <a:pt x="84836" y="112191"/>
                </a:lnTo>
                <a:lnTo>
                  <a:pt x="91998" y="113398"/>
                </a:lnTo>
                <a:lnTo>
                  <a:pt x="97917" y="117119"/>
                </a:lnTo>
                <a:lnTo>
                  <a:pt x="75692" y="150456"/>
                </a:lnTo>
                <a:lnTo>
                  <a:pt x="67538" y="148640"/>
                </a:lnTo>
                <a:lnTo>
                  <a:pt x="39217" y="111353"/>
                </a:lnTo>
                <a:lnTo>
                  <a:pt x="37706" y="98031"/>
                </a:lnTo>
                <a:lnTo>
                  <a:pt x="42684" y="74244"/>
                </a:lnTo>
                <a:lnTo>
                  <a:pt x="55943" y="54889"/>
                </a:lnTo>
                <a:lnTo>
                  <a:pt x="75514" y="41910"/>
                </a:lnTo>
                <a:lnTo>
                  <a:pt x="99390" y="37274"/>
                </a:lnTo>
                <a:lnTo>
                  <a:pt x="123215" y="42240"/>
                </a:lnTo>
                <a:lnTo>
                  <a:pt x="142595" y="55473"/>
                </a:lnTo>
                <a:lnTo>
                  <a:pt x="155600" y="75006"/>
                </a:lnTo>
                <a:lnTo>
                  <a:pt x="160261" y="98856"/>
                </a:lnTo>
                <a:lnTo>
                  <a:pt x="160261" y="0"/>
                </a:lnTo>
                <a:lnTo>
                  <a:pt x="98983" y="0"/>
                </a:lnTo>
                <a:lnTo>
                  <a:pt x="60604" y="7620"/>
                </a:lnTo>
                <a:lnTo>
                  <a:pt x="29197" y="28575"/>
                </a:lnTo>
                <a:lnTo>
                  <a:pt x="7937" y="59766"/>
                </a:lnTo>
                <a:lnTo>
                  <a:pt x="0" y="98031"/>
                </a:lnTo>
                <a:lnTo>
                  <a:pt x="2489" y="119964"/>
                </a:lnTo>
                <a:lnTo>
                  <a:pt x="21374" y="158953"/>
                </a:lnTo>
                <a:lnTo>
                  <a:pt x="57454" y="184937"/>
                </a:lnTo>
                <a:lnTo>
                  <a:pt x="78803" y="188379"/>
                </a:lnTo>
                <a:lnTo>
                  <a:pt x="160261" y="188328"/>
                </a:lnTo>
                <a:lnTo>
                  <a:pt x="160261" y="433387"/>
                </a:lnTo>
                <a:lnTo>
                  <a:pt x="162242" y="438162"/>
                </a:lnTo>
                <a:lnTo>
                  <a:pt x="194856" y="470763"/>
                </a:lnTo>
                <a:lnTo>
                  <a:pt x="157530" y="508050"/>
                </a:lnTo>
                <a:lnTo>
                  <a:pt x="155549" y="512838"/>
                </a:lnTo>
                <a:lnTo>
                  <a:pt x="155549" y="644944"/>
                </a:lnTo>
                <a:lnTo>
                  <a:pt x="163347" y="683399"/>
                </a:lnTo>
                <a:lnTo>
                  <a:pt x="184569" y="714819"/>
                </a:lnTo>
                <a:lnTo>
                  <a:pt x="216014" y="736003"/>
                </a:lnTo>
                <a:lnTo>
                  <a:pt x="254520" y="743800"/>
                </a:lnTo>
                <a:lnTo>
                  <a:pt x="659879" y="743800"/>
                </a:lnTo>
                <a:lnTo>
                  <a:pt x="696595" y="736434"/>
                </a:lnTo>
                <a:lnTo>
                  <a:pt x="726579" y="716292"/>
                </a:lnTo>
                <a:lnTo>
                  <a:pt x="733437" y="706145"/>
                </a:lnTo>
                <a:lnTo>
                  <a:pt x="746798" y="686384"/>
                </a:lnTo>
                <a:lnTo>
                  <a:pt x="754087" y="650430"/>
                </a:lnTo>
                <a:lnTo>
                  <a:pt x="754202" y="649655"/>
                </a:lnTo>
                <a:close/>
              </a:path>
            </a:pathLst>
          </a:custGeom>
          <a:solidFill>
            <a:srgbClr val="4D1F47"/>
          </a:solidFill>
        </p:spPr>
        <p:txBody>
          <a:bodyPr wrap="square" lIns="0" tIns="0" rIns="0" bIns="0" rtlCol="0"/>
          <a:lstStyle/>
          <a:p>
            <a:endParaRPr sz="1050"/>
          </a:p>
        </p:txBody>
      </p:sp>
      <p:sp>
        <p:nvSpPr>
          <p:cNvPr id="25" name="object 25"/>
          <p:cNvSpPr/>
          <p:nvPr/>
        </p:nvSpPr>
        <p:spPr>
          <a:xfrm>
            <a:off x="1611734" y="4794475"/>
            <a:ext cx="198120" cy="84773"/>
          </a:xfrm>
          <a:custGeom>
            <a:avLst/>
            <a:gdLst/>
            <a:ahLst/>
            <a:cxnLst/>
            <a:rect l="l" t="t" r="r" b="b"/>
            <a:pathLst>
              <a:path w="264160" h="113029">
                <a:moveTo>
                  <a:pt x="263956" y="75323"/>
                </a:moveTo>
                <a:lnTo>
                  <a:pt x="0" y="75323"/>
                </a:lnTo>
                <a:lnTo>
                  <a:pt x="0" y="112991"/>
                </a:lnTo>
                <a:lnTo>
                  <a:pt x="263956" y="112991"/>
                </a:lnTo>
                <a:lnTo>
                  <a:pt x="263956" y="75323"/>
                </a:lnTo>
                <a:close/>
              </a:path>
              <a:path w="264160" h="113029">
                <a:moveTo>
                  <a:pt x="263956" y="0"/>
                </a:moveTo>
                <a:lnTo>
                  <a:pt x="0" y="0"/>
                </a:lnTo>
                <a:lnTo>
                  <a:pt x="0" y="37668"/>
                </a:lnTo>
                <a:lnTo>
                  <a:pt x="263956" y="37668"/>
                </a:lnTo>
                <a:lnTo>
                  <a:pt x="263956" y="0"/>
                </a:lnTo>
                <a:close/>
              </a:path>
            </a:pathLst>
          </a:custGeom>
          <a:solidFill>
            <a:srgbClr val="B36BC3"/>
          </a:solidFill>
        </p:spPr>
        <p:txBody>
          <a:bodyPr wrap="square" lIns="0" tIns="0" rIns="0" bIns="0" rtlCol="0"/>
          <a:lstStyle/>
          <a:p>
            <a:endParaRPr sz="1050"/>
          </a:p>
        </p:txBody>
      </p:sp>
      <p:sp>
        <p:nvSpPr>
          <p:cNvPr id="26" name="object 26"/>
          <p:cNvSpPr/>
          <p:nvPr/>
        </p:nvSpPr>
        <p:spPr>
          <a:xfrm>
            <a:off x="1611290" y="4649713"/>
            <a:ext cx="396240" cy="78104"/>
          </a:xfrm>
          <a:custGeom>
            <a:avLst/>
            <a:gdLst/>
            <a:ahLst/>
            <a:cxnLst/>
            <a:rect l="l" t="t" r="r" b="b"/>
            <a:pathLst>
              <a:path w="528319" h="104139">
                <a:moveTo>
                  <a:pt x="264555" y="0"/>
                </a:moveTo>
                <a:lnTo>
                  <a:pt x="189035" y="3931"/>
                </a:lnTo>
                <a:lnTo>
                  <a:pt x="123288" y="13377"/>
                </a:lnTo>
                <a:lnTo>
                  <a:pt x="70981" y="24811"/>
                </a:lnTo>
                <a:lnTo>
                  <a:pt x="21342" y="39544"/>
                </a:lnTo>
                <a:lnTo>
                  <a:pt x="0" y="68143"/>
                </a:lnTo>
                <a:lnTo>
                  <a:pt x="1546" y="80971"/>
                </a:lnTo>
                <a:lnTo>
                  <a:pt x="8410" y="92549"/>
                </a:lnTo>
                <a:lnTo>
                  <a:pt x="18279" y="100154"/>
                </a:lnTo>
                <a:lnTo>
                  <a:pt x="29915" y="103347"/>
                </a:lnTo>
                <a:lnTo>
                  <a:pt x="42082" y="101684"/>
                </a:lnTo>
                <a:lnTo>
                  <a:pt x="85777" y="89091"/>
                </a:lnTo>
                <a:lnTo>
                  <a:pt x="133982" y="78500"/>
                </a:lnTo>
                <a:lnTo>
                  <a:pt x="194812" y="69627"/>
                </a:lnTo>
                <a:lnTo>
                  <a:pt x="264555" y="65906"/>
                </a:lnTo>
                <a:lnTo>
                  <a:pt x="334299" y="69627"/>
                </a:lnTo>
                <a:lnTo>
                  <a:pt x="395129" y="78500"/>
                </a:lnTo>
                <a:lnTo>
                  <a:pt x="443334" y="89091"/>
                </a:lnTo>
                <a:lnTo>
                  <a:pt x="493628" y="103567"/>
                </a:lnTo>
                <a:lnTo>
                  <a:pt x="507002" y="102023"/>
                </a:lnTo>
                <a:lnTo>
                  <a:pt x="515545" y="97565"/>
                </a:lnTo>
                <a:lnTo>
                  <a:pt x="522321" y="90460"/>
                </a:lnTo>
                <a:lnTo>
                  <a:pt x="526622" y="80971"/>
                </a:lnTo>
                <a:lnTo>
                  <a:pt x="528301" y="68143"/>
                </a:lnTo>
                <a:lnTo>
                  <a:pt x="525208" y="56020"/>
                </a:lnTo>
                <a:lnTo>
                  <a:pt x="457926" y="24811"/>
                </a:lnTo>
                <a:lnTo>
                  <a:pt x="405762" y="13377"/>
                </a:lnTo>
                <a:lnTo>
                  <a:pt x="340068" y="3931"/>
                </a:lnTo>
                <a:lnTo>
                  <a:pt x="264555" y="0"/>
                </a:lnTo>
                <a:close/>
              </a:path>
            </a:pathLst>
          </a:custGeom>
          <a:solidFill>
            <a:srgbClr val="B36BC3"/>
          </a:solidFill>
        </p:spPr>
        <p:txBody>
          <a:bodyPr wrap="square" lIns="0" tIns="0" rIns="0" bIns="0" rtlCol="0"/>
          <a:lstStyle/>
          <a:p>
            <a:endParaRPr sz="1050"/>
          </a:p>
        </p:txBody>
      </p:sp>
      <p:grpSp>
        <p:nvGrpSpPr>
          <p:cNvPr id="27" name="object 27"/>
          <p:cNvGrpSpPr/>
          <p:nvPr/>
        </p:nvGrpSpPr>
        <p:grpSpPr>
          <a:xfrm>
            <a:off x="1526900" y="4568330"/>
            <a:ext cx="565785" cy="396240"/>
            <a:chOff x="2035867" y="6091107"/>
            <a:chExt cx="754380" cy="528320"/>
          </a:xfrm>
        </p:grpSpPr>
        <p:sp>
          <p:nvSpPr>
            <p:cNvPr id="28" name="object 28"/>
            <p:cNvSpPr/>
            <p:nvPr/>
          </p:nvSpPr>
          <p:spPr>
            <a:xfrm>
              <a:off x="2035860" y="6091110"/>
              <a:ext cx="754380" cy="528320"/>
            </a:xfrm>
            <a:custGeom>
              <a:avLst/>
              <a:gdLst/>
              <a:ahLst/>
              <a:cxnLst/>
              <a:rect l="l" t="t" r="r" b="b"/>
              <a:pathLst>
                <a:path w="754380" h="528320">
                  <a:moveTo>
                    <a:pt x="754138" y="0"/>
                  </a:moveTo>
                  <a:lnTo>
                    <a:pt x="697585" y="0"/>
                  </a:lnTo>
                  <a:lnTo>
                    <a:pt x="697585" y="57111"/>
                  </a:lnTo>
                  <a:lnTo>
                    <a:pt x="697585" y="470877"/>
                  </a:lnTo>
                  <a:lnTo>
                    <a:pt x="56565" y="470877"/>
                  </a:lnTo>
                  <a:lnTo>
                    <a:pt x="56565" y="57111"/>
                  </a:lnTo>
                  <a:lnTo>
                    <a:pt x="697585" y="57111"/>
                  </a:lnTo>
                  <a:lnTo>
                    <a:pt x="697585" y="0"/>
                  </a:lnTo>
                  <a:lnTo>
                    <a:pt x="0" y="0"/>
                  </a:lnTo>
                  <a:lnTo>
                    <a:pt x="0" y="57111"/>
                  </a:lnTo>
                  <a:lnTo>
                    <a:pt x="0" y="470877"/>
                  </a:lnTo>
                  <a:lnTo>
                    <a:pt x="0" y="528002"/>
                  </a:lnTo>
                  <a:lnTo>
                    <a:pt x="754138" y="528002"/>
                  </a:lnTo>
                  <a:lnTo>
                    <a:pt x="754138" y="471004"/>
                  </a:lnTo>
                  <a:lnTo>
                    <a:pt x="754138" y="470877"/>
                  </a:lnTo>
                  <a:lnTo>
                    <a:pt x="754138" y="57111"/>
                  </a:lnTo>
                  <a:lnTo>
                    <a:pt x="754138" y="56730"/>
                  </a:lnTo>
                  <a:lnTo>
                    <a:pt x="754138" y="0"/>
                  </a:lnTo>
                  <a:close/>
                </a:path>
              </a:pathLst>
            </a:custGeom>
            <a:solidFill>
              <a:srgbClr val="B36BC3"/>
            </a:solidFill>
          </p:spPr>
          <p:txBody>
            <a:bodyPr wrap="square" lIns="0" tIns="0" rIns="0" bIns="0" rtlCol="0"/>
            <a:lstStyle/>
            <a:p>
              <a:endParaRPr sz="1050"/>
            </a:p>
          </p:txBody>
        </p:sp>
        <p:sp>
          <p:nvSpPr>
            <p:cNvPr id="29" name="object 29"/>
            <p:cNvSpPr/>
            <p:nvPr/>
          </p:nvSpPr>
          <p:spPr>
            <a:xfrm>
              <a:off x="2530777" y="6378507"/>
              <a:ext cx="146116" cy="145936"/>
            </a:xfrm>
            <a:prstGeom prst="rect">
              <a:avLst/>
            </a:prstGeom>
            <a:blipFill>
              <a:blip r:embed="rId11" cstate="print"/>
              <a:stretch>
                <a:fillRect/>
              </a:stretch>
            </a:blipFill>
          </p:spPr>
          <p:txBody>
            <a:bodyPr wrap="square" lIns="0" tIns="0" rIns="0" bIns="0" rtlCol="0"/>
            <a:lstStyle/>
            <a:p>
              <a:endParaRPr sz="1050"/>
            </a:p>
          </p:txBody>
        </p:sp>
      </p:grpSp>
      <p:sp>
        <p:nvSpPr>
          <p:cNvPr id="30" name="object 30"/>
          <p:cNvSpPr/>
          <p:nvPr/>
        </p:nvSpPr>
        <p:spPr>
          <a:xfrm>
            <a:off x="3061867" y="4391294"/>
            <a:ext cx="495300" cy="557213"/>
          </a:xfrm>
          <a:custGeom>
            <a:avLst/>
            <a:gdLst/>
            <a:ahLst/>
            <a:cxnLst/>
            <a:rect l="l" t="t" r="r" b="b"/>
            <a:pathLst>
              <a:path w="660400" h="742950">
                <a:moveTo>
                  <a:pt x="499623" y="686365"/>
                </a:moveTo>
                <a:lnTo>
                  <a:pt x="160256" y="686365"/>
                </a:lnTo>
                <a:lnTo>
                  <a:pt x="145615" y="689337"/>
                </a:lnTo>
                <a:lnTo>
                  <a:pt x="133625" y="697428"/>
                </a:lnTo>
                <a:lnTo>
                  <a:pt x="125524" y="709403"/>
                </a:lnTo>
                <a:lnTo>
                  <a:pt x="122549" y="724026"/>
                </a:lnTo>
                <a:lnTo>
                  <a:pt x="122549" y="742857"/>
                </a:lnTo>
                <a:lnTo>
                  <a:pt x="537330" y="742857"/>
                </a:lnTo>
                <a:lnTo>
                  <a:pt x="537330" y="724026"/>
                </a:lnTo>
                <a:lnTo>
                  <a:pt x="534355" y="709403"/>
                </a:lnTo>
                <a:lnTo>
                  <a:pt x="526254" y="697428"/>
                </a:lnTo>
                <a:lnTo>
                  <a:pt x="514264" y="689337"/>
                </a:lnTo>
                <a:lnTo>
                  <a:pt x="499623" y="686365"/>
                </a:lnTo>
                <a:close/>
              </a:path>
              <a:path w="660400" h="742950">
                <a:moveTo>
                  <a:pt x="414781" y="648704"/>
                </a:moveTo>
                <a:lnTo>
                  <a:pt x="245098" y="648704"/>
                </a:lnTo>
                <a:lnTo>
                  <a:pt x="230457" y="651676"/>
                </a:lnTo>
                <a:lnTo>
                  <a:pt x="218467" y="659767"/>
                </a:lnTo>
                <a:lnTo>
                  <a:pt x="210366" y="671742"/>
                </a:lnTo>
                <a:lnTo>
                  <a:pt x="207391" y="686365"/>
                </a:lnTo>
                <a:lnTo>
                  <a:pt x="452489" y="686365"/>
                </a:lnTo>
                <a:lnTo>
                  <a:pt x="449513" y="671742"/>
                </a:lnTo>
                <a:lnTo>
                  <a:pt x="441412" y="659767"/>
                </a:lnTo>
                <a:lnTo>
                  <a:pt x="429422" y="651676"/>
                </a:lnTo>
                <a:lnTo>
                  <a:pt x="414781" y="648704"/>
                </a:lnTo>
                <a:close/>
              </a:path>
              <a:path w="660400" h="742950">
                <a:moveTo>
                  <a:pt x="659871" y="65899"/>
                </a:moveTo>
                <a:lnTo>
                  <a:pt x="0" y="65899"/>
                </a:lnTo>
                <a:lnTo>
                  <a:pt x="48" y="263619"/>
                </a:lnTo>
                <a:lnTo>
                  <a:pt x="6716" y="310578"/>
                </a:lnTo>
                <a:lnTo>
                  <a:pt x="22668" y="350990"/>
                </a:lnTo>
                <a:lnTo>
                  <a:pt x="53733" y="394492"/>
                </a:lnTo>
                <a:lnTo>
                  <a:pt x="86485" y="424093"/>
                </a:lnTo>
                <a:lnTo>
                  <a:pt x="123672" y="447368"/>
                </a:lnTo>
                <a:lnTo>
                  <a:pt x="167013" y="464315"/>
                </a:lnTo>
                <a:lnTo>
                  <a:pt x="218228" y="474936"/>
                </a:lnTo>
                <a:lnTo>
                  <a:pt x="279035" y="479229"/>
                </a:lnTo>
                <a:lnTo>
                  <a:pt x="284676" y="490160"/>
                </a:lnTo>
                <a:lnTo>
                  <a:pt x="288815" y="501708"/>
                </a:lnTo>
                <a:lnTo>
                  <a:pt x="291363" y="513786"/>
                </a:lnTo>
                <a:lnTo>
                  <a:pt x="292232" y="526305"/>
                </a:lnTo>
                <a:lnTo>
                  <a:pt x="292232" y="648704"/>
                </a:lnTo>
                <a:lnTo>
                  <a:pt x="367647" y="648704"/>
                </a:lnTo>
                <a:lnTo>
                  <a:pt x="367712" y="526305"/>
                </a:lnTo>
                <a:lnTo>
                  <a:pt x="380845" y="480171"/>
                </a:lnTo>
                <a:lnTo>
                  <a:pt x="441652" y="475787"/>
                </a:lnTo>
                <a:lnTo>
                  <a:pt x="492866" y="464986"/>
                </a:lnTo>
                <a:lnTo>
                  <a:pt x="536207" y="447903"/>
                </a:lnTo>
                <a:lnTo>
                  <a:pt x="573394" y="424673"/>
                </a:lnTo>
                <a:lnTo>
                  <a:pt x="577671" y="420854"/>
                </a:lnTo>
                <a:lnTo>
                  <a:pt x="432692" y="420854"/>
                </a:lnTo>
                <a:lnTo>
                  <a:pt x="433662" y="419913"/>
                </a:lnTo>
                <a:lnTo>
                  <a:pt x="226244" y="419913"/>
                </a:lnTo>
                <a:lnTo>
                  <a:pt x="182586" y="411660"/>
                </a:lnTo>
                <a:lnTo>
                  <a:pt x="120722" y="380325"/>
                </a:lnTo>
                <a:lnTo>
                  <a:pt x="72469" y="325892"/>
                </a:lnTo>
                <a:lnTo>
                  <a:pt x="56914" y="275550"/>
                </a:lnTo>
                <a:lnTo>
                  <a:pt x="56561" y="122390"/>
                </a:lnTo>
                <a:lnTo>
                  <a:pt x="659871" y="122390"/>
                </a:lnTo>
                <a:lnTo>
                  <a:pt x="659871" y="65899"/>
                </a:lnTo>
                <a:close/>
              </a:path>
              <a:path w="660400" h="742950">
                <a:moveTo>
                  <a:pt x="659871" y="123332"/>
                </a:moveTo>
                <a:lnTo>
                  <a:pt x="602376" y="123332"/>
                </a:lnTo>
                <a:lnTo>
                  <a:pt x="602454" y="269901"/>
                </a:lnTo>
                <a:lnTo>
                  <a:pt x="602582" y="275550"/>
                </a:lnTo>
                <a:lnTo>
                  <a:pt x="599076" y="296926"/>
                </a:lnTo>
                <a:lnTo>
                  <a:pt x="564668" y="357772"/>
                </a:lnTo>
                <a:lnTo>
                  <a:pt x="511760" y="399199"/>
                </a:lnTo>
                <a:lnTo>
                  <a:pt x="432692" y="420854"/>
                </a:lnTo>
                <a:lnTo>
                  <a:pt x="577671" y="420854"/>
                </a:lnTo>
                <a:lnTo>
                  <a:pt x="606146" y="395433"/>
                </a:lnTo>
                <a:lnTo>
                  <a:pt x="637206" y="352329"/>
                </a:lnTo>
                <a:lnTo>
                  <a:pt x="653156" y="311873"/>
                </a:lnTo>
                <a:lnTo>
                  <a:pt x="659872" y="263619"/>
                </a:lnTo>
                <a:lnTo>
                  <a:pt x="659871" y="123332"/>
                </a:lnTo>
                <a:close/>
              </a:path>
              <a:path w="660400" h="742950">
                <a:moveTo>
                  <a:pt x="659871" y="122390"/>
                </a:moveTo>
                <a:lnTo>
                  <a:pt x="122549" y="122390"/>
                </a:lnTo>
                <a:lnTo>
                  <a:pt x="122616" y="245730"/>
                </a:lnTo>
                <a:lnTo>
                  <a:pt x="129265" y="291983"/>
                </a:lnTo>
                <a:lnTo>
                  <a:pt x="148001" y="334234"/>
                </a:lnTo>
                <a:lnTo>
                  <a:pt x="183956" y="378074"/>
                </a:lnTo>
                <a:lnTo>
                  <a:pt x="226244" y="419913"/>
                </a:lnTo>
                <a:lnTo>
                  <a:pt x="433662" y="419913"/>
                </a:lnTo>
                <a:lnTo>
                  <a:pt x="446567" y="407379"/>
                </a:lnTo>
                <a:lnTo>
                  <a:pt x="460973" y="393550"/>
                </a:lnTo>
                <a:lnTo>
                  <a:pt x="489253" y="363421"/>
                </a:lnTo>
                <a:lnTo>
                  <a:pt x="521673" y="314712"/>
                </a:lnTo>
                <a:lnTo>
                  <a:pt x="534664" y="269901"/>
                </a:lnTo>
                <a:lnTo>
                  <a:pt x="536388" y="245730"/>
                </a:lnTo>
                <a:lnTo>
                  <a:pt x="536388" y="123332"/>
                </a:lnTo>
                <a:lnTo>
                  <a:pt x="659871" y="123332"/>
                </a:lnTo>
                <a:lnTo>
                  <a:pt x="659871" y="122390"/>
                </a:lnTo>
                <a:close/>
              </a:path>
              <a:path w="660400" h="742950">
                <a:moveTo>
                  <a:pt x="537330" y="0"/>
                </a:moveTo>
                <a:lnTo>
                  <a:pt x="122549" y="0"/>
                </a:lnTo>
                <a:lnTo>
                  <a:pt x="122549" y="65899"/>
                </a:lnTo>
                <a:lnTo>
                  <a:pt x="537330" y="65899"/>
                </a:lnTo>
                <a:lnTo>
                  <a:pt x="537330" y="0"/>
                </a:lnTo>
                <a:close/>
              </a:path>
            </a:pathLst>
          </a:custGeom>
          <a:solidFill>
            <a:srgbClr val="8A4B97"/>
          </a:solidFill>
        </p:spPr>
        <p:txBody>
          <a:bodyPr wrap="square" lIns="0" tIns="0" rIns="0" bIns="0" rtlCol="0"/>
          <a:lstStyle/>
          <a:p>
            <a:endParaRPr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4"/>
          <p:cNvSpPr txBox="1">
            <a:spLocks noGrp="1"/>
          </p:cNvSpPr>
          <p:nvPr>
            <p:ph type="ctrTitle"/>
          </p:nvPr>
        </p:nvSpPr>
        <p:spPr>
          <a:xfrm>
            <a:off x="279457" y="929715"/>
            <a:ext cx="8585085" cy="1292631"/>
          </a:xfrm>
          <a:prstGeom prst="rect">
            <a:avLst/>
          </a:prstGeom>
        </p:spPr>
        <p:txBody>
          <a:bodyPr spcFirstLastPara="1" wrap="square" lIns="91425" tIns="91425" rIns="91425" bIns="91425" anchor="b" anchorCtr="0">
            <a:spAutoFit/>
          </a:bodyPr>
          <a:lstStyle/>
          <a:p>
            <a:pPr algn="ctr"/>
            <a:r>
              <a:rPr lang="en-US" sz="3600" dirty="0">
                <a:solidFill>
                  <a:srgbClr val="7030A0"/>
                </a:solidFill>
                <a:latin typeface="Lora" pitchFamily="2" charset="0"/>
              </a:rPr>
              <a:t>Dynamic Hand Gesture Detection using</a:t>
            </a:r>
            <a:r>
              <a:rPr lang="en-US" sz="3600" b="0" i="0" dirty="0">
                <a:solidFill>
                  <a:srgbClr val="7030A0"/>
                </a:solidFill>
                <a:effectLst/>
                <a:latin typeface="Lora" pitchFamily="2" charset="0"/>
              </a:rPr>
              <a:t> EMG Signals</a:t>
            </a:r>
            <a:endParaRPr lang="en-IN" sz="3600" dirty="0">
              <a:solidFill>
                <a:srgbClr val="7030A0"/>
              </a:solidFill>
              <a:latin typeface="Janna LT" panose="01000000000000000000" pitchFamily="2" charset="-78"/>
              <a:cs typeface="Janna LT" panose="01000000000000000000" pitchFamily="2" charset="-78"/>
            </a:endParaRPr>
          </a:p>
        </p:txBody>
      </p:sp>
      <p:sp>
        <p:nvSpPr>
          <p:cNvPr id="246" name="Google Shape;246;p34"/>
          <p:cNvSpPr txBox="1">
            <a:spLocks noGrp="1"/>
          </p:cNvSpPr>
          <p:nvPr>
            <p:ph type="subTitle" idx="1"/>
          </p:nvPr>
        </p:nvSpPr>
        <p:spPr>
          <a:xfrm>
            <a:off x="2305950" y="2571750"/>
            <a:ext cx="4532100" cy="1954351"/>
          </a:xfrm>
          <a:prstGeom prst="rect">
            <a:avLst/>
          </a:prstGeom>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000" b="1" dirty="0">
                <a:solidFill>
                  <a:srgbClr val="8C549B"/>
                </a:solidFill>
                <a:latin typeface="Lora"/>
                <a:ea typeface="Lora"/>
                <a:cs typeface="Lora"/>
                <a:sym typeface="Lora"/>
              </a:rPr>
              <a:t>Mentees: </a:t>
            </a:r>
          </a:p>
          <a:p>
            <a:pPr marL="0" lvl="0" indent="0" algn="ctr" rtl="0">
              <a:lnSpc>
                <a:spcPct val="115000"/>
              </a:lnSpc>
              <a:spcBef>
                <a:spcPts val="0"/>
              </a:spcBef>
              <a:spcAft>
                <a:spcPts val="0"/>
              </a:spcAft>
              <a:buNone/>
            </a:pPr>
            <a:r>
              <a:rPr lang="en" sz="2000" dirty="0">
                <a:solidFill>
                  <a:srgbClr val="8C549B"/>
                </a:solidFill>
                <a:latin typeface="Lora"/>
                <a:ea typeface="Lora"/>
                <a:cs typeface="Lora"/>
                <a:sym typeface="Lora"/>
              </a:rPr>
              <a:t>Rahul Basu</a:t>
            </a:r>
          </a:p>
          <a:p>
            <a:pPr marL="0" lvl="0" indent="0" algn="ctr" rtl="0">
              <a:lnSpc>
                <a:spcPct val="115000"/>
              </a:lnSpc>
              <a:spcBef>
                <a:spcPts val="0"/>
              </a:spcBef>
              <a:spcAft>
                <a:spcPts val="0"/>
              </a:spcAft>
              <a:buNone/>
            </a:pPr>
            <a:r>
              <a:rPr lang="en" sz="2000" dirty="0">
                <a:solidFill>
                  <a:srgbClr val="8C549B"/>
                </a:solidFill>
                <a:latin typeface="Lora"/>
                <a:ea typeface="Lora"/>
                <a:cs typeface="Lora"/>
                <a:sym typeface="Lora"/>
              </a:rPr>
              <a:t>Sumukha S Shetty</a:t>
            </a:r>
          </a:p>
          <a:p>
            <a:pPr marL="0" lvl="0" indent="0" algn="ctr" rtl="0">
              <a:lnSpc>
                <a:spcPct val="115000"/>
              </a:lnSpc>
              <a:spcBef>
                <a:spcPts val="0"/>
              </a:spcBef>
              <a:spcAft>
                <a:spcPts val="0"/>
              </a:spcAft>
              <a:buNone/>
            </a:pPr>
            <a:r>
              <a:rPr lang="en" sz="2000" dirty="0">
                <a:solidFill>
                  <a:srgbClr val="8C549B"/>
                </a:solidFill>
                <a:latin typeface="Lora"/>
                <a:ea typeface="Lora"/>
                <a:cs typeface="Lora"/>
                <a:sym typeface="Lora"/>
              </a:rPr>
              <a:t>Srinidhi </a:t>
            </a:r>
          </a:p>
          <a:p>
            <a:pPr marL="0" indent="0">
              <a:lnSpc>
                <a:spcPct val="115000"/>
              </a:lnSpc>
            </a:pPr>
            <a:r>
              <a:rPr lang="en" sz="2000" b="1" dirty="0">
                <a:solidFill>
                  <a:srgbClr val="8C549B"/>
                </a:solidFill>
                <a:latin typeface="Lora"/>
                <a:ea typeface="Lora"/>
                <a:cs typeface="Lora"/>
                <a:sym typeface="Lora"/>
              </a:rPr>
              <a:t>Mentor: Rajashri</a:t>
            </a:r>
            <a:endParaRPr lang="en" sz="2000" dirty="0">
              <a:solidFill>
                <a:srgbClr val="8C549B"/>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5"/>
          <p:cNvSpPr txBox="1">
            <a:spLocks noGrp="1"/>
          </p:cNvSpPr>
          <p:nvPr>
            <p:ph type="title"/>
          </p:nvPr>
        </p:nvSpPr>
        <p:spPr>
          <a:xfrm>
            <a:off x="1643063" y="2855700"/>
            <a:ext cx="5894287"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8C549B"/>
                </a:solidFill>
                <a:latin typeface="Playfair Display Medium"/>
                <a:ea typeface="Playfair Display Medium"/>
                <a:cs typeface="Playfair Display Medium"/>
                <a:sym typeface="Playfair Display Medium"/>
              </a:rPr>
              <a:t>Objectives and Introduction</a:t>
            </a:r>
            <a:endParaRPr dirty="0">
              <a:solidFill>
                <a:srgbClr val="8C549B"/>
              </a:solidFill>
              <a:latin typeface="Playfair Display Medium"/>
              <a:ea typeface="Playfair Display Medium"/>
              <a:cs typeface="Playfair Display Medium"/>
              <a:sym typeface="Playfair Display Medium"/>
            </a:endParaRPr>
          </a:p>
        </p:txBody>
      </p:sp>
      <p:sp>
        <p:nvSpPr>
          <p:cNvPr id="252" name="Google Shape;252;p35"/>
          <p:cNvSpPr txBox="1">
            <a:spLocks noGrp="1"/>
          </p:cNvSpPr>
          <p:nvPr>
            <p:ph type="title" idx="2"/>
          </p:nvPr>
        </p:nvSpPr>
        <p:spPr>
          <a:xfrm>
            <a:off x="3746550" y="1268525"/>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6"/>
          <p:cNvSpPr txBox="1">
            <a:spLocks noGrp="1"/>
          </p:cNvSpPr>
          <p:nvPr>
            <p:ph type="subTitle" idx="1"/>
          </p:nvPr>
        </p:nvSpPr>
        <p:spPr>
          <a:xfrm>
            <a:off x="670350" y="727894"/>
            <a:ext cx="7803300" cy="4524285"/>
          </a:xfrm>
          <a:prstGeom prst="rect">
            <a:avLst/>
          </a:prstGeom>
        </p:spPr>
        <p:txBody>
          <a:bodyPr spcFirstLastPara="1" wrap="square" lIns="91425" tIns="91425" rIns="91425" bIns="91425" anchor="t" anchorCtr="0">
            <a:spAutoFit/>
          </a:bodyPr>
          <a:lstStyle/>
          <a:p>
            <a:pPr marL="285750" lvl="0" indent="-285750" algn="ctr" rtl="0">
              <a:lnSpc>
                <a:spcPct val="150000"/>
              </a:lnSpc>
              <a:spcBef>
                <a:spcPts val="0"/>
              </a:spcBef>
              <a:spcAft>
                <a:spcPts val="1200"/>
              </a:spcAft>
              <a:buFont typeface="Arial" panose="020B0604020202020204" pitchFamily="34" charset="0"/>
              <a:buChar char="•"/>
            </a:pPr>
            <a:r>
              <a:rPr lang="en-US" sz="1400" dirty="0">
                <a:solidFill>
                  <a:srgbClr val="4D294B"/>
                </a:solidFill>
                <a:latin typeface="Lora"/>
                <a:ea typeface="Lora"/>
                <a:cs typeface="Lora"/>
                <a:sym typeface="Lora"/>
              </a:rPr>
              <a:t>The proposed project aims to develop a real-time  visualization system for Electromyography (EMG) signals, to provide detailed insights into muscle activity. Electromyography is a technique used to record and analyze the electrical activity produced by muscles  during contraction and relaxation. Real time visualization of EMG signals plays a crucial role in various fields such as sports science, rehabilitation and biomechanics.</a:t>
            </a:r>
          </a:p>
          <a:p>
            <a:pPr marL="285750" lvl="0" indent="-285750" algn="ctr" rtl="0">
              <a:lnSpc>
                <a:spcPct val="150000"/>
              </a:lnSpc>
              <a:spcBef>
                <a:spcPts val="0"/>
              </a:spcBef>
              <a:spcAft>
                <a:spcPts val="1200"/>
              </a:spcAft>
              <a:buFont typeface="Arial" panose="020B0604020202020204" pitchFamily="34" charset="0"/>
              <a:buChar char="•"/>
            </a:pPr>
            <a:r>
              <a:rPr lang="en-US" sz="1400" dirty="0">
                <a:solidFill>
                  <a:srgbClr val="4D294B"/>
                </a:solidFill>
                <a:latin typeface="Lora"/>
              </a:rPr>
              <a:t>According to a survey by the World Health Organization, the estimated number of amputees in the developing world is 40 million. In India, as per the 2011 census, the population of persons with disabilities was approximately 2.68 crore, which accounts for 2.22% of the total population. Amputation is a major cause of disability in India, but only a small percentage (around 5%) have access to prosthetic devices</a:t>
            </a:r>
            <a:r>
              <a:rPr lang="en-US" sz="1400" dirty="0">
                <a:solidFill>
                  <a:srgbClr val="4D294B"/>
                </a:solidFill>
                <a:latin typeface="Lora"/>
                <a:sym typeface="Lora"/>
              </a:rPr>
              <a:t>.</a:t>
            </a:r>
          </a:p>
          <a:p>
            <a:pPr marL="285750" lvl="0" indent="-285750" algn="ctr" rtl="0">
              <a:lnSpc>
                <a:spcPct val="150000"/>
              </a:lnSpc>
              <a:spcBef>
                <a:spcPts val="0"/>
              </a:spcBef>
              <a:spcAft>
                <a:spcPts val="1200"/>
              </a:spcAft>
              <a:buFont typeface="Arial" panose="020B0604020202020204" pitchFamily="34" charset="0"/>
              <a:buChar char="•"/>
            </a:pPr>
            <a:endParaRPr lang="en-US" sz="1400" dirty="0">
              <a:solidFill>
                <a:srgbClr val="4D294B"/>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8E6D-4AAE-5350-3E52-00E3DB25433E}"/>
              </a:ext>
            </a:extLst>
          </p:cNvPr>
          <p:cNvSpPr>
            <a:spLocks noGrp="1"/>
          </p:cNvSpPr>
          <p:nvPr>
            <p:ph type="title"/>
          </p:nvPr>
        </p:nvSpPr>
        <p:spPr/>
        <p:txBody>
          <a:bodyPr/>
          <a:lstStyle/>
          <a:p>
            <a:r>
              <a:rPr lang="en-IN" dirty="0">
                <a:latin typeface="Lora" pitchFamily="2" charset="0"/>
              </a:rPr>
              <a:t>Motivation</a:t>
            </a:r>
          </a:p>
        </p:txBody>
      </p:sp>
      <p:sp>
        <p:nvSpPr>
          <p:cNvPr id="3" name="Text Placeholder 2">
            <a:extLst>
              <a:ext uri="{FF2B5EF4-FFF2-40B4-BE49-F238E27FC236}">
                <a16:creationId xmlns:a16="http://schemas.microsoft.com/office/drawing/2014/main" id="{2F39C352-3A9B-40B6-3136-9642802114B0}"/>
              </a:ext>
            </a:extLst>
          </p:cNvPr>
          <p:cNvSpPr>
            <a:spLocks noGrp="1"/>
          </p:cNvSpPr>
          <p:nvPr>
            <p:ph type="body" idx="1"/>
          </p:nvPr>
        </p:nvSpPr>
        <p:spPr/>
        <p:txBody>
          <a:bodyPr/>
          <a:lstStyle/>
          <a:p>
            <a:pPr marL="114300" indent="0" algn="ctr">
              <a:buNone/>
            </a:pPr>
            <a:r>
              <a:rPr lang="en-IN" sz="1400" dirty="0">
                <a:solidFill>
                  <a:srgbClr val="4D294B"/>
                </a:solidFill>
                <a:latin typeface="Lora"/>
              </a:rPr>
              <a:t>Sophisticated and expensive advanced prosthetic devices even if available, can not be bought by   the common man due to different social and economical issues.</a:t>
            </a:r>
          </a:p>
          <a:p>
            <a:pPr marL="114300" indent="0" algn="ctr">
              <a:buNone/>
            </a:pPr>
            <a:r>
              <a:rPr lang="en-IN" sz="1400" dirty="0">
                <a:solidFill>
                  <a:srgbClr val="4D294B"/>
                </a:solidFill>
                <a:latin typeface="Lora"/>
              </a:rPr>
              <a:t> In light of that, our goal is to get to know how this circuits are implemented and find cost-effective methods. The current project focuses on collection, analysis and classification of EMG signals which in turn can be used as input for advanced Prosthetic devices.</a:t>
            </a:r>
          </a:p>
          <a:p>
            <a:pPr marL="114300" indent="0" algn="ctr">
              <a:buNone/>
            </a:pPr>
            <a:r>
              <a:rPr lang="en-IN" sz="1400" dirty="0">
                <a:solidFill>
                  <a:srgbClr val="4D294B"/>
                </a:solidFill>
                <a:latin typeface="Lora"/>
              </a:rPr>
              <a:t>With very simple equipment and ideas, the project has been initiated. Results may not be convincing right now, but the experience accumulated will further the chances to meet the goal set. With this we next define the objectives of the project</a:t>
            </a:r>
          </a:p>
        </p:txBody>
      </p:sp>
    </p:spTree>
    <p:extLst>
      <p:ext uri="{BB962C8B-B14F-4D97-AF65-F5344CB8AC3E}">
        <p14:creationId xmlns:p14="http://schemas.microsoft.com/office/powerpoint/2010/main" val="415538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04C851-7C78-91B5-8DC9-9C306E804BDB}"/>
              </a:ext>
            </a:extLst>
          </p:cNvPr>
          <p:cNvSpPr txBox="1"/>
          <p:nvPr/>
        </p:nvSpPr>
        <p:spPr>
          <a:xfrm>
            <a:off x="764381" y="601210"/>
            <a:ext cx="7615237" cy="3941079"/>
          </a:xfrm>
          <a:prstGeom prst="rect">
            <a:avLst/>
          </a:prstGeom>
          <a:noFill/>
        </p:spPr>
        <p:txBody>
          <a:bodyPr wrap="square">
            <a:spAutoFit/>
          </a:bodyPr>
          <a:lstStyle/>
          <a:p>
            <a:pPr marL="285750" lvl="0" indent="-285750" algn="ctr" rtl="0">
              <a:lnSpc>
                <a:spcPct val="150000"/>
              </a:lnSpc>
              <a:spcBef>
                <a:spcPts val="0"/>
              </a:spcBef>
              <a:spcAft>
                <a:spcPts val="1200"/>
              </a:spcAft>
              <a:buFont typeface="Arial" panose="020B0604020202020204" pitchFamily="34" charset="0"/>
              <a:buChar char="•"/>
            </a:pPr>
            <a:r>
              <a:rPr lang="en-US" sz="1800" dirty="0">
                <a:solidFill>
                  <a:srgbClr val="4D294B"/>
                </a:solidFill>
                <a:latin typeface="Lora"/>
                <a:ea typeface="Lora"/>
                <a:cs typeface="Lora"/>
                <a:sym typeface="Lora"/>
              </a:rPr>
              <a:t>The main aim of this project is to collect signal from a subject with well functioning limbs, process the signals and use these signals for people with an absence in any of their limbs by using these signals to make a prosthetic arm which duplicates the functions of regular limb. </a:t>
            </a:r>
          </a:p>
          <a:p>
            <a:pPr marL="285750" lvl="0" indent="-285750" algn="ctr" rtl="0">
              <a:lnSpc>
                <a:spcPct val="150000"/>
              </a:lnSpc>
              <a:spcBef>
                <a:spcPts val="0"/>
              </a:spcBef>
              <a:spcAft>
                <a:spcPts val="1200"/>
              </a:spcAft>
              <a:buFont typeface="Arial" panose="020B0604020202020204" pitchFamily="34" charset="0"/>
              <a:buChar char="•"/>
            </a:pPr>
            <a:r>
              <a:rPr lang="en-US" sz="1800" dirty="0">
                <a:solidFill>
                  <a:srgbClr val="4D294B"/>
                </a:solidFill>
                <a:latin typeface="Lora"/>
                <a:ea typeface="Lora"/>
                <a:cs typeface="Lora"/>
                <a:sym typeface="Lora"/>
              </a:rPr>
              <a:t>The goal is to implement a robust system for the acquisition of EMG signals using appropriate sensors and hardware and apply signal processing algorithms to filter and preprocess EMG data, ensuring accuracy and </a:t>
            </a:r>
            <a:r>
              <a:rPr lang="en-US" sz="1800" dirty="0" err="1">
                <a:solidFill>
                  <a:srgbClr val="4D294B"/>
                </a:solidFill>
                <a:latin typeface="Lora"/>
                <a:ea typeface="Lora"/>
                <a:cs typeface="Lora"/>
                <a:sym typeface="Lora"/>
              </a:rPr>
              <a:t>reliabilty</a:t>
            </a:r>
            <a:r>
              <a:rPr lang="en-US" sz="1800" dirty="0">
                <a:solidFill>
                  <a:srgbClr val="4D294B"/>
                </a:solidFill>
                <a:latin typeface="Lora"/>
                <a:ea typeface="Lora"/>
                <a:cs typeface="Lora"/>
                <a:sym typeface="Lora"/>
              </a:rPr>
              <a:t> in real time.</a:t>
            </a:r>
          </a:p>
        </p:txBody>
      </p:sp>
    </p:spTree>
    <p:extLst>
      <p:ext uri="{BB962C8B-B14F-4D97-AF65-F5344CB8AC3E}">
        <p14:creationId xmlns:p14="http://schemas.microsoft.com/office/powerpoint/2010/main" val="2610628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048E91-A8B8-BC98-EFF7-D0469286965C}"/>
              </a:ext>
            </a:extLst>
          </p:cNvPr>
          <p:cNvSpPr txBox="1"/>
          <p:nvPr/>
        </p:nvSpPr>
        <p:spPr>
          <a:xfrm>
            <a:off x="1520726" y="954704"/>
            <a:ext cx="6102547" cy="2585323"/>
          </a:xfrm>
          <a:prstGeom prst="rect">
            <a:avLst/>
          </a:prstGeom>
          <a:noFill/>
        </p:spPr>
        <p:txBody>
          <a:bodyPr wrap="square">
            <a:spAutoFit/>
          </a:bodyPr>
          <a:lstStyle/>
          <a:p>
            <a:pPr algn="l"/>
            <a:r>
              <a:rPr lang="en-US" sz="1800" b="0" i="0" dirty="0">
                <a:solidFill>
                  <a:srgbClr val="1F2328"/>
                </a:solidFill>
                <a:effectLst/>
                <a:latin typeface="Lora" pitchFamily="2" charset="0"/>
              </a:rPr>
              <a:t>Objectives:</a:t>
            </a:r>
          </a:p>
          <a:p>
            <a:pPr algn="l">
              <a:buFont typeface="+mj-lt"/>
              <a:buAutoNum type="arabicPeriod"/>
            </a:pPr>
            <a:endParaRPr lang="en-US" sz="1800" dirty="0">
              <a:solidFill>
                <a:srgbClr val="1F2328"/>
              </a:solidFill>
              <a:latin typeface="Lora" pitchFamily="2" charset="0"/>
            </a:endParaRPr>
          </a:p>
          <a:p>
            <a:pPr>
              <a:buFont typeface="+mj-lt"/>
              <a:buAutoNum type="arabicPeriod"/>
            </a:pPr>
            <a:r>
              <a:rPr lang="en-US" sz="1800" dirty="0">
                <a:solidFill>
                  <a:srgbClr val="1F2328"/>
                </a:solidFill>
                <a:latin typeface="Lora" pitchFamily="2" charset="0"/>
              </a:rPr>
              <a:t>Implementing the system setup</a:t>
            </a:r>
          </a:p>
          <a:p>
            <a:pPr algn="l">
              <a:buFont typeface="+mj-lt"/>
              <a:buAutoNum type="arabicPeriod"/>
            </a:pPr>
            <a:endParaRPr lang="en-US" sz="1800" b="0" i="0" dirty="0">
              <a:solidFill>
                <a:srgbClr val="1F2328"/>
              </a:solidFill>
              <a:effectLst/>
              <a:latin typeface="Lora" pitchFamily="2" charset="0"/>
            </a:endParaRPr>
          </a:p>
          <a:p>
            <a:pPr algn="l">
              <a:buFont typeface="+mj-lt"/>
              <a:buAutoNum type="arabicPeriod"/>
            </a:pPr>
            <a:r>
              <a:rPr lang="en-US" sz="1800" dirty="0">
                <a:solidFill>
                  <a:srgbClr val="1F2328"/>
                </a:solidFill>
                <a:latin typeface="Lora" pitchFamily="2" charset="0"/>
              </a:rPr>
              <a:t> Data collection and pre-processing</a:t>
            </a:r>
            <a:endParaRPr lang="en-US" sz="1800" b="0" i="0" dirty="0">
              <a:solidFill>
                <a:srgbClr val="1F2328"/>
              </a:solidFill>
              <a:effectLst/>
              <a:latin typeface="Lora" pitchFamily="2" charset="0"/>
            </a:endParaRPr>
          </a:p>
          <a:p>
            <a:pPr algn="l">
              <a:buFont typeface="+mj-lt"/>
              <a:buAutoNum type="arabicPeriod"/>
            </a:pPr>
            <a:endParaRPr lang="en-US" sz="1800" b="0" i="0" dirty="0">
              <a:solidFill>
                <a:srgbClr val="1F2328"/>
              </a:solidFill>
              <a:effectLst/>
              <a:latin typeface="Lora" pitchFamily="2" charset="0"/>
            </a:endParaRPr>
          </a:p>
          <a:p>
            <a:pPr algn="l">
              <a:buFont typeface="+mj-lt"/>
              <a:buAutoNum type="arabicPeriod"/>
            </a:pPr>
            <a:r>
              <a:rPr lang="en-US" sz="1800" dirty="0">
                <a:solidFill>
                  <a:srgbClr val="1F2328"/>
                </a:solidFill>
                <a:latin typeface="Lora" pitchFamily="2" charset="0"/>
              </a:rPr>
              <a:t>Exploring gesture recognition for the system</a:t>
            </a:r>
          </a:p>
          <a:p>
            <a:pPr algn="l">
              <a:buFont typeface="+mj-lt"/>
              <a:buAutoNum type="arabicPeriod"/>
            </a:pPr>
            <a:endParaRPr lang="en-US" sz="1800" dirty="0">
              <a:solidFill>
                <a:srgbClr val="1F2328"/>
              </a:solidFill>
              <a:latin typeface="Lora" pitchFamily="2" charset="0"/>
            </a:endParaRPr>
          </a:p>
          <a:p>
            <a:pPr algn="l">
              <a:buFont typeface="+mj-lt"/>
              <a:buAutoNum type="arabicPeriod"/>
            </a:pPr>
            <a:r>
              <a:rPr lang="en-US" sz="1800" b="0" i="0" dirty="0">
                <a:solidFill>
                  <a:srgbClr val="1F2328"/>
                </a:solidFill>
                <a:effectLst/>
                <a:latin typeface="Lora" pitchFamily="2" charset="0"/>
              </a:rPr>
              <a:t>Compilation of results</a:t>
            </a:r>
          </a:p>
        </p:txBody>
      </p:sp>
    </p:spTree>
    <p:extLst>
      <p:ext uri="{BB962C8B-B14F-4D97-AF65-F5344CB8AC3E}">
        <p14:creationId xmlns:p14="http://schemas.microsoft.com/office/powerpoint/2010/main" val="2797292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1"/>
          <p:cNvSpPr txBox="1">
            <a:spLocks noGrp="1"/>
          </p:cNvSpPr>
          <p:nvPr>
            <p:ph type="title"/>
          </p:nvPr>
        </p:nvSpPr>
        <p:spPr>
          <a:xfrm>
            <a:off x="1606650" y="2715025"/>
            <a:ext cx="5930700"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8C549B"/>
                </a:solidFill>
                <a:latin typeface="Playfair Display Medium"/>
                <a:ea typeface="Playfair Display Medium"/>
                <a:cs typeface="Playfair Display Medium"/>
                <a:sym typeface="Playfair Display Medium"/>
              </a:rPr>
              <a:t>Methodology</a:t>
            </a:r>
            <a:endParaRPr>
              <a:solidFill>
                <a:srgbClr val="8C549B"/>
              </a:solidFill>
              <a:latin typeface="Playfair Display Medium"/>
              <a:ea typeface="Playfair Display Medium"/>
              <a:cs typeface="Playfair Display Medium"/>
              <a:sym typeface="Playfair Display Medium"/>
            </a:endParaRPr>
          </a:p>
        </p:txBody>
      </p:sp>
      <p:sp>
        <p:nvSpPr>
          <p:cNvPr id="284" name="Google Shape;284;p41"/>
          <p:cNvSpPr txBox="1">
            <a:spLocks noGrp="1"/>
          </p:cNvSpPr>
          <p:nvPr>
            <p:ph type="title" idx="2"/>
          </p:nvPr>
        </p:nvSpPr>
        <p:spPr>
          <a:xfrm>
            <a:off x="3746550" y="1574875"/>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D2018CC-D707-7819-88F2-4C9CE67E62C8}"/>
              </a:ext>
            </a:extLst>
          </p:cNvPr>
          <p:cNvPicPr>
            <a:picLocks noChangeAspect="1"/>
          </p:cNvPicPr>
          <p:nvPr/>
        </p:nvPicPr>
        <p:blipFill>
          <a:blip r:embed="rId2"/>
          <a:stretch>
            <a:fillRect/>
          </a:stretch>
        </p:blipFill>
        <p:spPr>
          <a:xfrm>
            <a:off x="3091789" y="1543802"/>
            <a:ext cx="5356377" cy="3108612"/>
          </a:xfrm>
          <a:prstGeom prst="rect">
            <a:avLst/>
          </a:prstGeom>
        </p:spPr>
      </p:pic>
      <p:pic>
        <p:nvPicPr>
          <p:cNvPr id="10" name="Picture 9">
            <a:extLst>
              <a:ext uri="{FF2B5EF4-FFF2-40B4-BE49-F238E27FC236}">
                <a16:creationId xmlns:a16="http://schemas.microsoft.com/office/drawing/2014/main" id="{391A8627-2518-B296-55ED-62864F7DE8B1}"/>
              </a:ext>
            </a:extLst>
          </p:cNvPr>
          <p:cNvPicPr>
            <a:picLocks noChangeAspect="1"/>
          </p:cNvPicPr>
          <p:nvPr/>
        </p:nvPicPr>
        <p:blipFill>
          <a:blip r:embed="rId3"/>
          <a:stretch>
            <a:fillRect/>
          </a:stretch>
        </p:blipFill>
        <p:spPr>
          <a:xfrm>
            <a:off x="676571" y="3414058"/>
            <a:ext cx="2067506" cy="1139747"/>
          </a:xfrm>
          <a:prstGeom prst="rect">
            <a:avLst/>
          </a:prstGeom>
        </p:spPr>
      </p:pic>
      <p:sp>
        <p:nvSpPr>
          <p:cNvPr id="11" name="TextBox 10">
            <a:extLst>
              <a:ext uri="{FF2B5EF4-FFF2-40B4-BE49-F238E27FC236}">
                <a16:creationId xmlns:a16="http://schemas.microsoft.com/office/drawing/2014/main" id="{2415208F-25CB-6BFE-867F-81FBCE48E9FF}"/>
              </a:ext>
            </a:extLst>
          </p:cNvPr>
          <p:cNvSpPr txBox="1"/>
          <p:nvPr/>
        </p:nvSpPr>
        <p:spPr>
          <a:xfrm>
            <a:off x="695834" y="3129311"/>
            <a:ext cx="1031051" cy="307777"/>
          </a:xfrm>
          <a:prstGeom prst="rect">
            <a:avLst/>
          </a:prstGeom>
          <a:noFill/>
        </p:spPr>
        <p:txBody>
          <a:bodyPr wrap="none" rtlCol="0">
            <a:spAutoFit/>
          </a:bodyPr>
          <a:lstStyle/>
          <a:p>
            <a:r>
              <a:rPr lang="en-IN" dirty="0"/>
              <a:t>Pin Layout</a:t>
            </a:r>
          </a:p>
        </p:txBody>
      </p:sp>
      <p:sp>
        <p:nvSpPr>
          <p:cNvPr id="12" name="TextBox 11">
            <a:extLst>
              <a:ext uri="{FF2B5EF4-FFF2-40B4-BE49-F238E27FC236}">
                <a16:creationId xmlns:a16="http://schemas.microsoft.com/office/drawing/2014/main" id="{AB5ED0C7-E33C-04B8-BBAE-5EB52A7DB849}"/>
              </a:ext>
            </a:extLst>
          </p:cNvPr>
          <p:cNvSpPr txBox="1"/>
          <p:nvPr/>
        </p:nvSpPr>
        <p:spPr>
          <a:xfrm>
            <a:off x="5160481" y="1154624"/>
            <a:ext cx="1418978" cy="307777"/>
          </a:xfrm>
          <a:prstGeom prst="rect">
            <a:avLst/>
          </a:prstGeom>
          <a:noFill/>
        </p:spPr>
        <p:txBody>
          <a:bodyPr wrap="none" rtlCol="0">
            <a:spAutoFit/>
          </a:bodyPr>
          <a:lstStyle/>
          <a:p>
            <a:r>
              <a:rPr lang="en-IN" dirty="0"/>
              <a:t>Circuit Diagram</a:t>
            </a:r>
          </a:p>
        </p:txBody>
      </p:sp>
      <p:sp>
        <p:nvSpPr>
          <p:cNvPr id="2" name="TextBox 1">
            <a:extLst>
              <a:ext uri="{FF2B5EF4-FFF2-40B4-BE49-F238E27FC236}">
                <a16:creationId xmlns:a16="http://schemas.microsoft.com/office/drawing/2014/main" id="{908457CA-B9DA-7CC5-0695-5950FE2C5C4A}"/>
              </a:ext>
            </a:extLst>
          </p:cNvPr>
          <p:cNvSpPr txBox="1"/>
          <p:nvPr/>
        </p:nvSpPr>
        <p:spPr>
          <a:xfrm>
            <a:off x="744316" y="1104653"/>
            <a:ext cx="1932016" cy="1815882"/>
          </a:xfrm>
          <a:prstGeom prst="rect">
            <a:avLst/>
          </a:prstGeom>
          <a:noFill/>
        </p:spPr>
        <p:txBody>
          <a:bodyPr wrap="square" rtlCol="0">
            <a:spAutoFit/>
          </a:bodyPr>
          <a:lstStyle/>
          <a:p>
            <a:r>
              <a:rPr lang="en-US" b="0" i="0" dirty="0">
                <a:effectLst/>
                <a:latin typeface="Arial" panose="020B0604020202020204" pitchFamily="34" charset="0"/>
              </a:rPr>
              <a:t>The aim of the project is classification of dynamic hand</a:t>
            </a:r>
            <a:br>
              <a:rPr lang="en-US" dirty="0"/>
            </a:br>
            <a:r>
              <a:rPr lang="en-US" b="0" i="0" dirty="0">
                <a:effectLst/>
                <a:latin typeface="Arial" panose="020B0604020202020204" pitchFamily="34" charset="0"/>
              </a:rPr>
              <a:t>gestures using EMG signals as input and ML implementation</a:t>
            </a:r>
            <a:br>
              <a:rPr lang="en-US" dirty="0"/>
            </a:br>
            <a:r>
              <a:rPr lang="en-US" b="0" i="0" dirty="0">
                <a:effectLst/>
                <a:latin typeface="Arial" panose="020B0604020202020204" pitchFamily="34" charset="0"/>
              </a:rPr>
              <a:t>to run the analysis.</a:t>
            </a:r>
          </a:p>
          <a:p>
            <a:endParaRPr lang="en-IN" dirty="0"/>
          </a:p>
        </p:txBody>
      </p:sp>
    </p:spTree>
    <p:extLst>
      <p:ext uri="{BB962C8B-B14F-4D97-AF65-F5344CB8AC3E}">
        <p14:creationId xmlns:p14="http://schemas.microsoft.com/office/powerpoint/2010/main" val="223423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76AA52-60B9-2761-5F14-D86D3C941DB4}"/>
              </a:ext>
            </a:extLst>
          </p:cNvPr>
          <p:cNvPicPr>
            <a:picLocks noChangeAspect="1"/>
          </p:cNvPicPr>
          <p:nvPr/>
        </p:nvPicPr>
        <p:blipFill>
          <a:blip r:embed="rId2"/>
          <a:stretch>
            <a:fillRect/>
          </a:stretch>
        </p:blipFill>
        <p:spPr>
          <a:xfrm>
            <a:off x="4073195" y="883280"/>
            <a:ext cx="1222337" cy="1195413"/>
          </a:xfrm>
          <a:prstGeom prst="rect">
            <a:avLst/>
          </a:prstGeom>
        </p:spPr>
      </p:pic>
      <p:pic>
        <p:nvPicPr>
          <p:cNvPr id="8" name="Picture 7">
            <a:extLst>
              <a:ext uri="{FF2B5EF4-FFF2-40B4-BE49-F238E27FC236}">
                <a16:creationId xmlns:a16="http://schemas.microsoft.com/office/drawing/2014/main" id="{98567670-68D9-6223-A31E-9EA67DB91BBB}"/>
              </a:ext>
            </a:extLst>
          </p:cNvPr>
          <p:cNvPicPr>
            <a:picLocks noChangeAspect="1"/>
          </p:cNvPicPr>
          <p:nvPr/>
        </p:nvPicPr>
        <p:blipFill rotWithShape="1">
          <a:blip r:embed="rId3"/>
          <a:srcRect l="10237"/>
          <a:stretch/>
        </p:blipFill>
        <p:spPr>
          <a:xfrm>
            <a:off x="5920353" y="627275"/>
            <a:ext cx="2620861" cy="3649701"/>
          </a:xfrm>
          <a:prstGeom prst="rect">
            <a:avLst/>
          </a:prstGeom>
        </p:spPr>
      </p:pic>
      <p:pic>
        <p:nvPicPr>
          <p:cNvPr id="1026" name="Picture 2" descr="How do muscles move bones? Contracting and relaxing | NATURAL SCIENCE #3">
            <a:extLst>
              <a:ext uri="{FF2B5EF4-FFF2-40B4-BE49-F238E27FC236}">
                <a16:creationId xmlns:a16="http://schemas.microsoft.com/office/drawing/2014/main" id="{7872BE31-83A0-B68C-465A-42A5D0D9D8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14" y="627275"/>
            <a:ext cx="2919761" cy="17074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E6390014-2A96-5360-C621-1A946A28E73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390" b="89437" l="1250" r="98750">
                        <a14:foregroundMark x1="3750" y1="47418" x2="3750" y2="47418"/>
                        <a14:foregroundMark x1="1406" y1="58451" x2="1406" y2="58451"/>
                        <a14:foregroundMark x1="64844" y1="39202" x2="64844" y2="39202"/>
                        <a14:foregroundMark x1="89375" y1="55164" x2="89375" y2="55164"/>
                        <a14:foregroundMark x1="95156" y1="61033" x2="95156" y2="61033"/>
                        <a14:foregroundMark x1="98750" y1="65258" x2="98750" y2="65258"/>
                        <a14:foregroundMark x1="38750" y1="45305" x2="38750" y2="45305"/>
                        <a14:foregroundMark x1="47813" y1="46948" x2="47813" y2="46948"/>
                        <a14:foregroundMark x1="48125" y1="49765" x2="48125" y2="49765"/>
                      </a14:backgroundRemoval>
                    </a14:imgEffect>
                  </a14:imgLayer>
                </a14:imgProps>
              </a:ext>
              <a:ext uri="{28A0092B-C50C-407E-A947-70E740481C1C}">
                <a14:useLocalDpi xmlns:a14="http://schemas.microsoft.com/office/drawing/2010/main" val="0"/>
              </a:ext>
            </a:extLst>
          </a:blip>
          <a:srcRect/>
          <a:stretch>
            <a:fillRect/>
          </a:stretch>
        </p:blipFill>
        <p:spPr bwMode="auto">
          <a:xfrm>
            <a:off x="488907" y="2576860"/>
            <a:ext cx="2554165" cy="170011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8910C66-4806-04F0-64CE-E65BDE0606F3}"/>
              </a:ext>
            </a:extLst>
          </p:cNvPr>
          <p:cNvPicPr>
            <a:picLocks noChangeAspect="1"/>
          </p:cNvPicPr>
          <p:nvPr/>
        </p:nvPicPr>
        <p:blipFill>
          <a:blip r:embed="rId7"/>
          <a:stretch>
            <a:fillRect/>
          </a:stretch>
        </p:blipFill>
        <p:spPr>
          <a:xfrm>
            <a:off x="3176002" y="2571750"/>
            <a:ext cx="2294900" cy="1389047"/>
          </a:xfrm>
          <a:prstGeom prst="rect">
            <a:avLst/>
          </a:prstGeom>
        </p:spPr>
      </p:pic>
      <p:sp>
        <p:nvSpPr>
          <p:cNvPr id="4" name="TextBox 3">
            <a:extLst>
              <a:ext uri="{FF2B5EF4-FFF2-40B4-BE49-F238E27FC236}">
                <a16:creationId xmlns:a16="http://schemas.microsoft.com/office/drawing/2014/main" id="{07BCB79F-8F21-D182-5613-CC48612F7CD9}"/>
              </a:ext>
            </a:extLst>
          </p:cNvPr>
          <p:cNvSpPr txBox="1"/>
          <p:nvPr/>
        </p:nvSpPr>
        <p:spPr>
          <a:xfrm>
            <a:off x="488907" y="3969199"/>
            <a:ext cx="1059906" cy="307777"/>
          </a:xfrm>
          <a:prstGeom prst="rect">
            <a:avLst/>
          </a:prstGeom>
          <a:noFill/>
        </p:spPr>
        <p:txBody>
          <a:bodyPr wrap="none" rtlCol="0">
            <a:spAutoFit/>
          </a:bodyPr>
          <a:lstStyle/>
          <a:p>
            <a:r>
              <a:rPr lang="en-IN" dirty="0"/>
              <a:t>Open palm</a:t>
            </a:r>
          </a:p>
        </p:txBody>
      </p:sp>
      <p:sp>
        <p:nvSpPr>
          <p:cNvPr id="5" name="TextBox 4">
            <a:extLst>
              <a:ext uri="{FF2B5EF4-FFF2-40B4-BE49-F238E27FC236}">
                <a16:creationId xmlns:a16="http://schemas.microsoft.com/office/drawing/2014/main" id="{ED32991C-C2A3-D073-AB0B-A1C0B2323729}"/>
              </a:ext>
            </a:extLst>
          </p:cNvPr>
          <p:cNvSpPr txBox="1"/>
          <p:nvPr/>
        </p:nvSpPr>
        <p:spPr>
          <a:xfrm>
            <a:off x="1874734" y="3969199"/>
            <a:ext cx="1021433" cy="307777"/>
          </a:xfrm>
          <a:prstGeom prst="rect">
            <a:avLst/>
          </a:prstGeom>
          <a:noFill/>
        </p:spPr>
        <p:txBody>
          <a:bodyPr wrap="none" rtlCol="0">
            <a:spAutoFit/>
          </a:bodyPr>
          <a:lstStyle/>
          <a:p>
            <a:r>
              <a:rPr lang="en-IN" dirty="0"/>
              <a:t>Closed fist</a:t>
            </a:r>
          </a:p>
        </p:txBody>
      </p:sp>
      <p:sp>
        <p:nvSpPr>
          <p:cNvPr id="7" name="TextBox 6">
            <a:extLst>
              <a:ext uri="{FF2B5EF4-FFF2-40B4-BE49-F238E27FC236}">
                <a16:creationId xmlns:a16="http://schemas.microsoft.com/office/drawing/2014/main" id="{7A090827-A956-5E31-D041-F9110F651D53}"/>
              </a:ext>
            </a:extLst>
          </p:cNvPr>
          <p:cNvSpPr txBox="1"/>
          <p:nvPr/>
        </p:nvSpPr>
        <p:spPr>
          <a:xfrm>
            <a:off x="3909784" y="3969199"/>
            <a:ext cx="981359" cy="307777"/>
          </a:xfrm>
          <a:prstGeom prst="rect">
            <a:avLst/>
          </a:prstGeom>
          <a:noFill/>
        </p:spPr>
        <p:txBody>
          <a:bodyPr wrap="none" rtlCol="0">
            <a:spAutoFit/>
          </a:bodyPr>
          <a:lstStyle/>
          <a:p>
            <a:r>
              <a:rPr lang="en-IN" dirty="0"/>
              <a:t>Pinch grip</a:t>
            </a:r>
          </a:p>
        </p:txBody>
      </p:sp>
    </p:spTree>
    <p:extLst>
      <p:ext uri="{BB962C8B-B14F-4D97-AF65-F5344CB8AC3E}">
        <p14:creationId xmlns:p14="http://schemas.microsoft.com/office/powerpoint/2010/main" val="4126540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3A7F8-572D-B658-1CBE-BCBE75DA82D9}"/>
              </a:ext>
            </a:extLst>
          </p:cNvPr>
          <p:cNvSpPr>
            <a:spLocks noGrp="1"/>
          </p:cNvSpPr>
          <p:nvPr>
            <p:ph type="title"/>
          </p:nvPr>
        </p:nvSpPr>
        <p:spPr>
          <a:xfrm>
            <a:off x="713224" y="445025"/>
            <a:ext cx="5594585" cy="572700"/>
          </a:xfrm>
        </p:spPr>
        <p:txBody>
          <a:bodyPr/>
          <a:lstStyle/>
          <a:p>
            <a:r>
              <a:rPr lang="en-US" dirty="0">
                <a:latin typeface="Lora" pitchFamily="2" charset="0"/>
              </a:rPr>
              <a:t>Frequency-domain analysis</a:t>
            </a:r>
            <a:br>
              <a:rPr lang="en-US" dirty="0"/>
            </a:br>
            <a:endParaRPr lang="en-IN" dirty="0"/>
          </a:p>
        </p:txBody>
      </p:sp>
      <p:sp>
        <p:nvSpPr>
          <p:cNvPr id="3" name="Text Placeholder 2">
            <a:extLst>
              <a:ext uri="{FF2B5EF4-FFF2-40B4-BE49-F238E27FC236}">
                <a16:creationId xmlns:a16="http://schemas.microsoft.com/office/drawing/2014/main" id="{64F38B16-5875-9378-8B98-08D1EF747F80}"/>
              </a:ext>
            </a:extLst>
          </p:cNvPr>
          <p:cNvSpPr>
            <a:spLocks noGrp="1"/>
          </p:cNvSpPr>
          <p:nvPr>
            <p:ph type="body" idx="1"/>
          </p:nvPr>
        </p:nvSpPr>
        <p:spPr/>
        <p:txBody>
          <a:bodyPr/>
          <a:lstStyle/>
          <a:p>
            <a:r>
              <a:rPr lang="en-US" sz="1800" dirty="0">
                <a:solidFill>
                  <a:srgbClr val="000000"/>
                </a:solidFill>
                <a:latin typeface="Lora" pitchFamily="2" charset="0"/>
                <a:cs typeface="Arial"/>
                <a:sym typeface="Arial"/>
              </a:rPr>
              <a:t>preprocess the data, based on the conditions, used a frequency domain representation gave much better output than time domain. </a:t>
            </a:r>
          </a:p>
          <a:p>
            <a:r>
              <a:rPr lang="en-US" sz="1800" dirty="0">
                <a:solidFill>
                  <a:srgbClr val="000000"/>
                </a:solidFill>
                <a:latin typeface="Lora" pitchFamily="2" charset="0"/>
                <a:cs typeface="Arial"/>
                <a:sym typeface="Arial"/>
              </a:rPr>
              <a:t>then 240 point DFT of the signal was taken and then </a:t>
            </a:r>
            <a:r>
              <a:rPr lang="en-US" sz="1800" dirty="0" err="1">
                <a:solidFill>
                  <a:srgbClr val="000000"/>
                </a:solidFill>
                <a:latin typeface="Lora" pitchFamily="2" charset="0"/>
                <a:cs typeface="Arial"/>
                <a:sym typeface="Arial"/>
              </a:rPr>
              <a:t>normalised</a:t>
            </a:r>
            <a:r>
              <a:rPr lang="en-US" sz="1800" dirty="0">
                <a:solidFill>
                  <a:srgbClr val="000000"/>
                </a:solidFill>
                <a:latin typeface="Lora" pitchFamily="2" charset="0"/>
                <a:cs typeface="Arial"/>
                <a:sym typeface="Arial"/>
              </a:rPr>
              <a:t> it to be used as model input. </a:t>
            </a:r>
          </a:p>
          <a:p>
            <a:r>
              <a:rPr lang="en-US" sz="1800" dirty="0">
                <a:solidFill>
                  <a:srgbClr val="000000"/>
                </a:solidFill>
                <a:latin typeface="Lora" pitchFamily="2" charset="0"/>
                <a:cs typeface="Arial"/>
                <a:sym typeface="Arial"/>
              </a:rPr>
              <a:t>Model input contain 120 features(one-sided DFT) and 1 target were the gesture observed was given an ordinal encoding.</a:t>
            </a:r>
          </a:p>
          <a:p>
            <a:r>
              <a:rPr lang="en-US" sz="1800" dirty="0">
                <a:solidFill>
                  <a:srgbClr val="000000"/>
                </a:solidFill>
                <a:latin typeface="Lora" pitchFamily="2" charset="0"/>
                <a:cs typeface="Arial"/>
                <a:sym typeface="Arial"/>
              </a:rPr>
              <a:t>Random Forest Classifier was used as model and final result presented in confusion matrix, to measure the ability to classify the gestures.</a:t>
            </a:r>
          </a:p>
          <a:p>
            <a:endParaRPr lang="en-IN" dirty="0"/>
          </a:p>
        </p:txBody>
      </p:sp>
    </p:spTree>
    <p:extLst>
      <p:ext uri="{BB962C8B-B14F-4D97-AF65-F5344CB8AC3E}">
        <p14:creationId xmlns:p14="http://schemas.microsoft.com/office/powerpoint/2010/main" val="675532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4F85F-2D1C-D807-2D07-AB15BCD5827E}"/>
              </a:ext>
            </a:extLst>
          </p:cNvPr>
          <p:cNvSpPr>
            <a:spLocks noGrp="1"/>
          </p:cNvSpPr>
          <p:nvPr>
            <p:ph type="title"/>
          </p:nvPr>
        </p:nvSpPr>
        <p:spPr>
          <a:xfrm>
            <a:off x="608459" y="476022"/>
            <a:ext cx="5803812" cy="572700"/>
          </a:xfrm>
        </p:spPr>
        <p:txBody>
          <a:bodyPr/>
          <a:lstStyle/>
          <a:p>
            <a:r>
              <a:rPr lang="en-US" dirty="0">
                <a:latin typeface="Lora" pitchFamily="2" charset="0"/>
              </a:rPr>
              <a:t>Discrete Fourier Transform</a:t>
            </a:r>
            <a:endParaRPr lang="en-IN" dirty="0"/>
          </a:p>
        </p:txBody>
      </p:sp>
      <p:sp>
        <p:nvSpPr>
          <p:cNvPr id="4" name="Rectangle 1">
            <a:extLst>
              <a:ext uri="{FF2B5EF4-FFF2-40B4-BE49-F238E27FC236}">
                <a16:creationId xmlns:a16="http://schemas.microsoft.com/office/drawing/2014/main" id="{6DE6BF8A-A0B7-040F-15C1-43D9DBF5210B}"/>
              </a:ext>
            </a:extLst>
          </p:cNvPr>
          <p:cNvSpPr>
            <a:spLocks noGrp="1" noChangeArrowheads="1"/>
          </p:cNvSpPr>
          <p:nvPr>
            <p:ph type="body" idx="1"/>
          </p:nvPr>
        </p:nvSpPr>
        <p:spPr bwMode="auto">
          <a:xfrm>
            <a:off x="713250" y="2809261"/>
            <a:ext cx="65" cy="223126"/>
          </a:xfrm>
          <a:prstGeom prst="rect">
            <a:avLst/>
          </a:prstGeom>
          <a:solidFill>
            <a:srgbClr val="13131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044" rIns="0" bIns="1904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E3E3E3"/>
              </a:solidFill>
              <a:effectLst/>
              <a:latin typeface="Google Sans"/>
            </a:endParaRPr>
          </a:p>
        </p:txBody>
      </p:sp>
      <p:sp>
        <p:nvSpPr>
          <p:cNvPr id="5" name="TextBox 4">
            <a:extLst>
              <a:ext uri="{FF2B5EF4-FFF2-40B4-BE49-F238E27FC236}">
                <a16:creationId xmlns:a16="http://schemas.microsoft.com/office/drawing/2014/main" id="{AB48CF6F-2F7A-96AB-FE07-48D64D3E27D3}"/>
              </a:ext>
            </a:extLst>
          </p:cNvPr>
          <p:cNvSpPr txBox="1"/>
          <p:nvPr/>
        </p:nvSpPr>
        <p:spPr>
          <a:xfrm>
            <a:off x="284970" y="1123627"/>
            <a:ext cx="8574059" cy="2677656"/>
          </a:xfrm>
          <a:prstGeom prst="rect">
            <a:avLst/>
          </a:prstGeom>
          <a:noFill/>
        </p:spPr>
        <p:txBody>
          <a:bodyPr wrap="square" rtlCol="0">
            <a:spAutoFit/>
          </a:bodyPr>
          <a:lstStyle/>
          <a:p>
            <a:r>
              <a:rPr lang="en-US" dirty="0">
                <a:latin typeface="Lora" pitchFamily="2" charset="0"/>
              </a:rPr>
              <a:t>The Discrete Fourier Transform (DFT) is a mathematical tool used to analyze discrete signals in the frequency domain.</a:t>
            </a:r>
          </a:p>
          <a:p>
            <a:r>
              <a:rPr lang="en-US" dirty="0">
                <a:latin typeface="Lora" pitchFamily="2" charset="0"/>
              </a:rPr>
              <a:t> It decomposes a finite-length signal into its constituent sinusoidal components (sine and cosine waves) of different frequencies.</a:t>
            </a:r>
          </a:p>
          <a:p>
            <a:r>
              <a:rPr lang="en-US" dirty="0">
                <a:latin typeface="Lora" pitchFamily="2" charset="0"/>
              </a:rPr>
              <a:t>This allows us to understand the frequency content of the signal and how different frequencies contribute to its overall shape.</a:t>
            </a:r>
          </a:p>
          <a:p>
            <a:endParaRPr 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Lora" pitchFamily="2" charset="0"/>
                <a:cs typeface="Arial"/>
              </a:rPr>
              <a:t>The DFT is a fundamental tool in various applications, including signal processing, image compression, and spectral analysis. It plays a crucial role in understanding and manipulating the frequency content of digital signals.</a:t>
            </a:r>
          </a:p>
          <a:p>
            <a:endParaRPr lang="en-US" dirty="0"/>
          </a:p>
          <a:p>
            <a:r>
              <a:rPr lang="en-US" dirty="0">
                <a:latin typeface="Lora" pitchFamily="2" charset="0"/>
              </a:rPr>
              <a:t>We have elaborated in next slide.</a:t>
            </a:r>
          </a:p>
        </p:txBody>
      </p:sp>
    </p:spTree>
    <p:extLst>
      <p:ext uri="{BB962C8B-B14F-4D97-AF65-F5344CB8AC3E}">
        <p14:creationId xmlns:p14="http://schemas.microsoft.com/office/powerpoint/2010/main" val="3809103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B915-3522-577C-0BAF-E22D9ABA2BC0}"/>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47830DA7-38F6-6669-AD49-D1C76C9892A4}"/>
              </a:ext>
            </a:extLst>
          </p:cNvPr>
          <p:cNvSpPr>
            <a:spLocks noGrp="1"/>
          </p:cNvSpPr>
          <p:nvPr>
            <p:ph type="body" idx="1"/>
          </p:nvPr>
        </p:nvSpPr>
        <p:spPr/>
        <p:txBody>
          <a:bodyPr/>
          <a:lstStyle/>
          <a:p>
            <a:pPr marL="114300" indent="0">
              <a:buNone/>
            </a:pPr>
            <a:r>
              <a:rPr lang="en-US" sz="1400" dirty="0"/>
              <a:t>Explanation of Parameters:</a:t>
            </a:r>
          </a:p>
          <a:p>
            <a:pPr marL="114300" indent="0">
              <a:buNone/>
            </a:pPr>
            <a:endParaRPr lang="en-US" sz="1400" dirty="0"/>
          </a:p>
          <a:p>
            <a:pPr marL="114300" indent="0">
              <a:buNone/>
            </a:pPr>
            <a:r>
              <a:rPr lang="en-US" sz="1400" dirty="0"/>
              <a:t>X[k]: This represents the complex-valued frequency domain representation of the signal at the k-</a:t>
            </a:r>
            <a:r>
              <a:rPr lang="en-US" sz="1400" dirty="0" err="1"/>
              <a:t>th</a:t>
            </a:r>
            <a:r>
              <a:rPr lang="en-US" sz="1400" dirty="0"/>
              <a:t> frequency component.</a:t>
            </a:r>
          </a:p>
          <a:p>
            <a:pPr marL="114300" indent="0">
              <a:buNone/>
            </a:pPr>
            <a:r>
              <a:rPr lang="en-US" sz="1400" dirty="0"/>
              <a:t>It contains both the magnitude (amplitude) and phase information of that frequency component.</a:t>
            </a:r>
          </a:p>
          <a:p>
            <a:pPr marL="114300" indent="0">
              <a:buNone/>
            </a:pPr>
            <a:r>
              <a:rPr lang="en-US" sz="1400" dirty="0"/>
              <a:t>n: This is the index variable iterating through all N samples of the original signal x[n].</a:t>
            </a:r>
          </a:p>
          <a:p>
            <a:pPr marL="114300" indent="0">
              <a:buNone/>
            </a:pPr>
            <a:r>
              <a:rPr lang="en-US" sz="1400" dirty="0"/>
              <a:t>x[n]: This is the value of the signal at the n-</a:t>
            </a:r>
            <a:r>
              <a:rPr lang="en-US" sz="1400" dirty="0" err="1"/>
              <a:t>th</a:t>
            </a:r>
            <a:r>
              <a:rPr lang="en-US" sz="1400" dirty="0"/>
              <a:t> sample point.</a:t>
            </a:r>
          </a:p>
          <a:p>
            <a:pPr marL="114300" indent="0">
              <a:buNone/>
            </a:pPr>
            <a:r>
              <a:rPr lang="en-US" sz="1400" dirty="0"/>
              <a:t>k: This is the index variable representing the k-</a:t>
            </a:r>
            <a:r>
              <a:rPr lang="en-US" sz="1400" dirty="0" err="1"/>
              <a:t>th</a:t>
            </a:r>
            <a:r>
              <a:rPr lang="en-US" sz="1400" dirty="0"/>
              <a:t> frequency component in the transformed signal X[k]. It typically ranges from 0 to N-1.</a:t>
            </a:r>
          </a:p>
          <a:p>
            <a:pPr marL="114300" indent="0">
              <a:buNone/>
            </a:pPr>
            <a:r>
              <a:rPr lang="en-US" sz="1400" dirty="0"/>
              <a:t>j: This is the imaginary unit, where j^2 = -1.</a:t>
            </a:r>
          </a:p>
          <a:p>
            <a:pPr marL="114300" indent="0">
              <a:buNone/>
            </a:pPr>
            <a:r>
              <a:rPr lang="en-US" sz="1400" dirty="0"/>
              <a:t>e: This is the base of the natural logarithm (approximately 2.71828).</a:t>
            </a:r>
          </a:p>
          <a:p>
            <a:pPr marL="114300" indent="0">
              <a:buNone/>
            </a:pPr>
            <a:r>
              <a:rPr lang="en-US" sz="1400" dirty="0"/>
              <a:t>π: This is the mathematical constant pi (approximately 3.14159).</a:t>
            </a:r>
          </a:p>
          <a:p>
            <a:pPr marL="114300" indent="0">
              <a:buNone/>
            </a:pPr>
            <a:r>
              <a:rPr lang="en-US" sz="1400" dirty="0"/>
              <a:t>N: This represents the total number of samples in the discrete signal x[n].</a:t>
            </a:r>
            <a:endParaRPr lang="en-IN" sz="1400" dirty="0"/>
          </a:p>
          <a:p>
            <a:endParaRPr lang="en-IN" dirty="0"/>
          </a:p>
        </p:txBody>
      </p:sp>
      <p:pic>
        <p:nvPicPr>
          <p:cNvPr id="7" name="Picture 6">
            <a:extLst>
              <a:ext uri="{FF2B5EF4-FFF2-40B4-BE49-F238E27FC236}">
                <a16:creationId xmlns:a16="http://schemas.microsoft.com/office/drawing/2014/main" id="{3C45F98B-6A49-72BC-8278-23BA33D7F1E5}"/>
              </a:ext>
            </a:extLst>
          </p:cNvPr>
          <p:cNvPicPr>
            <a:picLocks noChangeAspect="1"/>
          </p:cNvPicPr>
          <p:nvPr/>
        </p:nvPicPr>
        <p:blipFill>
          <a:blip r:embed="rId2"/>
          <a:stretch>
            <a:fillRect/>
          </a:stretch>
        </p:blipFill>
        <p:spPr>
          <a:xfrm>
            <a:off x="3170359" y="445025"/>
            <a:ext cx="2254366" cy="723937"/>
          </a:xfrm>
          <a:prstGeom prst="rect">
            <a:avLst/>
          </a:prstGeom>
        </p:spPr>
      </p:pic>
    </p:spTree>
    <p:extLst>
      <p:ext uri="{BB962C8B-B14F-4D97-AF65-F5344CB8AC3E}">
        <p14:creationId xmlns:p14="http://schemas.microsoft.com/office/powerpoint/2010/main" val="99503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4413-AC35-A124-366F-FEF97AF86A65}"/>
              </a:ext>
            </a:extLst>
          </p:cNvPr>
          <p:cNvSpPr>
            <a:spLocks noGrp="1"/>
          </p:cNvSpPr>
          <p:nvPr>
            <p:ph type="title"/>
          </p:nvPr>
        </p:nvSpPr>
        <p:spPr>
          <a:xfrm>
            <a:off x="713225" y="445025"/>
            <a:ext cx="6772456" cy="572700"/>
          </a:xfrm>
        </p:spPr>
        <p:txBody>
          <a:bodyPr/>
          <a:lstStyle/>
          <a:p>
            <a:r>
              <a:rPr lang="en-US" sz="3200" dirty="0">
                <a:solidFill>
                  <a:srgbClr val="000000"/>
                </a:solidFill>
                <a:latin typeface="Lora" pitchFamily="2" charset="0"/>
                <a:cs typeface="Arial"/>
              </a:rPr>
              <a:t>Random Forest Classifier</a:t>
            </a:r>
            <a:endParaRPr lang="en-IN" dirty="0"/>
          </a:p>
        </p:txBody>
      </p:sp>
      <p:sp>
        <p:nvSpPr>
          <p:cNvPr id="3" name="Text Placeholder 2">
            <a:extLst>
              <a:ext uri="{FF2B5EF4-FFF2-40B4-BE49-F238E27FC236}">
                <a16:creationId xmlns:a16="http://schemas.microsoft.com/office/drawing/2014/main" id="{6E272BE6-96AF-1961-367A-37115CE3CF58}"/>
              </a:ext>
            </a:extLst>
          </p:cNvPr>
          <p:cNvSpPr>
            <a:spLocks noGrp="1"/>
          </p:cNvSpPr>
          <p:nvPr>
            <p:ph type="body" idx="1"/>
          </p:nvPr>
        </p:nvSpPr>
        <p:spPr>
          <a:xfrm>
            <a:off x="658679" y="1029393"/>
            <a:ext cx="4479010" cy="3669081"/>
          </a:xfrm>
          <a:prstGeom prst="rect">
            <a:avLst/>
          </a:prstGeom>
        </p:spPr>
        <p:txBody>
          <a:bodyPr/>
          <a:lstStyle/>
          <a:p>
            <a:pPr marL="0" indent="0" eaLnBrk="0" fontAlgn="base" hangingPunct="0">
              <a:spcBef>
                <a:spcPct val="0"/>
              </a:spcBef>
              <a:spcAft>
                <a:spcPct val="0"/>
              </a:spcAft>
              <a:buClrTx/>
              <a:buSzTx/>
              <a:buFontTx/>
              <a:buChar char="•"/>
            </a:pPr>
            <a:r>
              <a:rPr lang="en-US" sz="1600" dirty="0">
                <a:solidFill>
                  <a:srgbClr val="000000"/>
                </a:solidFill>
                <a:latin typeface="Lora" pitchFamily="2" charset="0"/>
                <a:cs typeface="Arial"/>
              </a:rPr>
              <a:t>A powerful ensemble learning method that combines multiple decision trees, trained on random subsets of features and data points, to improve classification accuracy and prevent overfitting.</a:t>
            </a:r>
          </a:p>
          <a:p>
            <a:pPr marL="0" indent="0" eaLnBrk="0" fontAlgn="base" hangingPunct="0">
              <a:spcBef>
                <a:spcPct val="0"/>
              </a:spcBef>
              <a:spcAft>
                <a:spcPct val="0"/>
              </a:spcAft>
              <a:buClrTx/>
              <a:buSzTx/>
              <a:buFontTx/>
              <a:buChar char="•"/>
            </a:pPr>
            <a:endParaRPr lang="en-US" sz="1600" dirty="0">
              <a:solidFill>
                <a:srgbClr val="000000"/>
              </a:solidFill>
              <a:latin typeface="Lora" pitchFamily="2" charset="0"/>
              <a:cs typeface="Arial"/>
            </a:endParaRPr>
          </a:p>
          <a:p>
            <a:pPr marL="0" indent="0" eaLnBrk="0" fontAlgn="base" hangingPunct="0">
              <a:spcBef>
                <a:spcPct val="0"/>
              </a:spcBef>
              <a:spcAft>
                <a:spcPct val="0"/>
              </a:spcAft>
              <a:buClrTx/>
              <a:buSzTx/>
              <a:buFontTx/>
              <a:buChar char="•"/>
            </a:pPr>
            <a:endParaRPr lang="en-US" sz="1600" dirty="0">
              <a:solidFill>
                <a:srgbClr val="000000"/>
              </a:solidFill>
              <a:latin typeface="Lora" pitchFamily="2" charset="0"/>
              <a:cs typeface="Arial"/>
            </a:endParaRPr>
          </a:p>
          <a:p>
            <a:pPr marL="0" indent="0" eaLnBrk="0" fontAlgn="base" hangingPunct="0">
              <a:spcBef>
                <a:spcPct val="0"/>
              </a:spcBef>
              <a:spcAft>
                <a:spcPct val="0"/>
              </a:spcAft>
              <a:buClrTx/>
              <a:buSzTx/>
              <a:buFontTx/>
              <a:buChar char="•"/>
            </a:pPr>
            <a:r>
              <a:rPr lang="en-US" sz="1600" dirty="0">
                <a:solidFill>
                  <a:srgbClr val="000000"/>
                </a:solidFill>
                <a:latin typeface="Lora" pitchFamily="2" charset="0"/>
                <a:cs typeface="Arial"/>
              </a:rPr>
              <a:t>The image depicts a Random Forest with several decision trees, each making predictions based on different feature splits. The final prediction is based on the majority vote of these individual trees.</a:t>
            </a:r>
          </a:p>
          <a:p>
            <a:endParaRPr lang="en-IN" dirty="0"/>
          </a:p>
        </p:txBody>
      </p:sp>
      <p:pic>
        <p:nvPicPr>
          <p:cNvPr id="2050" name="Picture 2">
            <a:extLst>
              <a:ext uri="{FF2B5EF4-FFF2-40B4-BE49-F238E27FC236}">
                <a16:creationId xmlns:a16="http://schemas.microsoft.com/office/drawing/2014/main" id="{2B347F43-1AD8-53F4-5A7B-B6FC8C27F9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399" r="19572"/>
          <a:stretch/>
        </p:blipFill>
        <p:spPr bwMode="auto">
          <a:xfrm>
            <a:off x="5363742" y="1154380"/>
            <a:ext cx="3282172" cy="29291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D95585F-F560-E885-19DF-FE258CEC5E63}"/>
              </a:ext>
            </a:extLst>
          </p:cNvPr>
          <p:cNvSpPr txBox="1"/>
          <p:nvPr/>
        </p:nvSpPr>
        <p:spPr>
          <a:xfrm>
            <a:off x="5254519" y="4220215"/>
            <a:ext cx="3760966" cy="307777"/>
          </a:xfrm>
          <a:prstGeom prst="rect">
            <a:avLst/>
          </a:prstGeom>
          <a:noFill/>
        </p:spPr>
        <p:txBody>
          <a:bodyPr wrap="none" rtlCol="0">
            <a:spAutoFit/>
          </a:bodyPr>
          <a:lstStyle/>
          <a:p>
            <a:r>
              <a:rPr lang="en-US" sz="1400" dirty="0">
                <a:solidFill>
                  <a:srgbClr val="000000"/>
                </a:solidFill>
                <a:latin typeface="Lora" pitchFamily="2" charset="0"/>
                <a:cs typeface="Arial"/>
              </a:rPr>
              <a:t>Image of Random Forest Classifier diagram</a:t>
            </a:r>
            <a:endParaRPr lang="en-IN" dirty="0"/>
          </a:p>
        </p:txBody>
      </p:sp>
    </p:spTree>
    <p:extLst>
      <p:ext uri="{BB962C8B-B14F-4D97-AF65-F5344CB8AC3E}">
        <p14:creationId xmlns:p14="http://schemas.microsoft.com/office/powerpoint/2010/main" val="4202000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DD5B8-0F04-E157-AE3A-D2B6B71254CC}"/>
              </a:ext>
            </a:extLst>
          </p:cNvPr>
          <p:cNvSpPr>
            <a:spLocks noGrp="1"/>
          </p:cNvSpPr>
          <p:nvPr>
            <p:ph type="title"/>
          </p:nvPr>
        </p:nvSpPr>
        <p:spPr/>
        <p:txBody>
          <a:bodyPr/>
          <a:lstStyle/>
          <a:p>
            <a:r>
              <a:rPr lang="en-US" sz="3200" dirty="0" err="1">
                <a:solidFill>
                  <a:srgbClr val="000000"/>
                </a:solidFill>
                <a:latin typeface="Lora" pitchFamily="2" charset="0"/>
                <a:cs typeface="Arial"/>
              </a:rPr>
              <a:t>GridSearch</a:t>
            </a:r>
            <a:endParaRPr lang="en-IN" dirty="0"/>
          </a:p>
        </p:txBody>
      </p:sp>
      <p:sp>
        <p:nvSpPr>
          <p:cNvPr id="3" name="Text Placeholder 2">
            <a:extLst>
              <a:ext uri="{FF2B5EF4-FFF2-40B4-BE49-F238E27FC236}">
                <a16:creationId xmlns:a16="http://schemas.microsoft.com/office/drawing/2014/main" id="{6CDED3C0-1CE4-4274-14DB-3BB2FE02BD2E}"/>
              </a:ext>
            </a:extLst>
          </p:cNvPr>
          <p:cNvSpPr>
            <a:spLocks noGrp="1"/>
          </p:cNvSpPr>
          <p:nvPr>
            <p:ph type="body" idx="1"/>
          </p:nvPr>
        </p:nvSpPr>
        <p:spPr>
          <a:xfrm>
            <a:off x="713250" y="1272925"/>
            <a:ext cx="4060228" cy="3295800"/>
          </a:xfrm>
        </p:spPr>
        <p:txBody>
          <a:bodyPr/>
          <a:lstStyle/>
          <a:p>
            <a:pPr marL="0" indent="0" eaLnBrk="0" fontAlgn="base" hangingPunct="0">
              <a:spcBef>
                <a:spcPct val="0"/>
              </a:spcBef>
              <a:spcAft>
                <a:spcPct val="0"/>
              </a:spcAft>
              <a:buClrTx/>
              <a:buSzTx/>
              <a:buNone/>
            </a:pPr>
            <a:r>
              <a:rPr lang="en-US" sz="1600" dirty="0">
                <a:solidFill>
                  <a:srgbClr val="000000"/>
                </a:solidFill>
                <a:latin typeface="Lora" pitchFamily="2" charset="0"/>
                <a:cs typeface="Arial"/>
              </a:rPr>
              <a:t>We used </a:t>
            </a:r>
            <a:r>
              <a:rPr lang="en-US" sz="1600" dirty="0" err="1">
                <a:solidFill>
                  <a:srgbClr val="000000"/>
                </a:solidFill>
                <a:latin typeface="Lora" pitchFamily="2" charset="0"/>
                <a:cs typeface="Arial"/>
              </a:rPr>
              <a:t>GridSearch</a:t>
            </a:r>
            <a:r>
              <a:rPr lang="en-US" sz="1600" dirty="0">
                <a:solidFill>
                  <a:srgbClr val="000000"/>
                </a:solidFill>
                <a:latin typeface="Lora" pitchFamily="2" charset="0"/>
                <a:cs typeface="Arial"/>
              </a:rPr>
              <a:t> on the estimator(Random Forest) which automates hyperparameter tuning by trying out different combinations of settings for a machine learning model and selects the one that performs best on a validation set, preventing overfitting and improving model performance.</a:t>
            </a:r>
          </a:p>
          <a:p>
            <a:endParaRPr lang="en-IN" dirty="0"/>
          </a:p>
        </p:txBody>
      </p:sp>
      <p:pic>
        <p:nvPicPr>
          <p:cNvPr id="8" name="Picture 7">
            <a:extLst>
              <a:ext uri="{FF2B5EF4-FFF2-40B4-BE49-F238E27FC236}">
                <a16:creationId xmlns:a16="http://schemas.microsoft.com/office/drawing/2014/main" id="{CCC3B9B2-13D0-F6BE-0EEC-E7B3FA54C762}"/>
              </a:ext>
            </a:extLst>
          </p:cNvPr>
          <p:cNvPicPr>
            <a:picLocks noChangeAspect="1"/>
          </p:cNvPicPr>
          <p:nvPr/>
        </p:nvPicPr>
        <p:blipFill>
          <a:blip r:embed="rId2"/>
          <a:stretch>
            <a:fillRect/>
          </a:stretch>
        </p:blipFill>
        <p:spPr>
          <a:xfrm>
            <a:off x="4842384" y="1585442"/>
            <a:ext cx="3427898" cy="2670766"/>
          </a:xfrm>
          <a:prstGeom prst="rect">
            <a:avLst/>
          </a:prstGeom>
        </p:spPr>
      </p:pic>
    </p:spTree>
    <p:extLst>
      <p:ext uri="{BB962C8B-B14F-4D97-AF65-F5344CB8AC3E}">
        <p14:creationId xmlns:p14="http://schemas.microsoft.com/office/powerpoint/2010/main" val="1837643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9CDE-6A77-9A43-89C8-96E0580D7CD6}"/>
              </a:ext>
            </a:extLst>
          </p:cNvPr>
          <p:cNvSpPr>
            <a:spLocks noGrp="1"/>
          </p:cNvSpPr>
          <p:nvPr>
            <p:ph type="title"/>
          </p:nvPr>
        </p:nvSpPr>
        <p:spPr/>
        <p:txBody>
          <a:bodyPr/>
          <a:lstStyle/>
          <a:p>
            <a:r>
              <a:rPr lang="en-IN" dirty="0"/>
              <a:t>Time domain analysis</a:t>
            </a:r>
          </a:p>
        </p:txBody>
      </p:sp>
      <p:sp>
        <p:nvSpPr>
          <p:cNvPr id="3" name="Text Placeholder 2">
            <a:extLst>
              <a:ext uri="{FF2B5EF4-FFF2-40B4-BE49-F238E27FC236}">
                <a16:creationId xmlns:a16="http://schemas.microsoft.com/office/drawing/2014/main" id="{3DE3845B-110F-D769-E47C-C0CC4DF9999E}"/>
              </a:ext>
            </a:extLst>
          </p:cNvPr>
          <p:cNvSpPr>
            <a:spLocks noGrp="1"/>
          </p:cNvSpPr>
          <p:nvPr>
            <p:ph type="body" idx="1"/>
          </p:nvPr>
        </p:nvSpPr>
        <p:spPr/>
        <p:txBody>
          <a:bodyPr/>
          <a:lstStyle/>
          <a:p>
            <a:r>
              <a:rPr lang="en-US" sz="1600" dirty="0">
                <a:solidFill>
                  <a:srgbClr val="000000"/>
                </a:solidFill>
                <a:latin typeface="Lora" pitchFamily="2" charset="0"/>
                <a:cs typeface="Arial"/>
              </a:rPr>
              <a:t>Focused on first 400 samples of each reading and made 20 length 20 boxes for each calculated RMS, variance, absolute mean, integrated </a:t>
            </a:r>
            <a:r>
              <a:rPr lang="en-US" sz="1600" dirty="0" err="1">
                <a:solidFill>
                  <a:srgbClr val="000000"/>
                </a:solidFill>
                <a:latin typeface="Lora" pitchFamily="2" charset="0"/>
                <a:cs typeface="Arial"/>
              </a:rPr>
              <a:t>emg</a:t>
            </a:r>
            <a:r>
              <a:rPr lang="en-US" sz="1600" dirty="0">
                <a:solidFill>
                  <a:srgbClr val="000000"/>
                </a:solidFill>
                <a:latin typeface="Lora" pitchFamily="2" charset="0"/>
                <a:cs typeface="Arial"/>
              </a:rPr>
              <a:t>. Next, we are grouping them based on each subject; trial wise. Later for first trial of each of the gestures we are modifying the array size from (5,20,4) to (100,4). </a:t>
            </a:r>
          </a:p>
          <a:p>
            <a:r>
              <a:rPr lang="en-US" sz="1600" dirty="0">
                <a:solidFill>
                  <a:srgbClr val="000000"/>
                </a:solidFill>
                <a:latin typeface="Lora" pitchFamily="2" charset="0"/>
                <a:cs typeface="Arial"/>
              </a:rPr>
              <a:t>Later divided the collected data in train and test. And train data further into train and validation.</a:t>
            </a:r>
          </a:p>
          <a:p>
            <a:r>
              <a:rPr lang="en-US" sz="1600" dirty="0">
                <a:solidFill>
                  <a:srgbClr val="000000"/>
                </a:solidFill>
                <a:latin typeface="Lora" pitchFamily="2" charset="0"/>
                <a:cs typeface="Arial"/>
              </a:rPr>
              <a:t>next this dataset used for models(svc and co</a:t>
            </a:r>
            <a:r>
              <a:rPr lang="en-IN" sz="1600" dirty="0" err="1">
                <a:solidFill>
                  <a:srgbClr val="000000"/>
                </a:solidFill>
                <a:latin typeface="Lora" pitchFamily="2" charset="0"/>
                <a:cs typeface="Arial"/>
              </a:rPr>
              <a:t>nvolutional</a:t>
            </a:r>
            <a:r>
              <a:rPr lang="en-IN" sz="1600" dirty="0">
                <a:solidFill>
                  <a:srgbClr val="000000"/>
                </a:solidFill>
                <a:latin typeface="Lora" pitchFamily="2" charset="0"/>
                <a:cs typeface="Arial"/>
              </a:rPr>
              <a:t> neural network</a:t>
            </a:r>
            <a:r>
              <a:rPr lang="en-US" sz="1600" dirty="0">
                <a:solidFill>
                  <a:srgbClr val="000000"/>
                </a:solidFill>
                <a:latin typeface="Lora" pitchFamily="2" charset="0"/>
                <a:cs typeface="Arial"/>
              </a:rPr>
              <a:t>) and training it and compared the accuracies obtained from them. </a:t>
            </a:r>
            <a:endParaRPr lang="en-IN" sz="1600" dirty="0">
              <a:solidFill>
                <a:srgbClr val="000000"/>
              </a:solidFill>
              <a:latin typeface="Lora" pitchFamily="2" charset="0"/>
              <a:cs typeface="Arial"/>
            </a:endParaRPr>
          </a:p>
        </p:txBody>
      </p:sp>
    </p:spTree>
    <p:extLst>
      <p:ext uri="{BB962C8B-B14F-4D97-AF65-F5344CB8AC3E}">
        <p14:creationId xmlns:p14="http://schemas.microsoft.com/office/powerpoint/2010/main" val="145769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7E87-ABCB-C8C0-4A48-5776AD033FED}"/>
              </a:ext>
            </a:extLst>
          </p:cNvPr>
          <p:cNvSpPr>
            <a:spLocks noGrp="1"/>
          </p:cNvSpPr>
          <p:nvPr>
            <p:ph type="title"/>
          </p:nvPr>
        </p:nvSpPr>
        <p:spPr/>
        <p:txBody>
          <a:bodyPr/>
          <a:lstStyle/>
          <a:p>
            <a:pPr algn="l"/>
            <a:r>
              <a:rPr lang="en-US" sz="1600" dirty="0">
                <a:solidFill>
                  <a:srgbClr val="000000"/>
                </a:solidFill>
                <a:latin typeface="Lora" pitchFamily="2" charset="0"/>
                <a:cs typeface="Arial"/>
                <a:sym typeface="Montserrat"/>
              </a:rPr>
              <a:t>RMS (Root Mean Square): Calculates the average strength (magnitude) of an EMG signal by considering both positive and negative fluctuations.</a:t>
            </a:r>
            <a:br>
              <a:rPr lang="en-US" sz="1600" dirty="0">
                <a:solidFill>
                  <a:srgbClr val="000000"/>
                </a:solidFill>
                <a:latin typeface="Lora" pitchFamily="2" charset="0"/>
                <a:cs typeface="Arial"/>
                <a:sym typeface="Montserrat"/>
              </a:rPr>
            </a:br>
            <a:br>
              <a:rPr lang="en-US" sz="1600" dirty="0">
                <a:solidFill>
                  <a:srgbClr val="000000"/>
                </a:solidFill>
                <a:latin typeface="Lora" pitchFamily="2" charset="0"/>
                <a:cs typeface="Arial"/>
                <a:sym typeface="Montserrat"/>
              </a:rPr>
            </a:br>
            <a:r>
              <a:rPr lang="en-US" sz="1600" dirty="0">
                <a:solidFill>
                  <a:srgbClr val="000000"/>
                </a:solidFill>
                <a:latin typeface="Lora" pitchFamily="2" charset="0"/>
                <a:cs typeface="Arial"/>
                <a:sym typeface="Montserrat"/>
              </a:rPr>
              <a:t>Variance: Measures how spread out an EMG signal is, indicating the variability in its amplitude over time.</a:t>
            </a:r>
            <a:br>
              <a:rPr lang="en-US" sz="1600" dirty="0">
                <a:solidFill>
                  <a:srgbClr val="000000"/>
                </a:solidFill>
                <a:latin typeface="Lora" pitchFamily="2" charset="0"/>
                <a:cs typeface="Arial"/>
                <a:sym typeface="Montserrat"/>
              </a:rPr>
            </a:br>
            <a:br>
              <a:rPr lang="en-US" sz="1600" dirty="0">
                <a:solidFill>
                  <a:srgbClr val="000000"/>
                </a:solidFill>
                <a:latin typeface="Lora" pitchFamily="2" charset="0"/>
                <a:cs typeface="Arial"/>
                <a:sym typeface="Montserrat"/>
              </a:rPr>
            </a:br>
            <a:r>
              <a:rPr lang="en-US" sz="1600" dirty="0">
                <a:solidFill>
                  <a:srgbClr val="000000"/>
                </a:solidFill>
                <a:latin typeface="Lora" pitchFamily="2" charset="0"/>
                <a:cs typeface="Arial"/>
                <a:sym typeface="Montserrat"/>
              </a:rPr>
              <a:t>Mean: Represents the average value of an EMG signal over a specified time window.</a:t>
            </a:r>
            <a:br>
              <a:rPr lang="en-US" sz="1600" dirty="0">
                <a:solidFill>
                  <a:srgbClr val="000000"/>
                </a:solidFill>
                <a:latin typeface="Lora" pitchFamily="2" charset="0"/>
                <a:cs typeface="Arial"/>
                <a:sym typeface="Montserrat"/>
              </a:rPr>
            </a:br>
            <a:br>
              <a:rPr lang="en-US" sz="1600" dirty="0">
                <a:solidFill>
                  <a:srgbClr val="000000"/>
                </a:solidFill>
                <a:latin typeface="Lora" pitchFamily="2" charset="0"/>
                <a:cs typeface="Arial"/>
                <a:sym typeface="Montserrat"/>
              </a:rPr>
            </a:br>
            <a:r>
              <a:rPr lang="en-US" sz="1600" dirty="0">
                <a:solidFill>
                  <a:srgbClr val="000000"/>
                </a:solidFill>
                <a:latin typeface="Lora" pitchFamily="2" charset="0"/>
                <a:cs typeface="Arial"/>
                <a:sym typeface="Montserrat"/>
              </a:rPr>
              <a:t>Integrated EMG (</a:t>
            </a:r>
            <a:r>
              <a:rPr lang="en-US" sz="1600" dirty="0" err="1">
                <a:solidFill>
                  <a:srgbClr val="000000"/>
                </a:solidFill>
                <a:latin typeface="Lora" pitchFamily="2" charset="0"/>
                <a:cs typeface="Arial"/>
                <a:sym typeface="Montserrat"/>
              </a:rPr>
              <a:t>iEMG</a:t>
            </a:r>
            <a:r>
              <a:rPr lang="en-US" sz="1600" dirty="0">
                <a:solidFill>
                  <a:srgbClr val="000000"/>
                </a:solidFill>
                <a:latin typeface="Lora" pitchFamily="2" charset="0"/>
                <a:cs typeface="Arial"/>
                <a:sym typeface="Montserrat"/>
              </a:rPr>
              <a:t>): Captures the total electrical activity of an EMG signal within a defined period, reflecting the overall muscle effort.</a:t>
            </a:r>
            <a:br>
              <a:rPr lang="en-US" sz="1600" dirty="0">
                <a:solidFill>
                  <a:srgbClr val="000000"/>
                </a:solidFill>
                <a:latin typeface="Lora" pitchFamily="2" charset="0"/>
                <a:cs typeface="Arial"/>
                <a:sym typeface="Montserrat"/>
              </a:rPr>
            </a:br>
            <a:endParaRPr lang="en-IN" sz="1600" dirty="0">
              <a:solidFill>
                <a:srgbClr val="000000"/>
              </a:solidFill>
              <a:latin typeface="Lora" pitchFamily="2" charset="0"/>
              <a:cs typeface="Arial"/>
              <a:sym typeface="Montserrat"/>
            </a:endParaRPr>
          </a:p>
        </p:txBody>
      </p:sp>
    </p:spTree>
    <p:extLst>
      <p:ext uri="{BB962C8B-B14F-4D97-AF65-F5344CB8AC3E}">
        <p14:creationId xmlns:p14="http://schemas.microsoft.com/office/powerpoint/2010/main" val="2714529905"/>
      </p:ext>
    </p:extLst>
  </p:cSld>
  <p:clrMapOvr>
    <a:overrideClrMapping bg1="lt1" tx1="dk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6FEF-C696-68DF-A517-7C689743FDEA}"/>
              </a:ext>
            </a:extLst>
          </p:cNvPr>
          <p:cNvSpPr>
            <a:spLocks noGrp="1"/>
          </p:cNvSpPr>
          <p:nvPr>
            <p:ph type="title"/>
          </p:nvPr>
        </p:nvSpPr>
        <p:spPr>
          <a:xfrm>
            <a:off x="713224" y="445025"/>
            <a:ext cx="6431495" cy="572700"/>
          </a:xfrm>
        </p:spPr>
        <p:txBody>
          <a:bodyPr/>
          <a:lstStyle/>
          <a:p>
            <a:r>
              <a:rPr lang="en-US" sz="3200" dirty="0">
                <a:solidFill>
                  <a:srgbClr val="000000"/>
                </a:solidFill>
                <a:latin typeface="Lora" pitchFamily="2" charset="0"/>
                <a:cs typeface="Arial"/>
              </a:rPr>
              <a:t>Support Vector Classifier (SVC)</a:t>
            </a:r>
            <a:endParaRPr lang="en-IN" dirty="0"/>
          </a:p>
        </p:txBody>
      </p:sp>
      <p:sp>
        <p:nvSpPr>
          <p:cNvPr id="3" name="Text Placeholder 2">
            <a:extLst>
              <a:ext uri="{FF2B5EF4-FFF2-40B4-BE49-F238E27FC236}">
                <a16:creationId xmlns:a16="http://schemas.microsoft.com/office/drawing/2014/main" id="{FA3D5E20-3881-E0D4-50CE-A95DB0AD21A1}"/>
              </a:ext>
            </a:extLst>
          </p:cNvPr>
          <p:cNvSpPr>
            <a:spLocks noGrp="1"/>
          </p:cNvSpPr>
          <p:nvPr>
            <p:ph type="body" idx="1"/>
          </p:nvPr>
        </p:nvSpPr>
        <p:spPr>
          <a:xfrm>
            <a:off x="713251" y="1272925"/>
            <a:ext cx="3858750" cy="3295800"/>
          </a:xfrm>
        </p:spPr>
        <p:txBody>
          <a:bodyPr/>
          <a:lstStyle/>
          <a:p>
            <a:pPr marL="114300" indent="0" algn="l">
              <a:buNone/>
            </a:pPr>
            <a:r>
              <a:rPr lang="en-US" sz="1600" dirty="0">
                <a:solidFill>
                  <a:srgbClr val="000000"/>
                </a:solidFill>
                <a:latin typeface="Lora" pitchFamily="2" charset="0"/>
                <a:cs typeface="Arial"/>
              </a:rPr>
              <a:t>A powerful algorithm that finds a hyperplane in high-dimensional space to separate different classes in your data. It maximizes the margin between the classes for better classification and is effective for high-dimensional and potentially non-linear data.</a:t>
            </a:r>
            <a:endParaRPr lang="en-IN" sz="1600" dirty="0">
              <a:solidFill>
                <a:srgbClr val="000000"/>
              </a:solidFill>
              <a:latin typeface="Lora" pitchFamily="2" charset="0"/>
              <a:cs typeface="Arial"/>
            </a:endParaRPr>
          </a:p>
          <a:p>
            <a:endParaRPr lang="en-IN" sz="1600" dirty="0">
              <a:solidFill>
                <a:srgbClr val="000000"/>
              </a:solidFill>
              <a:latin typeface="Lora" pitchFamily="2" charset="0"/>
              <a:cs typeface="Arial"/>
            </a:endParaRPr>
          </a:p>
          <a:p>
            <a:endParaRPr lang="en-IN" dirty="0"/>
          </a:p>
        </p:txBody>
      </p:sp>
      <p:pic>
        <p:nvPicPr>
          <p:cNvPr id="5" name="Picture 4">
            <a:extLst>
              <a:ext uri="{FF2B5EF4-FFF2-40B4-BE49-F238E27FC236}">
                <a16:creationId xmlns:a16="http://schemas.microsoft.com/office/drawing/2014/main" id="{0E5A48A0-AA77-2FA7-9067-727603B44635}"/>
              </a:ext>
            </a:extLst>
          </p:cNvPr>
          <p:cNvPicPr>
            <a:picLocks noChangeAspect="1"/>
          </p:cNvPicPr>
          <p:nvPr/>
        </p:nvPicPr>
        <p:blipFill>
          <a:blip r:embed="rId2"/>
          <a:stretch>
            <a:fillRect/>
          </a:stretch>
        </p:blipFill>
        <p:spPr>
          <a:xfrm>
            <a:off x="4676019" y="1131377"/>
            <a:ext cx="4008355" cy="3212623"/>
          </a:xfrm>
          <a:prstGeom prst="rect">
            <a:avLst/>
          </a:prstGeom>
        </p:spPr>
      </p:pic>
    </p:spTree>
    <p:extLst>
      <p:ext uri="{BB962C8B-B14F-4D97-AF65-F5344CB8AC3E}">
        <p14:creationId xmlns:p14="http://schemas.microsoft.com/office/powerpoint/2010/main" val="932330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50D63-3964-1EBC-9640-1F7EC023B4D6}"/>
              </a:ext>
            </a:extLst>
          </p:cNvPr>
          <p:cNvSpPr>
            <a:spLocks noGrp="1"/>
          </p:cNvSpPr>
          <p:nvPr>
            <p:ph type="title"/>
          </p:nvPr>
        </p:nvSpPr>
        <p:spPr>
          <a:xfrm>
            <a:off x="713225" y="445024"/>
            <a:ext cx="6601976" cy="1073809"/>
          </a:xfrm>
        </p:spPr>
        <p:txBody>
          <a:bodyPr/>
          <a:lstStyle/>
          <a:p>
            <a:r>
              <a:rPr lang="en-US" sz="3200" dirty="0">
                <a:solidFill>
                  <a:srgbClr val="000000"/>
                </a:solidFill>
                <a:latin typeface="Lora" pitchFamily="2" charset="0"/>
                <a:cs typeface="Arial"/>
              </a:rPr>
              <a:t>1D Convolutional Neural Network (1D CNN):</a:t>
            </a:r>
            <a:endParaRPr lang="en-IN" dirty="0"/>
          </a:p>
        </p:txBody>
      </p:sp>
      <p:sp>
        <p:nvSpPr>
          <p:cNvPr id="3" name="Text Placeholder 2">
            <a:extLst>
              <a:ext uri="{FF2B5EF4-FFF2-40B4-BE49-F238E27FC236}">
                <a16:creationId xmlns:a16="http://schemas.microsoft.com/office/drawing/2014/main" id="{72D8AD0E-B783-8948-8D07-5A939A313007}"/>
              </a:ext>
            </a:extLst>
          </p:cNvPr>
          <p:cNvSpPr>
            <a:spLocks noGrp="1"/>
          </p:cNvSpPr>
          <p:nvPr>
            <p:ph type="body" idx="1"/>
          </p:nvPr>
        </p:nvSpPr>
        <p:spPr>
          <a:xfrm>
            <a:off x="713225" y="1518833"/>
            <a:ext cx="4711475" cy="3295800"/>
          </a:xfrm>
        </p:spPr>
        <p:txBody>
          <a:bodyPr/>
          <a:lstStyle/>
          <a:p>
            <a:pPr marL="114300" indent="0">
              <a:buNone/>
            </a:pPr>
            <a:r>
              <a:rPr lang="en-US" sz="1600" dirty="0">
                <a:solidFill>
                  <a:srgbClr val="000000"/>
                </a:solidFill>
                <a:latin typeface="Lora" pitchFamily="2" charset="0"/>
                <a:cs typeface="Arial"/>
              </a:rPr>
              <a:t>A type of CNN designed for processing data with one-dimensional </a:t>
            </a:r>
            <a:r>
              <a:rPr lang="en-US" sz="1600" dirty="0">
                <a:solidFill>
                  <a:srgbClr val="000000"/>
                </a:solidFill>
                <a:latin typeface="Lora" pitchFamily="2" charset="0"/>
                <a:cs typeface="Arial"/>
                <a:sym typeface="Vidaloka"/>
              </a:rPr>
              <a:t>structure</a:t>
            </a:r>
            <a:r>
              <a:rPr lang="en-US" sz="1600" dirty="0">
                <a:solidFill>
                  <a:srgbClr val="000000"/>
                </a:solidFill>
                <a:latin typeface="Lora" pitchFamily="2" charset="0"/>
                <a:cs typeface="Arial"/>
              </a:rPr>
              <a:t>, like time series or sensor signals. It uses convolutional layers to extract features along the single dimension, making it useful for tasks like gesture recognition, speech analysis, and signal processing.</a:t>
            </a:r>
          </a:p>
          <a:p>
            <a:pPr marL="114300" indent="0">
              <a:buNone/>
            </a:pPr>
            <a:endParaRPr lang="en-US" sz="1600" dirty="0">
              <a:solidFill>
                <a:srgbClr val="000000"/>
              </a:solidFill>
              <a:latin typeface="Lora" pitchFamily="2" charset="0"/>
              <a:cs typeface="Arial"/>
            </a:endParaRPr>
          </a:p>
          <a:p>
            <a:pPr marL="114300" indent="0">
              <a:buNone/>
            </a:pPr>
            <a:r>
              <a:rPr lang="en-US" sz="1600" dirty="0">
                <a:solidFill>
                  <a:srgbClr val="000000"/>
                </a:solidFill>
                <a:latin typeface="Lora" pitchFamily="2" charset="0"/>
                <a:cs typeface="Arial"/>
              </a:rPr>
              <a:t>1D CNNs are well-suited for tasks where the order of data points matters, such as predicting the next word in a sentence or identifying anomalies in a time series.</a:t>
            </a:r>
          </a:p>
          <a:p>
            <a:endParaRPr lang="en-IN" dirty="0"/>
          </a:p>
        </p:txBody>
      </p:sp>
      <p:pic>
        <p:nvPicPr>
          <p:cNvPr id="5" name="Picture 4">
            <a:extLst>
              <a:ext uri="{FF2B5EF4-FFF2-40B4-BE49-F238E27FC236}">
                <a16:creationId xmlns:a16="http://schemas.microsoft.com/office/drawing/2014/main" id="{4713E2FC-5D87-2468-EC98-7A47A39A177B}"/>
              </a:ext>
            </a:extLst>
          </p:cNvPr>
          <p:cNvPicPr>
            <a:picLocks noChangeAspect="1"/>
          </p:cNvPicPr>
          <p:nvPr/>
        </p:nvPicPr>
        <p:blipFill rotWithShape="1">
          <a:blip r:embed="rId2"/>
          <a:srcRect t="2969"/>
          <a:stretch/>
        </p:blipFill>
        <p:spPr>
          <a:xfrm>
            <a:off x="5248503" y="1198708"/>
            <a:ext cx="3504498" cy="3295800"/>
          </a:xfrm>
          <a:prstGeom prst="rect">
            <a:avLst/>
          </a:prstGeom>
        </p:spPr>
      </p:pic>
    </p:spTree>
    <p:extLst>
      <p:ext uri="{BB962C8B-B14F-4D97-AF65-F5344CB8AC3E}">
        <p14:creationId xmlns:p14="http://schemas.microsoft.com/office/powerpoint/2010/main" val="2288350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6"/>
          <p:cNvSpPr txBox="1">
            <a:spLocks noGrp="1"/>
          </p:cNvSpPr>
          <p:nvPr>
            <p:ph type="title"/>
          </p:nvPr>
        </p:nvSpPr>
        <p:spPr>
          <a:xfrm>
            <a:off x="1606650" y="2715025"/>
            <a:ext cx="5930700"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8C549B"/>
                </a:solidFill>
                <a:latin typeface="Playfair Display Medium"/>
                <a:ea typeface="Playfair Display Medium"/>
                <a:cs typeface="Playfair Display Medium"/>
                <a:sym typeface="Playfair Display Medium"/>
              </a:rPr>
              <a:t>Work Done</a:t>
            </a:r>
            <a:endParaRPr>
              <a:solidFill>
                <a:srgbClr val="8C549B"/>
              </a:solidFill>
              <a:latin typeface="Playfair Display Medium"/>
              <a:ea typeface="Playfair Display Medium"/>
              <a:cs typeface="Playfair Display Medium"/>
              <a:sym typeface="Playfair Display Medium"/>
            </a:endParaRPr>
          </a:p>
        </p:txBody>
      </p:sp>
      <p:sp>
        <p:nvSpPr>
          <p:cNvPr id="310" name="Google Shape;310;p46"/>
          <p:cNvSpPr txBox="1">
            <a:spLocks noGrp="1"/>
          </p:cNvSpPr>
          <p:nvPr>
            <p:ph type="title" idx="2"/>
          </p:nvPr>
        </p:nvSpPr>
        <p:spPr>
          <a:xfrm>
            <a:off x="3746550" y="1574875"/>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F82606-2700-D98D-59B9-7B4C7E1766E9}"/>
              </a:ext>
            </a:extLst>
          </p:cNvPr>
          <p:cNvSpPr txBox="1"/>
          <p:nvPr/>
        </p:nvSpPr>
        <p:spPr>
          <a:xfrm>
            <a:off x="712921" y="1986974"/>
            <a:ext cx="7293767" cy="2031325"/>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Lora" pitchFamily="2" charset="0"/>
              </a:rPr>
              <a:t>Components Required: Arduino UNO, </a:t>
            </a:r>
            <a:r>
              <a:rPr lang="en-US" sz="1800" dirty="0" err="1">
                <a:latin typeface="Lora" pitchFamily="2" charset="0"/>
              </a:rPr>
              <a:t>Myoware</a:t>
            </a:r>
            <a:r>
              <a:rPr lang="en-US" sz="1800" dirty="0">
                <a:latin typeface="Lora" pitchFamily="2" charset="0"/>
              </a:rPr>
              <a:t> EMG sensor, connecting wires, two 9V DC output adapter, electrodes, 5V supply, </a:t>
            </a:r>
            <a:r>
              <a:rPr lang="en-IN" sz="1800" dirty="0">
                <a:latin typeface="Lora" pitchFamily="2" charset="0"/>
              </a:rPr>
              <a:t>hand sanitizer</a:t>
            </a:r>
            <a:r>
              <a:rPr lang="en-US" sz="1800" dirty="0">
                <a:latin typeface="Lora" pitchFamily="2" charset="0"/>
              </a:rPr>
              <a:t> .</a:t>
            </a:r>
          </a:p>
          <a:p>
            <a:pPr marL="285750" indent="-285750">
              <a:buFont typeface="Arial" panose="020B0604020202020204" pitchFamily="34" charset="0"/>
              <a:buChar char="•"/>
            </a:pPr>
            <a:r>
              <a:rPr lang="en-US" sz="1800" dirty="0">
                <a:latin typeface="Lora" pitchFamily="2" charset="0"/>
              </a:rPr>
              <a:t>Using the </a:t>
            </a:r>
            <a:r>
              <a:rPr lang="en-US" sz="1800" dirty="0" err="1">
                <a:latin typeface="Lora" pitchFamily="2" charset="0"/>
              </a:rPr>
              <a:t>analogRead</a:t>
            </a:r>
            <a:r>
              <a:rPr lang="en-US" sz="1800" dirty="0">
                <a:latin typeface="Lora" pitchFamily="2" charset="0"/>
              </a:rPr>
              <a:t>() we are getting the input and using </a:t>
            </a:r>
            <a:r>
              <a:rPr lang="en-US" sz="1800" dirty="0" err="1">
                <a:latin typeface="Lora" pitchFamily="2" charset="0"/>
              </a:rPr>
              <a:t>CoolTerm</a:t>
            </a:r>
            <a:r>
              <a:rPr lang="en-US" sz="1800" dirty="0">
                <a:latin typeface="Lora" pitchFamily="2" charset="0"/>
              </a:rPr>
              <a:t> application, we are storing them into text file. Later we compiled all the data into excel file. Next we fetched it to </a:t>
            </a:r>
            <a:r>
              <a:rPr lang="en-US" sz="1800" dirty="0" err="1">
                <a:latin typeface="Lora" pitchFamily="2" charset="0"/>
              </a:rPr>
              <a:t>Jupyter</a:t>
            </a:r>
            <a:r>
              <a:rPr lang="en-US" sz="1800" dirty="0">
                <a:latin typeface="Lora" pitchFamily="2" charset="0"/>
              </a:rPr>
              <a:t> Notebooks for further operation.</a:t>
            </a:r>
            <a:endParaRPr lang="en-IN" sz="1800" dirty="0">
              <a:latin typeface="Lora" pitchFamily="2" charset="0"/>
            </a:endParaRPr>
          </a:p>
        </p:txBody>
      </p:sp>
      <p:sp>
        <p:nvSpPr>
          <p:cNvPr id="2" name="TextBox 1">
            <a:extLst>
              <a:ext uri="{FF2B5EF4-FFF2-40B4-BE49-F238E27FC236}">
                <a16:creationId xmlns:a16="http://schemas.microsoft.com/office/drawing/2014/main" id="{31E972BF-392C-A13A-E616-B647F6C131E3}"/>
              </a:ext>
            </a:extLst>
          </p:cNvPr>
          <p:cNvSpPr txBox="1"/>
          <p:nvPr/>
        </p:nvSpPr>
        <p:spPr>
          <a:xfrm>
            <a:off x="650929" y="540426"/>
            <a:ext cx="6571282" cy="1077218"/>
          </a:xfrm>
          <a:prstGeom prst="rect">
            <a:avLst/>
          </a:prstGeom>
          <a:noFill/>
        </p:spPr>
        <p:txBody>
          <a:bodyPr wrap="square" rtlCol="0">
            <a:spAutoFit/>
          </a:bodyPr>
          <a:lstStyle/>
          <a:p>
            <a:r>
              <a:rPr lang="en-IN" sz="3200" dirty="0">
                <a:latin typeface="Lora" pitchFamily="2" charset="0"/>
              </a:rPr>
              <a:t>Collection of samples: Components and </a:t>
            </a:r>
            <a:r>
              <a:rPr lang="en-IN" sz="3200" dirty="0">
                <a:latin typeface="Lora" pitchFamily="2" charset="0"/>
                <a:sym typeface="Vidaloka"/>
              </a:rPr>
              <a:t>procedure</a:t>
            </a:r>
            <a:r>
              <a:rPr lang="en-IN" dirty="0"/>
              <a:t> </a:t>
            </a:r>
          </a:p>
        </p:txBody>
      </p:sp>
    </p:spTree>
    <p:extLst>
      <p:ext uri="{BB962C8B-B14F-4D97-AF65-F5344CB8AC3E}">
        <p14:creationId xmlns:p14="http://schemas.microsoft.com/office/powerpoint/2010/main" val="2484798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A80330-782F-7BE0-3D48-91B03D4FEF41}"/>
              </a:ext>
            </a:extLst>
          </p:cNvPr>
          <p:cNvPicPr>
            <a:picLocks noChangeAspect="1"/>
          </p:cNvPicPr>
          <p:nvPr/>
        </p:nvPicPr>
        <p:blipFill rotWithShape="1">
          <a:blip r:embed="rId2"/>
          <a:srcRect l="6306"/>
          <a:stretch/>
        </p:blipFill>
        <p:spPr>
          <a:xfrm>
            <a:off x="905542" y="336952"/>
            <a:ext cx="7332916" cy="4320914"/>
          </a:xfrm>
          <a:prstGeom prst="rect">
            <a:avLst/>
          </a:prstGeom>
        </p:spPr>
      </p:pic>
    </p:spTree>
    <p:extLst>
      <p:ext uri="{BB962C8B-B14F-4D97-AF65-F5344CB8AC3E}">
        <p14:creationId xmlns:p14="http://schemas.microsoft.com/office/powerpoint/2010/main" val="3790510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7"/>
          <p:cNvSpPr txBox="1">
            <a:spLocks noGrp="1"/>
          </p:cNvSpPr>
          <p:nvPr>
            <p:ph type="subTitle" idx="1"/>
          </p:nvPr>
        </p:nvSpPr>
        <p:spPr>
          <a:xfrm>
            <a:off x="660750" y="520509"/>
            <a:ext cx="7822500" cy="4422719"/>
          </a:xfrm>
          <a:prstGeom prst="rect">
            <a:avLst/>
          </a:prstGeom>
        </p:spPr>
        <p:txBody>
          <a:bodyPr spcFirstLastPara="1" wrap="square" lIns="91425" tIns="91425" rIns="91425" bIns="91425" anchor="t" anchorCtr="0">
            <a:spAutoFit/>
          </a:bodyPr>
          <a:lstStyle/>
          <a:p>
            <a:pPr algn="just">
              <a:lnSpc>
                <a:spcPct val="107000"/>
              </a:lnSpc>
              <a:spcAft>
                <a:spcPts val="800"/>
              </a:spcAft>
            </a:pPr>
            <a:r>
              <a:rPr lang="en-US" dirty="0">
                <a:solidFill>
                  <a:schemeClr val="tx1"/>
                </a:solidFill>
                <a:latin typeface="+mn-lt"/>
                <a:ea typeface="Lora"/>
                <a:cs typeface="Lora"/>
                <a:sym typeface="Lora"/>
              </a:rPr>
              <a:t>Gestures we have focused on pattern of 1-2-1 were transition takes place in middle. Each gesture sample is of average 30s with first 10s, in position '1', then 10s in position '2' and last 10s in position '1' again. Dataset comprises of 22 samples each of 5 gesture patterns. Data collection is done by the project mentees. The patterns we are detecting are:</a:t>
            </a:r>
          </a:p>
          <a:p>
            <a:pPr marL="571500" indent="-457200" algn="l">
              <a:lnSpc>
                <a:spcPct val="107000"/>
              </a:lnSpc>
              <a:spcAft>
                <a:spcPts val="800"/>
              </a:spcAft>
              <a:buAutoNum type="alphaLcPeriod"/>
            </a:pPr>
            <a:r>
              <a:rPr lang="en-US" dirty="0">
                <a:solidFill>
                  <a:schemeClr val="tx1"/>
                </a:solidFill>
                <a:latin typeface="+mn-lt"/>
                <a:ea typeface="Lora"/>
                <a:cs typeface="Lora"/>
                <a:sym typeface="Lora"/>
              </a:rPr>
              <a:t>Open palm - Closed fist - Open palm</a:t>
            </a:r>
          </a:p>
          <a:p>
            <a:pPr marL="571500" indent="-457200" algn="l">
              <a:lnSpc>
                <a:spcPct val="107000"/>
              </a:lnSpc>
              <a:spcAft>
                <a:spcPts val="800"/>
              </a:spcAft>
              <a:buAutoNum type="alphaLcPeriod"/>
            </a:pPr>
            <a:r>
              <a:rPr lang="en-US" dirty="0">
                <a:solidFill>
                  <a:schemeClr val="tx1"/>
                </a:solidFill>
                <a:latin typeface="+mn-lt"/>
                <a:ea typeface="Lora"/>
                <a:cs typeface="Lora"/>
                <a:sym typeface="Lora"/>
              </a:rPr>
              <a:t> Closed fist - Radial deviation - Closed fist</a:t>
            </a:r>
          </a:p>
          <a:p>
            <a:pPr marL="571500" indent="-457200" algn="l">
              <a:lnSpc>
                <a:spcPct val="107000"/>
              </a:lnSpc>
              <a:spcAft>
                <a:spcPts val="800"/>
              </a:spcAft>
              <a:buAutoNum type="alphaLcPeriod"/>
            </a:pPr>
            <a:r>
              <a:rPr lang="en-US" dirty="0">
                <a:solidFill>
                  <a:schemeClr val="tx1"/>
                </a:solidFill>
                <a:latin typeface="+mn-lt"/>
                <a:ea typeface="Lora"/>
                <a:cs typeface="Lora"/>
                <a:sym typeface="Lora"/>
              </a:rPr>
              <a:t> Extension - Flexion – Extension</a:t>
            </a:r>
          </a:p>
          <a:p>
            <a:pPr marL="571500" indent="-457200" algn="l">
              <a:lnSpc>
                <a:spcPct val="107000"/>
              </a:lnSpc>
              <a:spcAft>
                <a:spcPts val="800"/>
              </a:spcAft>
              <a:buAutoNum type="alphaLcPeriod"/>
            </a:pPr>
            <a:r>
              <a:rPr lang="en-US" dirty="0">
                <a:solidFill>
                  <a:schemeClr val="tx1"/>
                </a:solidFill>
                <a:latin typeface="+mn-lt"/>
                <a:ea typeface="Lora"/>
                <a:cs typeface="Lora"/>
                <a:sym typeface="Lora"/>
              </a:rPr>
              <a:t>Supination - Pronation – Supination</a:t>
            </a:r>
          </a:p>
          <a:p>
            <a:pPr marL="571500" indent="-457200" algn="l">
              <a:lnSpc>
                <a:spcPct val="107000"/>
              </a:lnSpc>
              <a:spcAft>
                <a:spcPts val="800"/>
              </a:spcAft>
              <a:buAutoNum type="alphaLcPeriod"/>
            </a:pPr>
            <a:r>
              <a:rPr lang="en-US" dirty="0">
                <a:solidFill>
                  <a:schemeClr val="tx1"/>
                </a:solidFill>
                <a:latin typeface="+mn-lt"/>
                <a:ea typeface="Lora"/>
                <a:cs typeface="Lora"/>
                <a:sym typeface="Lora"/>
              </a:rPr>
              <a:t> Pinch grip - Open palm - Pinch grip</a:t>
            </a:r>
            <a:endParaRPr dirty="0">
              <a:solidFill>
                <a:schemeClr val="tx1"/>
              </a:solidFill>
              <a:latin typeface="+mn-lt"/>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4"/>
          <p:cNvSpPr txBox="1">
            <a:spLocks noGrp="1"/>
          </p:cNvSpPr>
          <p:nvPr>
            <p:ph type="title"/>
          </p:nvPr>
        </p:nvSpPr>
        <p:spPr>
          <a:xfrm>
            <a:off x="1606650" y="2357838"/>
            <a:ext cx="5930700"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8C549B"/>
                </a:solidFill>
                <a:latin typeface="Playfair Display Medium"/>
                <a:ea typeface="Playfair Display Medium"/>
                <a:cs typeface="Playfair Display Medium"/>
                <a:sym typeface="Playfair Display Medium"/>
              </a:rPr>
              <a:t>Dataset Generation and Results</a:t>
            </a:r>
            <a:endParaRPr dirty="0">
              <a:solidFill>
                <a:srgbClr val="8C549B"/>
              </a:solidFill>
              <a:latin typeface="Playfair Display Medium"/>
              <a:ea typeface="Playfair Display Medium"/>
              <a:cs typeface="Playfair Display Medium"/>
              <a:sym typeface="Playfair Display Medium"/>
            </a:endParaRPr>
          </a:p>
        </p:txBody>
      </p:sp>
      <p:sp>
        <p:nvSpPr>
          <p:cNvPr id="352" name="Google Shape;352;p54"/>
          <p:cNvSpPr txBox="1">
            <a:spLocks noGrp="1"/>
          </p:cNvSpPr>
          <p:nvPr>
            <p:ph type="title" idx="2"/>
          </p:nvPr>
        </p:nvSpPr>
        <p:spPr>
          <a:xfrm>
            <a:off x="3746550" y="817637"/>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3FBE58-E8D2-6E2E-A8C9-9C09E96DE11B}"/>
              </a:ext>
            </a:extLst>
          </p:cNvPr>
          <p:cNvPicPr>
            <a:picLocks noChangeAspect="1"/>
          </p:cNvPicPr>
          <p:nvPr/>
        </p:nvPicPr>
        <p:blipFill>
          <a:blip r:embed="rId2"/>
          <a:stretch>
            <a:fillRect/>
          </a:stretch>
        </p:blipFill>
        <p:spPr>
          <a:xfrm>
            <a:off x="268849" y="1108128"/>
            <a:ext cx="4095515" cy="2960177"/>
          </a:xfrm>
          <a:prstGeom prst="rect">
            <a:avLst/>
          </a:prstGeom>
        </p:spPr>
      </p:pic>
      <p:pic>
        <p:nvPicPr>
          <p:cNvPr id="16" name="Picture 15">
            <a:extLst>
              <a:ext uri="{FF2B5EF4-FFF2-40B4-BE49-F238E27FC236}">
                <a16:creationId xmlns:a16="http://schemas.microsoft.com/office/drawing/2014/main" id="{6B436B4A-C25D-B5EF-9A51-64D2335ADEED}"/>
              </a:ext>
            </a:extLst>
          </p:cNvPr>
          <p:cNvPicPr>
            <a:picLocks noChangeAspect="1"/>
          </p:cNvPicPr>
          <p:nvPr/>
        </p:nvPicPr>
        <p:blipFill>
          <a:blip r:embed="rId3"/>
          <a:stretch>
            <a:fillRect/>
          </a:stretch>
        </p:blipFill>
        <p:spPr>
          <a:xfrm>
            <a:off x="4649492" y="1111984"/>
            <a:ext cx="4025186" cy="2956321"/>
          </a:xfrm>
          <a:prstGeom prst="rect">
            <a:avLst/>
          </a:prstGeom>
        </p:spPr>
      </p:pic>
    </p:spTree>
    <p:extLst>
      <p:ext uri="{BB962C8B-B14F-4D97-AF65-F5344CB8AC3E}">
        <p14:creationId xmlns:p14="http://schemas.microsoft.com/office/powerpoint/2010/main" val="1286799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523EC4-62E5-F006-081E-C113B790C3ED}"/>
              </a:ext>
            </a:extLst>
          </p:cNvPr>
          <p:cNvPicPr>
            <a:picLocks noChangeAspect="1"/>
          </p:cNvPicPr>
          <p:nvPr/>
        </p:nvPicPr>
        <p:blipFill>
          <a:blip r:embed="rId2"/>
          <a:stretch>
            <a:fillRect/>
          </a:stretch>
        </p:blipFill>
        <p:spPr>
          <a:xfrm>
            <a:off x="358653" y="926793"/>
            <a:ext cx="3892339" cy="2989112"/>
          </a:xfrm>
          <a:prstGeom prst="rect">
            <a:avLst/>
          </a:prstGeom>
        </p:spPr>
      </p:pic>
      <p:pic>
        <p:nvPicPr>
          <p:cNvPr id="6" name="Picture 5">
            <a:extLst>
              <a:ext uri="{FF2B5EF4-FFF2-40B4-BE49-F238E27FC236}">
                <a16:creationId xmlns:a16="http://schemas.microsoft.com/office/drawing/2014/main" id="{421B8694-C672-19F6-71B4-B97D8B5C772E}"/>
              </a:ext>
            </a:extLst>
          </p:cNvPr>
          <p:cNvPicPr>
            <a:picLocks noChangeAspect="1"/>
          </p:cNvPicPr>
          <p:nvPr/>
        </p:nvPicPr>
        <p:blipFill>
          <a:blip r:embed="rId3"/>
          <a:stretch>
            <a:fillRect/>
          </a:stretch>
        </p:blipFill>
        <p:spPr>
          <a:xfrm>
            <a:off x="4642816" y="1032697"/>
            <a:ext cx="3963155" cy="2883208"/>
          </a:xfrm>
          <a:prstGeom prst="rect">
            <a:avLst/>
          </a:prstGeom>
        </p:spPr>
      </p:pic>
    </p:spTree>
    <p:extLst>
      <p:ext uri="{BB962C8B-B14F-4D97-AF65-F5344CB8AC3E}">
        <p14:creationId xmlns:p14="http://schemas.microsoft.com/office/powerpoint/2010/main" val="4036900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4E21A73-DFF5-AFB7-5DA7-8B9C30172629}"/>
              </a:ext>
            </a:extLst>
          </p:cNvPr>
          <p:cNvGraphicFramePr>
            <a:graphicFrameLocks noGrp="1"/>
          </p:cNvGraphicFramePr>
          <p:nvPr>
            <p:extLst>
              <p:ext uri="{D42A27DB-BD31-4B8C-83A1-F6EECF244321}">
                <p14:modId xmlns:p14="http://schemas.microsoft.com/office/powerpoint/2010/main" val="1749889870"/>
              </p:ext>
            </p:extLst>
          </p:nvPr>
        </p:nvGraphicFramePr>
        <p:xfrm>
          <a:off x="4843221" y="285753"/>
          <a:ext cx="2490349" cy="4571994"/>
        </p:xfrm>
        <a:graphic>
          <a:graphicData uri="http://schemas.openxmlformats.org/drawingml/2006/table">
            <a:tbl>
              <a:tblPr firstRow="1" bandRow="1">
                <a:tableStyleId>{F707D016-DE28-4103-8F57-D7495C7F4516}</a:tableStyleId>
              </a:tblPr>
              <a:tblGrid>
                <a:gridCol w="658966">
                  <a:extLst>
                    <a:ext uri="{9D8B030D-6E8A-4147-A177-3AD203B41FA5}">
                      <a16:colId xmlns:a16="http://schemas.microsoft.com/office/drawing/2014/main" val="1802608536"/>
                    </a:ext>
                  </a:extLst>
                </a:gridCol>
                <a:gridCol w="705173">
                  <a:extLst>
                    <a:ext uri="{9D8B030D-6E8A-4147-A177-3AD203B41FA5}">
                      <a16:colId xmlns:a16="http://schemas.microsoft.com/office/drawing/2014/main" val="3657342726"/>
                    </a:ext>
                  </a:extLst>
                </a:gridCol>
                <a:gridCol w="588936">
                  <a:extLst>
                    <a:ext uri="{9D8B030D-6E8A-4147-A177-3AD203B41FA5}">
                      <a16:colId xmlns:a16="http://schemas.microsoft.com/office/drawing/2014/main" val="105565098"/>
                    </a:ext>
                  </a:extLst>
                </a:gridCol>
                <a:gridCol w="537274">
                  <a:extLst>
                    <a:ext uri="{9D8B030D-6E8A-4147-A177-3AD203B41FA5}">
                      <a16:colId xmlns:a16="http://schemas.microsoft.com/office/drawing/2014/main" val="2735418037"/>
                    </a:ext>
                  </a:extLst>
                </a:gridCol>
              </a:tblGrid>
              <a:tr h="217714">
                <a:tc>
                  <a:txBody>
                    <a:bodyPr/>
                    <a:lstStyle/>
                    <a:p>
                      <a:pPr algn="r" fontAlgn="b"/>
                      <a:r>
                        <a:rPr lang="en-IN" sz="1100" b="0" i="0" u="none" strike="noStrike" dirty="0">
                          <a:solidFill>
                            <a:srgbClr val="000000"/>
                          </a:solidFill>
                          <a:effectLst/>
                          <a:latin typeface="Calibri" panose="020F0502020204030204" pitchFamily="34" charset="0"/>
                        </a:rPr>
                        <a:t>0</a:t>
                      </a:r>
                    </a:p>
                  </a:txBody>
                  <a:tcPr marL="6350" marR="6350" marT="6350" marB="0" anchor="b"/>
                </a:tc>
                <a:tc>
                  <a:txBody>
                    <a:bodyPr/>
                    <a:lstStyle/>
                    <a:p>
                      <a:pPr algn="r" fontAlgn="b"/>
                      <a:r>
                        <a:rPr lang="en-IN" sz="1100" b="0" i="0" u="none" strike="noStrike" dirty="0">
                          <a:solidFill>
                            <a:srgbClr val="000000"/>
                          </a:solidFill>
                          <a:effectLst/>
                          <a:latin typeface="Calibri" panose="020F0502020204030204" pitchFamily="34" charset="0"/>
                        </a:rPr>
                        <a:t>1</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a:t>
                      </a:r>
                    </a:p>
                  </a:txBody>
                  <a:tcPr marL="6350" marR="6350" marT="6350" marB="0" anchor="b"/>
                </a:tc>
                <a:extLst>
                  <a:ext uri="{0D108BD9-81ED-4DB2-BD59-A6C34878D82A}">
                    <a16:rowId xmlns:a16="http://schemas.microsoft.com/office/drawing/2014/main" val="3176359839"/>
                  </a:ext>
                </a:extLst>
              </a:tr>
              <a:tr h="217714">
                <a:tc>
                  <a:txBody>
                    <a:bodyPr/>
                    <a:lstStyle/>
                    <a:p>
                      <a:pPr algn="r" fontAlgn="b"/>
                      <a:r>
                        <a:rPr lang="en-IN" sz="1100" b="0" i="0" u="none" strike="noStrike">
                          <a:solidFill>
                            <a:srgbClr val="000000"/>
                          </a:solidFill>
                          <a:effectLst/>
                          <a:latin typeface="Calibri" panose="020F0502020204030204" pitchFamily="34" charset="0"/>
                        </a:rPr>
                        <a:t>644.2914</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2198.997</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198.55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3971</a:t>
                      </a:r>
                    </a:p>
                  </a:txBody>
                  <a:tcPr marL="6350" marR="6350" marT="6350" marB="0" anchor="b"/>
                </a:tc>
                <a:extLst>
                  <a:ext uri="{0D108BD9-81ED-4DB2-BD59-A6C34878D82A}">
                    <a16:rowId xmlns:a16="http://schemas.microsoft.com/office/drawing/2014/main" val="2117649721"/>
                  </a:ext>
                </a:extLst>
              </a:tr>
              <a:tr h="217714">
                <a:tc>
                  <a:txBody>
                    <a:bodyPr/>
                    <a:lstStyle/>
                    <a:p>
                      <a:pPr algn="r" fontAlgn="b"/>
                      <a:r>
                        <a:rPr lang="en-IN" sz="1100" b="0" i="0" u="none" strike="noStrike">
                          <a:solidFill>
                            <a:srgbClr val="000000"/>
                          </a:solidFill>
                          <a:effectLst/>
                          <a:latin typeface="Calibri" panose="020F0502020204030204" pitchFamily="34" charset="0"/>
                        </a:rPr>
                        <a:t>646.5273</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2251.608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199.15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3983</a:t>
                      </a:r>
                    </a:p>
                  </a:txBody>
                  <a:tcPr marL="6350" marR="6350" marT="6350" marB="0" anchor="b"/>
                </a:tc>
                <a:extLst>
                  <a:ext uri="{0D108BD9-81ED-4DB2-BD59-A6C34878D82A}">
                    <a16:rowId xmlns:a16="http://schemas.microsoft.com/office/drawing/2014/main" val="2476295859"/>
                  </a:ext>
                </a:extLst>
              </a:tr>
              <a:tr h="217714">
                <a:tc>
                  <a:txBody>
                    <a:bodyPr/>
                    <a:lstStyle/>
                    <a:p>
                      <a:pPr algn="r" fontAlgn="b"/>
                      <a:r>
                        <a:rPr lang="en-IN" sz="1100" b="0" i="0" u="none" strike="noStrike">
                          <a:solidFill>
                            <a:srgbClr val="000000"/>
                          </a:solidFill>
                          <a:effectLst/>
                          <a:latin typeface="Calibri" panose="020F0502020204030204" pitchFamily="34" charset="0"/>
                        </a:rPr>
                        <a:t>637.6014</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2169.419</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196.45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3929</a:t>
                      </a:r>
                    </a:p>
                  </a:txBody>
                  <a:tcPr marL="6350" marR="6350" marT="6350" marB="0" anchor="b"/>
                </a:tc>
                <a:extLst>
                  <a:ext uri="{0D108BD9-81ED-4DB2-BD59-A6C34878D82A}">
                    <a16:rowId xmlns:a16="http://schemas.microsoft.com/office/drawing/2014/main" val="613876312"/>
                  </a:ext>
                </a:extLst>
              </a:tr>
              <a:tr h="217714">
                <a:tc>
                  <a:txBody>
                    <a:bodyPr/>
                    <a:lstStyle/>
                    <a:p>
                      <a:pPr algn="r" fontAlgn="b"/>
                      <a:r>
                        <a:rPr lang="en-IN" sz="1100" b="0" i="0" u="none" strike="noStrike">
                          <a:solidFill>
                            <a:srgbClr val="000000"/>
                          </a:solidFill>
                          <a:effectLst/>
                          <a:latin typeface="Calibri" panose="020F0502020204030204" pitchFamily="34" charset="0"/>
                        </a:rPr>
                        <a:t>541.5446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9360.366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142.95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2859</a:t>
                      </a:r>
                    </a:p>
                  </a:txBody>
                  <a:tcPr marL="6350" marR="6350" marT="6350" marB="0" anchor="b"/>
                </a:tc>
                <a:extLst>
                  <a:ext uri="{0D108BD9-81ED-4DB2-BD59-A6C34878D82A}">
                    <a16:rowId xmlns:a16="http://schemas.microsoft.com/office/drawing/2014/main" val="642844819"/>
                  </a:ext>
                </a:extLst>
              </a:tr>
              <a:tr h="217714">
                <a:tc>
                  <a:txBody>
                    <a:bodyPr/>
                    <a:lstStyle/>
                    <a:p>
                      <a:pPr algn="r" fontAlgn="b"/>
                      <a:r>
                        <a:rPr lang="en-IN" sz="1100" b="0" i="0" u="none" strike="noStrike">
                          <a:solidFill>
                            <a:srgbClr val="000000"/>
                          </a:solidFill>
                          <a:effectLst/>
                          <a:latin typeface="Calibri" panose="020F0502020204030204" pitchFamily="34" charset="0"/>
                        </a:rPr>
                        <a:t>65.75713</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4.115789</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20.7</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414</a:t>
                      </a:r>
                    </a:p>
                  </a:txBody>
                  <a:tcPr marL="6350" marR="6350" marT="6350" marB="0" anchor="b"/>
                </a:tc>
                <a:extLst>
                  <a:ext uri="{0D108BD9-81ED-4DB2-BD59-A6C34878D82A}">
                    <a16:rowId xmlns:a16="http://schemas.microsoft.com/office/drawing/2014/main" val="3355460813"/>
                  </a:ext>
                </a:extLst>
              </a:tr>
              <a:tr h="217714">
                <a:tc>
                  <a:txBody>
                    <a:bodyPr/>
                    <a:lstStyle/>
                    <a:p>
                      <a:pPr algn="r" fontAlgn="b"/>
                      <a:r>
                        <a:rPr lang="en-IN" sz="1100" b="0" i="0" u="none" strike="noStrike">
                          <a:solidFill>
                            <a:srgbClr val="000000"/>
                          </a:solidFill>
                          <a:effectLst/>
                          <a:latin typeface="Calibri" panose="020F0502020204030204" pitchFamily="34" charset="0"/>
                        </a:rPr>
                        <a:t>66.63708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5.418421</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20.95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419</a:t>
                      </a:r>
                    </a:p>
                  </a:txBody>
                  <a:tcPr marL="6350" marR="6350" marT="6350" marB="0" anchor="b"/>
                </a:tc>
                <a:extLst>
                  <a:ext uri="{0D108BD9-81ED-4DB2-BD59-A6C34878D82A}">
                    <a16:rowId xmlns:a16="http://schemas.microsoft.com/office/drawing/2014/main" val="18180982"/>
                  </a:ext>
                </a:extLst>
              </a:tr>
              <a:tr h="217714">
                <a:tc>
                  <a:txBody>
                    <a:bodyPr/>
                    <a:lstStyle/>
                    <a:p>
                      <a:pPr algn="r" fontAlgn="b"/>
                      <a:r>
                        <a:rPr lang="en-IN" sz="1100" b="0" i="0" u="none" strike="noStrike">
                          <a:solidFill>
                            <a:srgbClr val="000000"/>
                          </a:solidFill>
                          <a:effectLst/>
                          <a:latin typeface="Calibri" panose="020F0502020204030204" pitchFamily="34" charset="0"/>
                        </a:rPr>
                        <a:t>70.22108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4.936842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22.1</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442</a:t>
                      </a:r>
                    </a:p>
                  </a:txBody>
                  <a:tcPr marL="6350" marR="6350" marT="6350" marB="0" anchor="b"/>
                </a:tc>
                <a:extLst>
                  <a:ext uri="{0D108BD9-81ED-4DB2-BD59-A6C34878D82A}">
                    <a16:rowId xmlns:a16="http://schemas.microsoft.com/office/drawing/2014/main" val="2687011459"/>
                  </a:ext>
                </a:extLst>
              </a:tr>
              <a:tr h="217714">
                <a:tc>
                  <a:txBody>
                    <a:bodyPr/>
                    <a:lstStyle/>
                    <a:p>
                      <a:pPr algn="r" fontAlgn="b"/>
                      <a:r>
                        <a:rPr lang="en-IN" sz="1100" b="0" i="0" u="none" strike="noStrike">
                          <a:solidFill>
                            <a:srgbClr val="000000"/>
                          </a:solidFill>
                          <a:effectLst/>
                          <a:latin typeface="Calibri" panose="020F0502020204030204" pitchFamily="34" charset="0"/>
                        </a:rPr>
                        <a:t>66.64458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5.523684</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20.95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419</a:t>
                      </a:r>
                    </a:p>
                  </a:txBody>
                  <a:tcPr marL="6350" marR="6350" marT="6350" marB="0" anchor="b"/>
                </a:tc>
                <a:extLst>
                  <a:ext uri="{0D108BD9-81ED-4DB2-BD59-A6C34878D82A}">
                    <a16:rowId xmlns:a16="http://schemas.microsoft.com/office/drawing/2014/main" val="1961674279"/>
                  </a:ext>
                </a:extLst>
              </a:tr>
              <a:tr h="217714">
                <a:tc>
                  <a:txBody>
                    <a:bodyPr/>
                    <a:lstStyle/>
                    <a:p>
                      <a:pPr algn="r" fontAlgn="b"/>
                      <a:r>
                        <a:rPr lang="en-IN" sz="1100" b="0" i="0" u="none" strike="noStrike">
                          <a:solidFill>
                            <a:srgbClr val="000000"/>
                          </a:solidFill>
                          <a:effectLst/>
                          <a:latin typeface="Calibri" panose="020F0502020204030204" pitchFamily="34" charset="0"/>
                        </a:rPr>
                        <a:t>123.1929</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739.5237</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28.55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571</a:t>
                      </a:r>
                    </a:p>
                  </a:txBody>
                  <a:tcPr marL="6350" marR="6350" marT="6350" marB="0" anchor="b"/>
                </a:tc>
                <a:extLst>
                  <a:ext uri="{0D108BD9-81ED-4DB2-BD59-A6C34878D82A}">
                    <a16:rowId xmlns:a16="http://schemas.microsoft.com/office/drawing/2014/main" val="3025260506"/>
                  </a:ext>
                </a:extLst>
              </a:tr>
              <a:tr h="217714">
                <a:tc>
                  <a:txBody>
                    <a:bodyPr/>
                    <a:lstStyle/>
                    <a:p>
                      <a:pPr algn="r" fontAlgn="b"/>
                      <a:r>
                        <a:rPr lang="en-IN" sz="1100" b="0" i="0" u="none" strike="noStrike">
                          <a:solidFill>
                            <a:srgbClr val="000000"/>
                          </a:solidFill>
                          <a:effectLst/>
                          <a:latin typeface="Calibri" panose="020F0502020204030204" pitchFamily="34" charset="0"/>
                        </a:rPr>
                        <a:t>455.6534</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1924.463</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137.6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2752</a:t>
                      </a:r>
                    </a:p>
                  </a:txBody>
                  <a:tcPr marL="6350" marR="6350" marT="6350" marB="0" anchor="b"/>
                </a:tc>
                <a:extLst>
                  <a:ext uri="{0D108BD9-81ED-4DB2-BD59-A6C34878D82A}">
                    <a16:rowId xmlns:a16="http://schemas.microsoft.com/office/drawing/2014/main" val="109507439"/>
                  </a:ext>
                </a:extLst>
              </a:tr>
              <a:tr h="217714">
                <a:tc>
                  <a:txBody>
                    <a:bodyPr/>
                    <a:lstStyle/>
                    <a:p>
                      <a:pPr algn="r" fontAlgn="b"/>
                      <a:r>
                        <a:rPr lang="en-IN" sz="1100" b="0" i="0" u="none" strike="noStrike">
                          <a:solidFill>
                            <a:srgbClr val="000000"/>
                          </a:solidFill>
                          <a:effectLst/>
                          <a:latin typeface="Calibri" panose="020F0502020204030204" pitchFamily="34" charset="0"/>
                        </a:rPr>
                        <a:t>443.5871</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389.3132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138.95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2779</a:t>
                      </a:r>
                    </a:p>
                  </a:txBody>
                  <a:tcPr marL="6350" marR="6350" marT="6350" marB="0" anchor="b"/>
                </a:tc>
                <a:extLst>
                  <a:ext uri="{0D108BD9-81ED-4DB2-BD59-A6C34878D82A}">
                    <a16:rowId xmlns:a16="http://schemas.microsoft.com/office/drawing/2014/main" val="4043660231"/>
                  </a:ext>
                </a:extLst>
              </a:tr>
              <a:tr h="217714">
                <a:tc>
                  <a:txBody>
                    <a:bodyPr/>
                    <a:lstStyle/>
                    <a:p>
                      <a:pPr algn="r" fontAlgn="b"/>
                      <a:r>
                        <a:rPr lang="en-IN" sz="1100" b="0" i="0" u="none" strike="noStrike" dirty="0">
                          <a:solidFill>
                            <a:srgbClr val="000000"/>
                          </a:solidFill>
                          <a:effectLst/>
                          <a:latin typeface="Calibri" panose="020F0502020204030204" pitchFamily="34" charset="0"/>
                        </a:rPr>
                        <a:t>507.9296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2176.682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154.05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3081</a:t>
                      </a:r>
                    </a:p>
                  </a:txBody>
                  <a:tcPr marL="6350" marR="6350" marT="6350" marB="0" anchor="b"/>
                </a:tc>
                <a:extLst>
                  <a:ext uri="{0D108BD9-81ED-4DB2-BD59-A6C34878D82A}">
                    <a16:rowId xmlns:a16="http://schemas.microsoft.com/office/drawing/2014/main" val="2593081977"/>
                  </a:ext>
                </a:extLst>
              </a:tr>
              <a:tr h="217714">
                <a:tc>
                  <a:txBody>
                    <a:bodyPr/>
                    <a:lstStyle/>
                    <a:p>
                      <a:pPr algn="r" fontAlgn="b"/>
                      <a:r>
                        <a:rPr lang="en-IN" sz="1100" b="0" i="0" u="none" strike="noStrike">
                          <a:solidFill>
                            <a:srgbClr val="000000"/>
                          </a:solidFill>
                          <a:effectLst/>
                          <a:latin typeface="Calibri" panose="020F0502020204030204" pitchFamily="34" charset="0"/>
                        </a:rPr>
                        <a:t>358.1599</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521.8395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111.05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2221</a:t>
                      </a:r>
                    </a:p>
                  </a:txBody>
                  <a:tcPr marL="6350" marR="6350" marT="6350" marB="0" anchor="b"/>
                </a:tc>
                <a:extLst>
                  <a:ext uri="{0D108BD9-81ED-4DB2-BD59-A6C34878D82A}">
                    <a16:rowId xmlns:a16="http://schemas.microsoft.com/office/drawing/2014/main" val="907185862"/>
                  </a:ext>
                </a:extLst>
              </a:tr>
              <a:tr h="217714">
                <a:tc>
                  <a:txBody>
                    <a:bodyPr/>
                    <a:lstStyle/>
                    <a:p>
                      <a:pPr algn="r" fontAlgn="b"/>
                      <a:r>
                        <a:rPr lang="en-IN" sz="1100" b="0" i="0" u="none" strike="noStrike">
                          <a:solidFill>
                            <a:srgbClr val="000000"/>
                          </a:solidFill>
                          <a:effectLst/>
                          <a:latin typeface="Calibri" panose="020F0502020204030204" pitchFamily="34" charset="0"/>
                        </a:rPr>
                        <a:t>98.17332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110.8526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29.3</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586</a:t>
                      </a:r>
                    </a:p>
                  </a:txBody>
                  <a:tcPr marL="6350" marR="6350" marT="6350" marB="0" anchor="b"/>
                </a:tc>
                <a:extLst>
                  <a:ext uri="{0D108BD9-81ED-4DB2-BD59-A6C34878D82A}">
                    <a16:rowId xmlns:a16="http://schemas.microsoft.com/office/drawing/2014/main" val="2986427930"/>
                  </a:ext>
                </a:extLst>
              </a:tr>
              <a:tr h="217714">
                <a:tc>
                  <a:txBody>
                    <a:bodyPr/>
                    <a:lstStyle/>
                    <a:p>
                      <a:pPr algn="r" fontAlgn="b"/>
                      <a:r>
                        <a:rPr lang="en-IN" sz="1100" b="0" i="0" u="none" strike="noStrike">
                          <a:solidFill>
                            <a:srgbClr val="000000"/>
                          </a:solidFill>
                          <a:effectLst/>
                          <a:latin typeface="Calibri" panose="020F0502020204030204" pitchFamily="34" charset="0"/>
                        </a:rPr>
                        <a:t>82.87038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8.576316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26.05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521</a:t>
                      </a:r>
                    </a:p>
                  </a:txBody>
                  <a:tcPr marL="6350" marR="6350" marT="6350" marB="0" anchor="b"/>
                </a:tc>
                <a:extLst>
                  <a:ext uri="{0D108BD9-81ED-4DB2-BD59-A6C34878D82A}">
                    <a16:rowId xmlns:a16="http://schemas.microsoft.com/office/drawing/2014/main" val="304153670"/>
                  </a:ext>
                </a:extLst>
              </a:tr>
              <a:tr h="217714">
                <a:tc>
                  <a:txBody>
                    <a:bodyPr/>
                    <a:lstStyle/>
                    <a:p>
                      <a:pPr algn="r" fontAlgn="b"/>
                      <a:r>
                        <a:rPr lang="en-IN" sz="1100" b="0" i="0" u="none" strike="noStrike">
                          <a:solidFill>
                            <a:srgbClr val="000000"/>
                          </a:solidFill>
                          <a:effectLst/>
                          <a:latin typeface="Calibri" panose="020F0502020204030204" pitchFamily="34" charset="0"/>
                        </a:rPr>
                        <a:t>76.48856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6.997368</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24.05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481</a:t>
                      </a:r>
                    </a:p>
                  </a:txBody>
                  <a:tcPr marL="6350" marR="6350" marT="6350" marB="0" anchor="b"/>
                </a:tc>
                <a:extLst>
                  <a:ext uri="{0D108BD9-81ED-4DB2-BD59-A6C34878D82A}">
                    <a16:rowId xmlns:a16="http://schemas.microsoft.com/office/drawing/2014/main" val="2960660602"/>
                  </a:ext>
                </a:extLst>
              </a:tr>
              <a:tr h="217714">
                <a:tc>
                  <a:txBody>
                    <a:bodyPr/>
                    <a:lstStyle/>
                    <a:p>
                      <a:pPr algn="r" fontAlgn="b"/>
                      <a:r>
                        <a:rPr lang="en-IN" sz="1100" b="0" i="0" u="none" strike="noStrike">
                          <a:solidFill>
                            <a:srgbClr val="000000"/>
                          </a:solidFill>
                          <a:effectLst/>
                          <a:latin typeface="Calibri" panose="020F0502020204030204" pitchFamily="34" charset="0"/>
                        </a:rPr>
                        <a:t>74.83315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8.157895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23.5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470</a:t>
                      </a:r>
                    </a:p>
                  </a:txBody>
                  <a:tcPr marL="6350" marR="6350" marT="6350" marB="0" anchor="b"/>
                </a:tc>
                <a:extLst>
                  <a:ext uri="{0D108BD9-81ED-4DB2-BD59-A6C34878D82A}">
                    <a16:rowId xmlns:a16="http://schemas.microsoft.com/office/drawing/2014/main" val="1741812573"/>
                  </a:ext>
                </a:extLst>
              </a:tr>
              <a:tr h="217714">
                <a:tc>
                  <a:txBody>
                    <a:bodyPr/>
                    <a:lstStyle/>
                    <a:p>
                      <a:pPr algn="r" fontAlgn="b"/>
                      <a:r>
                        <a:rPr lang="en-IN" sz="1100" b="0" i="0" u="none" strike="noStrike">
                          <a:solidFill>
                            <a:srgbClr val="000000"/>
                          </a:solidFill>
                          <a:effectLst/>
                          <a:latin typeface="Calibri" panose="020F0502020204030204" pitchFamily="34" charset="0"/>
                        </a:rPr>
                        <a:t>62.39391</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5.410526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19.6</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392</a:t>
                      </a:r>
                    </a:p>
                  </a:txBody>
                  <a:tcPr marL="6350" marR="6350" marT="6350" marB="0" anchor="b"/>
                </a:tc>
                <a:extLst>
                  <a:ext uri="{0D108BD9-81ED-4DB2-BD59-A6C34878D82A}">
                    <a16:rowId xmlns:a16="http://schemas.microsoft.com/office/drawing/2014/main" val="844063684"/>
                  </a:ext>
                </a:extLst>
              </a:tr>
              <a:tr h="217714">
                <a:tc>
                  <a:txBody>
                    <a:bodyPr/>
                    <a:lstStyle/>
                    <a:p>
                      <a:pPr algn="r" fontAlgn="b"/>
                      <a:r>
                        <a:rPr lang="en-IN" sz="1100" b="0" i="0" u="none" strike="noStrike">
                          <a:solidFill>
                            <a:srgbClr val="000000"/>
                          </a:solidFill>
                          <a:effectLst/>
                          <a:latin typeface="Calibri" panose="020F0502020204030204" pitchFamily="34" charset="0"/>
                        </a:rPr>
                        <a:t>63.45865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7.042105</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19.9</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398</a:t>
                      </a:r>
                    </a:p>
                  </a:txBody>
                  <a:tcPr marL="6350" marR="6350" marT="6350" marB="0" anchor="b"/>
                </a:tc>
                <a:extLst>
                  <a:ext uri="{0D108BD9-81ED-4DB2-BD59-A6C34878D82A}">
                    <a16:rowId xmlns:a16="http://schemas.microsoft.com/office/drawing/2014/main" val="861784758"/>
                  </a:ext>
                </a:extLst>
              </a:tr>
              <a:tr h="217714">
                <a:tc>
                  <a:txBody>
                    <a:bodyPr/>
                    <a:lstStyle/>
                    <a:p>
                      <a:pPr algn="r" fontAlgn="b"/>
                      <a:r>
                        <a:rPr lang="en-IN" sz="1100" b="0" i="0" u="none" strike="noStrike">
                          <a:solidFill>
                            <a:srgbClr val="000000"/>
                          </a:solidFill>
                          <a:effectLst/>
                          <a:latin typeface="Calibri" panose="020F0502020204030204" pitchFamily="34" charset="0"/>
                        </a:rPr>
                        <a:t>64.01172</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8.155263</a:t>
                      </a:r>
                    </a:p>
                  </a:txBody>
                  <a:tcPr marL="6350" marR="6350" marT="6350" marB="0" anchor="b"/>
                </a:tc>
                <a:tc>
                  <a:txBody>
                    <a:bodyPr/>
                    <a:lstStyle/>
                    <a:p>
                      <a:pPr algn="r" fontAlgn="b"/>
                      <a:r>
                        <a:rPr lang="en-IN" sz="1100" b="0" i="0" u="none" strike="noStrike">
                          <a:solidFill>
                            <a:srgbClr val="000000"/>
                          </a:solidFill>
                          <a:effectLst/>
                          <a:latin typeface="Calibri" panose="020F0502020204030204" pitchFamily="34" charset="0"/>
                        </a:rPr>
                        <a:t>20.05</a:t>
                      </a:r>
                    </a:p>
                  </a:txBody>
                  <a:tcPr marL="6350" marR="6350" marT="6350" marB="0" anchor="b"/>
                </a:tc>
                <a:tc>
                  <a:txBody>
                    <a:bodyPr/>
                    <a:lstStyle/>
                    <a:p>
                      <a:pPr algn="r" fontAlgn="b"/>
                      <a:r>
                        <a:rPr lang="en-IN" sz="1100" b="0" i="0" u="none" strike="noStrike" dirty="0">
                          <a:solidFill>
                            <a:srgbClr val="000000"/>
                          </a:solidFill>
                          <a:effectLst/>
                          <a:latin typeface="Calibri" panose="020F0502020204030204" pitchFamily="34" charset="0"/>
                        </a:rPr>
                        <a:t>401</a:t>
                      </a:r>
                    </a:p>
                  </a:txBody>
                  <a:tcPr marL="6350" marR="6350" marT="6350" marB="0" anchor="b"/>
                </a:tc>
                <a:extLst>
                  <a:ext uri="{0D108BD9-81ED-4DB2-BD59-A6C34878D82A}">
                    <a16:rowId xmlns:a16="http://schemas.microsoft.com/office/drawing/2014/main" val="4167658962"/>
                  </a:ext>
                </a:extLst>
              </a:tr>
            </a:tbl>
          </a:graphicData>
        </a:graphic>
      </p:graphicFrame>
      <p:pic>
        <p:nvPicPr>
          <p:cNvPr id="5" name="Picture 4">
            <a:extLst>
              <a:ext uri="{FF2B5EF4-FFF2-40B4-BE49-F238E27FC236}">
                <a16:creationId xmlns:a16="http://schemas.microsoft.com/office/drawing/2014/main" id="{9181923A-FE2A-E36D-7A8F-434D76AFA462}"/>
              </a:ext>
            </a:extLst>
          </p:cNvPr>
          <p:cNvPicPr>
            <a:picLocks noChangeAspect="1"/>
          </p:cNvPicPr>
          <p:nvPr/>
        </p:nvPicPr>
        <p:blipFill>
          <a:blip r:embed="rId2"/>
          <a:stretch>
            <a:fillRect/>
          </a:stretch>
        </p:blipFill>
        <p:spPr>
          <a:xfrm>
            <a:off x="96314" y="821409"/>
            <a:ext cx="4516064" cy="3466815"/>
          </a:xfrm>
          <a:prstGeom prst="rect">
            <a:avLst/>
          </a:prstGeom>
        </p:spPr>
      </p:pic>
      <p:sp>
        <p:nvSpPr>
          <p:cNvPr id="6" name="TextBox 5">
            <a:extLst>
              <a:ext uri="{FF2B5EF4-FFF2-40B4-BE49-F238E27FC236}">
                <a16:creationId xmlns:a16="http://schemas.microsoft.com/office/drawing/2014/main" id="{5E5F3A5B-478A-CA8D-187A-3BF6E086AFB5}"/>
              </a:ext>
            </a:extLst>
          </p:cNvPr>
          <p:cNvSpPr txBox="1"/>
          <p:nvPr/>
        </p:nvSpPr>
        <p:spPr>
          <a:xfrm>
            <a:off x="7570922" y="573436"/>
            <a:ext cx="1476764" cy="954107"/>
          </a:xfrm>
          <a:prstGeom prst="rect">
            <a:avLst/>
          </a:prstGeom>
          <a:noFill/>
        </p:spPr>
        <p:txBody>
          <a:bodyPr wrap="square" rtlCol="0">
            <a:spAutoFit/>
          </a:bodyPr>
          <a:lstStyle/>
          <a:p>
            <a:r>
              <a:rPr lang="en-IN" dirty="0"/>
              <a:t>Some rows from csv containing RMS, variance, mean and </a:t>
            </a:r>
            <a:r>
              <a:rPr lang="en-IN" dirty="0" err="1"/>
              <a:t>iEMG</a:t>
            </a:r>
            <a:endParaRPr lang="en-IN" dirty="0"/>
          </a:p>
        </p:txBody>
      </p:sp>
      <p:sp>
        <p:nvSpPr>
          <p:cNvPr id="7" name="TextBox 6">
            <a:extLst>
              <a:ext uri="{FF2B5EF4-FFF2-40B4-BE49-F238E27FC236}">
                <a16:creationId xmlns:a16="http://schemas.microsoft.com/office/drawing/2014/main" id="{BAE72588-81FE-DF91-3BBC-A33F6BB7E502}"/>
              </a:ext>
            </a:extLst>
          </p:cNvPr>
          <p:cNvSpPr txBox="1"/>
          <p:nvPr/>
        </p:nvSpPr>
        <p:spPr>
          <a:xfrm>
            <a:off x="7503674" y="1914041"/>
            <a:ext cx="1544012" cy="954107"/>
          </a:xfrm>
          <a:prstGeom prst="rect">
            <a:avLst/>
          </a:prstGeom>
          <a:noFill/>
        </p:spPr>
        <p:txBody>
          <a:bodyPr wrap="none" rtlCol="0">
            <a:spAutoFit/>
          </a:bodyPr>
          <a:lstStyle/>
          <a:p>
            <a:r>
              <a:rPr lang="en-IN" dirty="0"/>
              <a:t>0     -  RMS</a:t>
            </a:r>
          </a:p>
          <a:p>
            <a:pPr marL="342900" indent="-342900">
              <a:buAutoNum type="arabicPlain"/>
            </a:pPr>
            <a:r>
              <a:rPr lang="en-IN" dirty="0"/>
              <a:t>-  Variance</a:t>
            </a:r>
          </a:p>
          <a:p>
            <a:pPr marL="342900" indent="-342900">
              <a:buAutoNum type="arabicPlain"/>
            </a:pPr>
            <a:r>
              <a:rPr lang="en-IN" dirty="0"/>
              <a:t>-  Mean(abs)</a:t>
            </a:r>
          </a:p>
          <a:p>
            <a:pPr marL="342900" indent="-342900">
              <a:buAutoNum type="arabicPlain"/>
            </a:pPr>
            <a:r>
              <a:rPr lang="en-IN" dirty="0"/>
              <a:t>-  </a:t>
            </a:r>
            <a:r>
              <a:rPr lang="en-IN" dirty="0" err="1"/>
              <a:t>iEMG</a:t>
            </a:r>
            <a:endParaRPr lang="en-IN" dirty="0"/>
          </a:p>
        </p:txBody>
      </p:sp>
    </p:spTree>
    <p:extLst>
      <p:ext uri="{BB962C8B-B14F-4D97-AF65-F5344CB8AC3E}">
        <p14:creationId xmlns:p14="http://schemas.microsoft.com/office/powerpoint/2010/main" val="3239651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D31DFD05-9611-8065-4398-6916DC980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93" y="860156"/>
            <a:ext cx="4192291" cy="314421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65DC97F4-A41C-89B8-27DB-86017AB40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2130" y="860156"/>
            <a:ext cx="4317477" cy="31442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C86EB6D-7C87-FFDA-F3F3-E69A16FBEA52}"/>
              </a:ext>
            </a:extLst>
          </p:cNvPr>
          <p:cNvSpPr txBox="1"/>
          <p:nvPr/>
        </p:nvSpPr>
        <p:spPr>
          <a:xfrm>
            <a:off x="402956" y="4176793"/>
            <a:ext cx="5028941" cy="523220"/>
          </a:xfrm>
          <a:prstGeom prst="rect">
            <a:avLst/>
          </a:prstGeom>
          <a:noFill/>
        </p:spPr>
        <p:txBody>
          <a:bodyPr wrap="none" rtlCol="0">
            <a:spAutoFit/>
          </a:bodyPr>
          <a:lstStyle/>
          <a:p>
            <a:r>
              <a:rPr lang="en-IN" dirty="0" err="1"/>
              <a:t>op_cl_opi</a:t>
            </a:r>
            <a:r>
              <a:rPr lang="en-IN" dirty="0"/>
              <a:t>: refers to open close open gesture for </a:t>
            </a:r>
            <a:r>
              <a:rPr lang="en-IN" dirty="0" err="1"/>
              <a:t>i</a:t>
            </a:r>
            <a:r>
              <a:rPr lang="en-IN" dirty="0"/>
              <a:t> </a:t>
            </a:r>
            <a:r>
              <a:rPr lang="en-IN" dirty="0" err="1"/>
              <a:t>th</a:t>
            </a:r>
            <a:r>
              <a:rPr lang="en-IN" dirty="0"/>
              <a:t> subject</a:t>
            </a:r>
          </a:p>
          <a:p>
            <a:r>
              <a:rPr lang="en-IN" dirty="0" err="1"/>
              <a:t>cl_rd_cli</a:t>
            </a:r>
            <a:r>
              <a:rPr lang="en-IN" dirty="0"/>
              <a:t>: refers to closed radial closed gesture for </a:t>
            </a:r>
            <a:r>
              <a:rPr lang="en-IN" dirty="0" err="1"/>
              <a:t>i</a:t>
            </a:r>
            <a:r>
              <a:rPr lang="en-IN" dirty="0"/>
              <a:t> </a:t>
            </a:r>
            <a:r>
              <a:rPr lang="en-IN" dirty="0" err="1"/>
              <a:t>th</a:t>
            </a:r>
            <a:r>
              <a:rPr lang="en-IN" dirty="0"/>
              <a:t> subject</a:t>
            </a:r>
          </a:p>
        </p:txBody>
      </p:sp>
    </p:spTree>
    <p:extLst>
      <p:ext uri="{BB962C8B-B14F-4D97-AF65-F5344CB8AC3E}">
        <p14:creationId xmlns:p14="http://schemas.microsoft.com/office/powerpoint/2010/main" val="3461712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 name="Picture 2">
            <a:extLst>
              <a:ext uri="{FF2B5EF4-FFF2-40B4-BE49-F238E27FC236}">
                <a16:creationId xmlns:a16="http://schemas.microsoft.com/office/drawing/2014/main" id="{2366C659-87AB-09D2-9E04-E9B797352B3E}"/>
              </a:ext>
            </a:extLst>
          </p:cNvPr>
          <p:cNvPicPr>
            <a:picLocks noChangeAspect="1"/>
          </p:cNvPicPr>
          <p:nvPr/>
        </p:nvPicPr>
        <p:blipFill>
          <a:blip r:embed="rId3"/>
          <a:stretch>
            <a:fillRect/>
          </a:stretch>
        </p:blipFill>
        <p:spPr>
          <a:xfrm>
            <a:off x="149097" y="802887"/>
            <a:ext cx="5538768" cy="3901104"/>
          </a:xfrm>
          <a:prstGeom prst="rect">
            <a:avLst/>
          </a:prstGeom>
        </p:spPr>
      </p:pic>
      <p:sp>
        <p:nvSpPr>
          <p:cNvPr id="4" name="TextBox 3">
            <a:extLst>
              <a:ext uri="{FF2B5EF4-FFF2-40B4-BE49-F238E27FC236}">
                <a16:creationId xmlns:a16="http://schemas.microsoft.com/office/drawing/2014/main" id="{4CD75227-E1E6-2881-D632-BF5C894CB7C2}"/>
              </a:ext>
            </a:extLst>
          </p:cNvPr>
          <p:cNvSpPr txBox="1"/>
          <p:nvPr/>
        </p:nvSpPr>
        <p:spPr>
          <a:xfrm>
            <a:off x="748707" y="439509"/>
            <a:ext cx="2802370" cy="307777"/>
          </a:xfrm>
          <a:prstGeom prst="rect">
            <a:avLst/>
          </a:prstGeom>
          <a:noFill/>
        </p:spPr>
        <p:txBody>
          <a:bodyPr wrap="none" rtlCol="0">
            <a:spAutoFit/>
          </a:bodyPr>
          <a:lstStyle/>
          <a:p>
            <a:r>
              <a:rPr lang="en-IN" dirty="0"/>
              <a:t>Same Gesture Different Subjects</a:t>
            </a:r>
          </a:p>
        </p:txBody>
      </p:sp>
      <p:graphicFrame>
        <p:nvGraphicFramePr>
          <p:cNvPr id="6" name="Table 5">
            <a:extLst>
              <a:ext uri="{FF2B5EF4-FFF2-40B4-BE49-F238E27FC236}">
                <a16:creationId xmlns:a16="http://schemas.microsoft.com/office/drawing/2014/main" id="{F96FDA3C-0494-BAFD-0C46-753BDB30FC35}"/>
              </a:ext>
            </a:extLst>
          </p:cNvPr>
          <p:cNvGraphicFramePr>
            <a:graphicFrameLocks noGrp="1"/>
          </p:cNvGraphicFramePr>
          <p:nvPr>
            <p:extLst>
              <p:ext uri="{D42A27DB-BD31-4B8C-83A1-F6EECF244321}">
                <p14:modId xmlns:p14="http://schemas.microsoft.com/office/powerpoint/2010/main" val="3905272324"/>
              </p:ext>
            </p:extLst>
          </p:nvPr>
        </p:nvGraphicFramePr>
        <p:xfrm>
          <a:off x="5869911" y="316421"/>
          <a:ext cx="3194736" cy="4511171"/>
        </p:xfrm>
        <a:graphic>
          <a:graphicData uri="http://schemas.openxmlformats.org/drawingml/2006/table">
            <a:tbl>
              <a:tblPr firstRow="1" bandRow="1">
                <a:tableStyleId>{F707D016-DE28-4103-8F57-D7495C7F4516}</a:tableStyleId>
              </a:tblPr>
              <a:tblGrid>
                <a:gridCol w="1597368">
                  <a:extLst>
                    <a:ext uri="{9D8B030D-6E8A-4147-A177-3AD203B41FA5}">
                      <a16:colId xmlns:a16="http://schemas.microsoft.com/office/drawing/2014/main" val="3596111129"/>
                    </a:ext>
                  </a:extLst>
                </a:gridCol>
                <a:gridCol w="1597368">
                  <a:extLst>
                    <a:ext uri="{9D8B030D-6E8A-4147-A177-3AD203B41FA5}">
                      <a16:colId xmlns:a16="http://schemas.microsoft.com/office/drawing/2014/main" val="2627805055"/>
                    </a:ext>
                  </a:extLst>
                </a:gridCol>
              </a:tblGrid>
              <a:tr h="791495">
                <a:tc>
                  <a:txBody>
                    <a:bodyPr/>
                    <a:lstStyle/>
                    <a:p>
                      <a:r>
                        <a:rPr lang="en-US" sz="1400" b="0" i="0" u="none" strike="noStrike" cap="none" dirty="0">
                          <a:solidFill>
                            <a:schemeClr val="tx1"/>
                          </a:solidFill>
                          <a:latin typeface="Arial"/>
                          <a:ea typeface="Lora"/>
                          <a:cs typeface="Lora"/>
                          <a:sym typeface="Lora"/>
                        </a:rPr>
                        <a:t>Open palm - Closed fist - Open palm</a:t>
                      </a:r>
                      <a:endParaRPr lang="en-IN" dirty="0"/>
                    </a:p>
                  </a:txBody>
                  <a:tcPr/>
                </a:tc>
                <a:tc>
                  <a:txBody>
                    <a:bodyPr/>
                    <a:lstStyle/>
                    <a:p>
                      <a:r>
                        <a:rPr lang="en-IN" dirty="0" err="1"/>
                        <a:t>op_cl_op</a:t>
                      </a:r>
                      <a:endParaRPr lang="en-IN" dirty="0"/>
                    </a:p>
                  </a:txBody>
                  <a:tcPr/>
                </a:tc>
                <a:extLst>
                  <a:ext uri="{0D108BD9-81ED-4DB2-BD59-A6C34878D82A}">
                    <a16:rowId xmlns:a16="http://schemas.microsoft.com/office/drawing/2014/main" val="3311771084"/>
                  </a:ext>
                </a:extLst>
              </a:tr>
              <a:tr h="9413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1"/>
                          </a:solidFill>
                          <a:latin typeface="Arial"/>
                          <a:ea typeface="Lora"/>
                          <a:cs typeface="Lora"/>
                          <a:sym typeface="Lora"/>
                        </a:rPr>
                        <a:t>Closed fist - Radial deviation -Closed fist</a:t>
                      </a:r>
                    </a:p>
                    <a:p>
                      <a:r>
                        <a:rPr lang="en-US" sz="1400" b="0" i="0" u="none" strike="noStrike" cap="none" dirty="0">
                          <a:solidFill>
                            <a:schemeClr val="tx1"/>
                          </a:solidFill>
                          <a:latin typeface="Arial"/>
                          <a:ea typeface="Lora"/>
                          <a:cs typeface="Lora"/>
                          <a:sym typeface="Lora"/>
                        </a:rPr>
                        <a:t> </a:t>
                      </a:r>
                      <a:endParaRPr lang="en-IN" dirty="0"/>
                    </a:p>
                  </a:txBody>
                  <a:tcPr/>
                </a:tc>
                <a:tc>
                  <a:txBody>
                    <a:bodyPr/>
                    <a:lstStyle/>
                    <a:p>
                      <a:r>
                        <a:rPr lang="en-IN" dirty="0" err="1"/>
                        <a:t>cl_rd_cl</a:t>
                      </a:r>
                      <a:endParaRPr lang="en-IN" dirty="0"/>
                    </a:p>
                  </a:txBody>
                  <a:tcPr/>
                </a:tc>
                <a:extLst>
                  <a:ext uri="{0D108BD9-81ED-4DB2-BD59-A6C34878D82A}">
                    <a16:rowId xmlns:a16="http://schemas.microsoft.com/office/drawing/2014/main" val="1322944204"/>
                  </a:ext>
                </a:extLst>
              </a:tr>
              <a:tr h="9413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1"/>
                          </a:solidFill>
                          <a:latin typeface="Arial"/>
                          <a:ea typeface="Lora"/>
                          <a:cs typeface="Lora"/>
                          <a:sym typeface="Lora"/>
                        </a:rPr>
                        <a:t>Extension - Flexion – Extension</a:t>
                      </a:r>
                    </a:p>
                    <a:p>
                      <a:endParaRPr lang="en-IN" dirty="0"/>
                    </a:p>
                  </a:txBody>
                  <a:tcPr/>
                </a:tc>
                <a:tc>
                  <a:txBody>
                    <a:bodyPr/>
                    <a:lstStyle/>
                    <a:p>
                      <a:r>
                        <a:rPr lang="en-IN" dirty="0" err="1"/>
                        <a:t>ex_fl_ex</a:t>
                      </a:r>
                      <a:endParaRPr lang="en-IN" dirty="0"/>
                    </a:p>
                  </a:txBody>
                  <a:tcPr/>
                </a:tc>
                <a:extLst>
                  <a:ext uri="{0D108BD9-81ED-4DB2-BD59-A6C34878D82A}">
                    <a16:rowId xmlns:a16="http://schemas.microsoft.com/office/drawing/2014/main" val="590670342"/>
                  </a:ext>
                </a:extLst>
              </a:tr>
              <a:tr h="1087159">
                <a:tc>
                  <a:txBody>
                    <a:bodyPr/>
                    <a:lstStyle/>
                    <a:p>
                      <a:pPr marL="114300" algn="l">
                        <a:lnSpc>
                          <a:spcPct val="107000"/>
                        </a:lnSpc>
                        <a:spcAft>
                          <a:spcPts val="800"/>
                        </a:spcAft>
                      </a:pPr>
                      <a:r>
                        <a:rPr lang="en-US" sz="1400" b="0" i="0" u="none" strike="noStrike" cap="none" dirty="0">
                          <a:solidFill>
                            <a:schemeClr val="tx1"/>
                          </a:solidFill>
                          <a:latin typeface="Arial"/>
                          <a:ea typeface="Lora"/>
                          <a:cs typeface="Lora"/>
                          <a:sym typeface="Lora"/>
                        </a:rPr>
                        <a:t>Supination - Pronation – Supination</a:t>
                      </a:r>
                    </a:p>
                    <a:p>
                      <a:endParaRPr lang="en-IN" dirty="0"/>
                    </a:p>
                  </a:txBody>
                  <a:tcPr/>
                </a:tc>
                <a:tc>
                  <a:txBody>
                    <a:bodyPr/>
                    <a:lstStyle/>
                    <a:p>
                      <a:r>
                        <a:rPr lang="en-IN" dirty="0" err="1"/>
                        <a:t>sp_pr_sp</a:t>
                      </a:r>
                      <a:endParaRPr lang="en-IN" dirty="0"/>
                    </a:p>
                  </a:txBody>
                  <a:tcPr/>
                </a:tc>
                <a:extLst>
                  <a:ext uri="{0D108BD9-81ED-4DB2-BD59-A6C34878D82A}">
                    <a16:rowId xmlns:a16="http://schemas.microsoft.com/office/drawing/2014/main" val="2710364035"/>
                  </a:ext>
                </a:extLst>
              </a:tr>
              <a:tr h="738668">
                <a:tc>
                  <a:txBody>
                    <a:bodyPr/>
                    <a:lstStyle/>
                    <a:p>
                      <a:r>
                        <a:rPr lang="en-US" sz="1400" b="0" i="0" u="none" strike="noStrike" cap="none" dirty="0">
                          <a:solidFill>
                            <a:schemeClr val="tx1"/>
                          </a:solidFill>
                          <a:latin typeface="Arial"/>
                          <a:ea typeface="Lora"/>
                          <a:cs typeface="Lora"/>
                          <a:sym typeface="Lora"/>
                        </a:rPr>
                        <a:t>Pinch grip - Open palm - Pinch grip</a:t>
                      </a:r>
                      <a:endParaRPr lang="en-IN" dirty="0"/>
                    </a:p>
                  </a:txBody>
                  <a:tcPr/>
                </a:tc>
                <a:tc>
                  <a:txBody>
                    <a:bodyPr/>
                    <a:lstStyle/>
                    <a:p>
                      <a:r>
                        <a:rPr lang="en-IN" dirty="0" err="1"/>
                        <a:t>pn_op_pn</a:t>
                      </a:r>
                      <a:endParaRPr lang="en-IN" dirty="0"/>
                    </a:p>
                  </a:txBody>
                  <a:tcPr/>
                </a:tc>
                <a:extLst>
                  <a:ext uri="{0D108BD9-81ED-4DB2-BD59-A6C34878D82A}">
                    <a16:rowId xmlns:a16="http://schemas.microsoft.com/office/drawing/2014/main" val="229415148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C6A22EA6-4CEB-6C70-EE11-64F4896EA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78" y="767166"/>
            <a:ext cx="4326611" cy="3244958"/>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07BADEF9-5DF6-7E1C-2A66-BDF33B3B9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2112" y="767166"/>
            <a:ext cx="4326611" cy="32449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D1E1319-9B35-A62C-B1D6-44AAF557EF3A}"/>
              </a:ext>
            </a:extLst>
          </p:cNvPr>
          <p:cNvSpPr txBox="1"/>
          <p:nvPr/>
        </p:nvSpPr>
        <p:spPr>
          <a:xfrm>
            <a:off x="255721" y="4161295"/>
            <a:ext cx="5028941" cy="738664"/>
          </a:xfrm>
          <a:prstGeom prst="rect">
            <a:avLst/>
          </a:prstGeom>
          <a:noFill/>
        </p:spPr>
        <p:txBody>
          <a:bodyPr wrap="none" rtlCol="0">
            <a:spAutoFit/>
          </a:bodyPr>
          <a:lstStyle/>
          <a:p>
            <a:r>
              <a:rPr lang="en-IN" dirty="0" err="1"/>
              <a:t>op_cl_opi</a:t>
            </a:r>
            <a:r>
              <a:rPr lang="en-IN" dirty="0"/>
              <a:t>: refers to open close open gesture for </a:t>
            </a:r>
            <a:r>
              <a:rPr lang="en-IN" dirty="0" err="1"/>
              <a:t>i</a:t>
            </a:r>
            <a:r>
              <a:rPr lang="en-IN" dirty="0"/>
              <a:t> </a:t>
            </a:r>
            <a:r>
              <a:rPr lang="en-IN" dirty="0" err="1"/>
              <a:t>th</a:t>
            </a:r>
            <a:r>
              <a:rPr lang="en-IN" dirty="0"/>
              <a:t> subject</a:t>
            </a:r>
          </a:p>
          <a:p>
            <a:r>
              <a:rPr lang="en-IN" dirty="0" err="1"/>
              <a:t>cl_rd_cli</a:t>
            </a:r>
            <a:r>
              <a:rPr lang="en-IN" dirty="0"/>
              <a:t>: refers to closed radial closed gesture for </a:t>
            </a:r>
            <a:r>
              <a:rPr lang="en-IN" dirty="0" err="1"/>
              <a:t>i</a:t>
            </a:r>
            <a:r>
              <a:rPr lang="en-IN" dirty="0"/>
              <a:t> </a:t>
            </a:r>
            <a:r>
              <a:rPr lang="en-IN" dirty="0" err="1"/>
              <a:t>th</a:t>
            </a:r>
            <a:r>
              <a:rPr lang="en-IN" dirty="0"/>
              <a:t> subject</a:t>
            </a:r>
          </a:p>
          <a:p>
            <a:r>
              <a:rPr lang="en-IN" dirty="0"/>
              <a:t>and likewise</a:t>
            </a:r>
          </a:p>
        </p:txBody>
      </p:sp>
    </p:spTree>
    <p:extLst>
      <p:ext uri="{BB962C8B-B14F-4D97-AF65-F5344CB8AC3E}">
        <p14:creationId xmlns:p14="http://schemas.microsoft.com/office/powerpoint/2010/main" val="3643202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A9139B-473C-639A-3727-87670BE48CB7}"/>
              </a:ext>
            </a:extLst>
          </p:cNvPr>
          <p:cNvPicPr>
            <a:picLocks noChangeAspect="1"/>
          </p:cNvPicPr>
          <p:nvPr/>
        </p:nvPicPr>
        <p:blipFill>
          <a:blip r:embed="rId2"/>
          <a:stretch>
            <a:fillRect/>
          </a:stretch>
        </p:blipFill>
        <p:spPr>
          <a:xfrm>
            <a:off x="374374" y="691873"/>
            <a:ext cx="5405417" cy="4020447"/>
          </a:xfrm>
          <a:prstGeom prst="rect">
            <a:avLst/>
          </a:prstGeom>
        </p:spPr>
      </p:pic>
      <p:sp>
        <p:nvSpPr>
          <p:cNvPr id="6" name="TextBox 5">
            <a:extLst>
              <a:ext uri="{FF2B5EF4-FFF2-40B4-BE49-F238E27FC236}">
                <a16:creationId xmlns:a16="http://schemas.microsoft.com/office/drawing/2014/main" id="{2B4E9F06-CA2E-0AB0-DF93-F0039C57D0AB}"/>
              </a:ext>
            </a:extLst>
          </p:cNvPr>
          <p:cNvSpPr txBox="1"/>
          <p:nvPr/>
        </p:nvSpPr>
        <p:spPr>
          <a:xfrm>
            <a:off x="3038335" y="384096"/>
            <a:ext cx="2741456" cy="307777"/>
          </a:xfrm>
          <a:prstGeom prst="rect">
            <a:avLst/>
          </a:prstGeom>
          <a:noFill/>
        </p:spPr>
        <p:txBody>
          <a:bodyPr wrap="none" rtlCol="0">
            <a:spAutoFit/>
          </a:bodyPr>
          <a:lstStyle/>
          <a:p>
            <a:r>
              <a:rPr lang="en-IN" dirty="0"/>
              <a:t>Same Person different Gestures</a:t>
            </a:r>
          </a:p>
        </p:txBody>
      </p:sp>
      <p:graphicFrame>
        <p:nvGraphicFramePr>
          <p:cNvPr id="4" name="Table 3">
            <a:extLst>
              <a:ext uri="{FF2B5EF4-FFF2-40B4-BE49-F238E27FC236}">
                <a16:creationId xmlns:a16="http://schemas.microsoft.com/office/drawing/2014/main" id="{F45F4465-2210-118B-45AC-9B18443D3A13}"/>
              </a:ext>
            </a:extLst>
          </p:cNvPr>
          <p:cNvGraphicFramePr>
            <a:graphicFrameLocks noGrp="1"/>
          </p:cNvGraphicFramePr>
          <p:nvPr>
            <p:extLst>
              <p:ext uri="{D42A27DB-BD31-4B8C-83A1-F6EECF244321}">
                <p14:modId xmlns:p14="http://schemas.microsoft.com/office/powerpoint/2010/main" val="3194981942"/>
              </p:ext>
            </p:extLst>
          </p:nvPr>
        </p:nvGraphicFramePr>
        <p:xfrm>
          <a:off x="5834978" y="316164"/>
          <a:ext cx="3194736" cy="4511171"/>
        </p:xfrm>
        <a:graphic>
          <a:graphicData uri="http://schemas.openxmlformats.org/drawingml/2006/table">
            <a:tbl>
              <a:tblPr firstRow="1" bandRow="1">
                <a:tableStyleId>{F707D016-DE28-4103-8F57-D7495C7F4516}</a:tableStyleId>
              </a:tblPr>
              <a:tblGrid>
                <a:gridCol w="1597368">
                  <a:extLst>
                    <a:ext uri="{9D8B030D-6E8A-4147-A177-3AD203B41FA5}">
                      <a16:colId xmlns:a16="http://schemas.microsoft.com/office/drawing/2014/main" val="2528285372"/>
                    </a:ext>
                  </a:extLst>
                </a:gridCol>
                <a:gridCol w="1597368">
                  <a:extLst>
                    <a:ext uri="{9D8B030D-6E8A-4147-A177-3AD203B41FA5}">
                      <a16:colId xmlns:a16="http://schemas.microsoft.com/office/drawing/2014/main" val="200774136"/>
                    </a:ext>
                  </a:extLst>
                </a:gridCol>
              </a:tblGrid>
              <a:tr h="791495">
                <a:tc>
                  <a:txBody>
                    <a:bodyPr/>
                    <a:lstStyle/>
                    <a:p>
                      <a:r>
                        <a:rPr lang="en-US" sz="1400" b="0" i="0" u="none" strike="noStrike" cap="none" dirty="0">
                          <a:solidFill>
                            <a:schemeClr val="tx1"/>
                          </a:solidFill>
                          <a:latin typeface="Arial"/>
                          <a:ea typeface="Lora"/>
                          <a:cs typeface="Lora"/>
                          <a:sym typeface="Lora"/>
                        </a:rPr>
                        <a:t>Open palm - Closed fist - Open palm</a:t>
                      </a:r>
                      <a:endParaRPr lang="en-IN" dirty="0"/>
                    </a:p>
                  </a:txBody>
                  <a:tcPr/>
                </a:tc>
                <a:tc>
                  <a:txBody>
                    <a:bodyPr/>
                    <a:lstStyle/>
                    <a:p>
                      <a:r>
                        <a:rPr lang="en-IN" dirty="0" err="1"/>
                        <a:t>op_cl_op</a:t>
                      </a:r>
                      <a:endParaRPr lang="en-IN" dirty="0"/>
                    </a:p>
                  </a:txBody>
                  <a:tcPr/>
                </a:tc>
                <a:extLst>
                  <a:ext uri="{0D108BD9-81ED-4DB2-BD59-A6C34878D82A}">
                    <a16:rowId xmlns:a16="http://schemas.microsoft.com/office/drawing/2014/main" val="2149474921"/>
                  </a:ext>
                </a:extLst>
              </a:tr>
              <a:tr h="9413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1"/>
                          </a:solidFill>
                          <a:latin typeface="Arial"/>
                          <a:ea typeface="Lora"/>
                          <a:cs typeface="Lora"/>
                          <a:sym typeface="Lora"/>
                        </a:rPr>
                        <a:t>Closed fist - Radial deviation -Closed fist</a:t>
                      </a:r>
                    </a:p>
                    <a:p>
                      <a:r>
                        <a:rPr lang="en-US" sz="1400" b="0" i="0" u="none" strike="noStrike" cap="none" dirty="0">
                          <a:solidFill>
                            <a:schemeClr val="tx1"/>
                          </a:solidFill>
                          <a:latin typeface="Arial"/>
                          <a:ea typeface="Lora"/>
                          <a:cs typeface="Lora"/>
                          <a:sym typeface="Lora"/>
                        </a:rPr>
                        <a:t> </a:t>
                      </a:r>
                      <a:endParaRPr lang="en-IN" dirty="0"/>
                    </a:p>
                  </a:txBody>
                  <a:tcPr/>
                </a:tc>
                <a:tc>
                  <a:txBody>
                    <a:bodyPr/>
                    <a:lstStyle/>
                    <a:p>
                      <a:r>
                        <a:rPr lang="en-IN" dirty="0" err="1"/>
                        <a:t>cl_rd_cl</a:t>
                      </a:r>
                      <a:endParaRPr lang="en-IN" dirty="0"/>
                    </a:p>
                  </a:txBody>
                  <a:tcPr/>
                </a:tc>
                <a:extLst>
                  <a:ext uri="{0D108BD9-81ED-4DB2-BD59-A6C34878D82A}">
                    <a16:rowId xmlns:a16="http://schemas.microsoft.com/office/drawing/2014/main" val="4023861170"/>
                  </a:ext>
                </a:extLst>
              </a:tr>
              <a:tr h="9413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1"/>
                          </a:solidFill>
                          <a:latin typeface="Arial"/>
                          <a:ea typeface="Lora"/>
                          <a:cs typeface="Lora"/>
                          <a:sym typeface="Lora"/>
                        </a:rPr>
                        <a:t>Extension - Flexion – Extension</a:t>
                      </a:r>
                    </a:p>
                    <a:p>
                      <a:endParaRPr lang="en-IN" dirty="0"/>
                    </a:p>
                  </a:txBody>
                  <a:tcPr/>
                </a:tc>
                <a:tc>
                  <a:txBody>
                    <a:bodyPr/>
                    <a:lstStyle/>
                    <a:p>
                      <a:r>
                        <a:rPr lang="en-IN" dirty="0" err="1"/>
                        <a:t>ex_fl_ex</a:t>
                      </a:r>
                      <a:endParaRPr lang="en-IN" dirty="0"/>
                    </a:p>
                  </a:txBody>
                  <a:tcPr/>
                </a:tc>
                <a:extLst>
                  <a:ext uri="{0D108BD9-81ED-4DB2-BD59-A6C34878D82A}">
                    <a16:rowId xmlns:a16="http://schemas.microsoft.com/office/drawing/2014/main" val="1296902050"/>
                  </a:ext>
                </a:extLst>
              </a:tr>
              <a:tr h="1087159">
                <a:tc>
                  <a:txBody>
                    <a:bodyPr/>
                    <a:lstStyle/>
                    <a:p>
                      <a:pPr marL="114300" algn="l">
                        <a:lnSpc>
                          <a:spcPct val="107000"/>
                        </a:lnSpc>
                        <a:spcAft>
                          <a:spcPts val="800"/>
                        </a:spcAft>
                      </a:pPr>
                      <a:r>
                        <a:rPr lang="en-US" sz="1400" b="0" i="0" u="none" strike="noStrike" cap="none" dirty="0">
                          <a:solidFill>
                            <a:schemeClr val="tx1"/>
                          </a:solidFill>
                          <a:latin typeface="Arial"/>
                          <a:ea typeface="Lora"/>
                          <a:cs typeface="Lora"/>
                          <a:sym typeface="Lora"/>
                        </a:rPr>
                        <a:t>Supination - Pronation – Supination</a:t>
                      </a:r>
                    </a:p>
                    <a:p>
                      <a:endParaRPr lang="en-IN" dirty="0"/>
                    </a:p>
                  </a:txBody>
                  <a:tcPr/>
                </a:tc>
                <a:tc>
                  <a:txBody>
                    <a:bodyPr/>
                    <a:lstStyle/>
                    <a:p>
                      <a:r>
                        <a:rPr lang="en-IN" dirty="0" err="1"/>
                        <a:t>sp_pr_sp</a:t>
                      </a:r>
                      <a:endParaRPr lang="en-IN" dirty="0"/>
                    </a:p>
                  </a:txBody>
                  <a:tcPr/>
                </a:tc>
                <a:extLst>
                  <a:ext uri="{0D108BD9-81ED-4DB2-BD59-A6C34878D82A}">
                    <a16:rowId xmlns:a16="http://schemas.microsoft.com/office/drawing/2014/main" val="4181287113"/>
                  </a:ext>
                </a:extLst>
              </a:tr>
              <a:tr h="738668">
                <a:tc>
                  <a:txBody>
                    <a:bodyPr/>
                    <a:lstStyle/>
                    <a:p>
                      <a:r>
                        <a:rPr lang="en-US" sz="1400" b="0" i="0" u="none" strike="noStrike" cap="none" dirty="0">
                          <a:solidFill>
                            <a:schemeClr val="tx1"/>
                          </a:solidFill>
                          <a:latin typeface="Arial"/>
                          <a:ea typeface="Lora"/>
                          <a:cs typeface="Lora"/>
                          <a:sym typeface="Lora"/>
                        </a:rPr>
                        <a:t>Pinch grip - Open palm - Pinch grip</a:t>
                      </a:r>
                      <a:endParaRPr lang="en-IN" dirty="0"/>
                    </a:p>
                  </a:txBody>
                  <a:tcPr/>
                </a:tc>
                <a:tc>
                  <a:txBody>
                    <a:bodyPr/>
                    <a:lstStyle/>
                    <a:p>
                      <a:r>
                        <a:rPr lang="en-IN" dirty="0" err="1"/>
                        <a:t>pn_op_pn</a:t>
                      </a:r>
                      <a:endParaRPr lang="en-IN" dirty="0"/>
                    </a:p>
                  </a:txBody>
                  <a:tcPr/>
                </a:tc>
                <a:extLst>
                  <a:ext uri="{0D108BD9-81ED-4DB2-BD59-A6C34878D82A}">
                    <a16:rowId xmlns:a16="http://schemas.microsoft.com/office/drawing/2014/main" val="2436426942"/>
                  </a:ext>
                </a:extLst>
              </a:tr>
            </a:tbl>
          </a:graphicData>
        </a:graphic>
      </p:graphicFrame>
    </p:spTree>
    <p:extLst>
      <p:ext uri="{BB962C8B-B14F-4D97-AF65-F5344CB8AC3E}">
        <p14:creationId xmlns:p14="http://schemas.microsoft.com/office/powerpoint/2010/main" val="1919134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E2EC3A-CBD7-8D5C-9E8F-9844AF1EE01D}"/>
              </a:ext>
            </a:extLst>
          </p:cNvPr>
          <p:cNvSpPr>
            <a:spLocks noGrp="1"/>
          </p:cNvSpPr>
          <p:nvPr>
            <p:ph type="body" idx="1"/>
          </p:nvPr>
        </p:nvSpPr>
        <p:spPr>
          <a:xfrm>
            <a:off x="713224" y="539500"/>
            <a:ext cx="7392389" cy="977700"/>
          </a:xfrm>
        </p:spPr>
        <p:txBody>
          <a:bodyPr/>
          <a:lstStyle/>
          <a:p>
            <a:r>
              <a:rPr lang="en-IN" dirty="0"/>
              <a:t>Results from frequency domain analysis</a:t>
            </a:r>
          </a:p>
          <a:p>
            <a:endParaRPr lang="en-IN" dirty="0"/>
          </a:p>
        </p:txBody>
      </p:sp>
      <p:pic>
        <p:nvPicPr>
          <p:cNvPr id="4" name="Picture 3">
            <a:extLst>
              <a:ext uri="{FF2B5EF4-FFF2-40B4-BE49-F238E27FC236}">
                <a16:creationId xmlns:a16="http://schemas.microsoft.com/office/drawing/2014/main" id="{74BAFE33-85B1-4219-2A62-4874D0F5BE29}"/>
              </a:ext>
            </a:extLst>
          </p:cNvPr>
          <p:cNvPicPr>
            <a:picLocks noChangeAspect="1"/>
          </p:cNvPicPr>
          <p:nvPr/>
        </p:nvPicPr>
        <p:blipFill>
          <a:blip r:embed="rId2"/>
          <a:stretch>
            <a:fillRect/>
          </a:stretch>
        </p:blipFill>
        <p:spPr>
          <a:xfrm>
            <a:off x="643331" y="1453603"/>
            <a:ext cx="2463927" cy="2406774"/>
          </a:xfrm>
          <a:prstGeom prst="rect">
            <a:avLst/>
          </a:prstGeom>
        </p:spPr>
      </p:pic>
      <p:pic>
        <p:nvPicPr>
          <p:cNvPr id="5" name="Picture 4">
            <a:extLst>
              <a:ext uri="{FF2B5EF4-FFF2-40B4-BE49-F238E27FC236}">
                <a16:creationId xmlns:a16="http://schemas.microsoft.com/office/drawing/2014/main" id="{6F760FA5-9D7C-24C5-6714-40CC50CDF8DF}"/>
              </a:ext>
            </a:extLst>
          </p:cNvPr>
          <p:cNvPicPr>
            <a:picLocks noChangeAspect="1"/>
          </p:cNvPicPr>
          <p:nvPr/>
        </p:nvPicPr>
        <p:blipFill>
          <a:blip r:embed="rId3"/>
          <a:stretch>
            <a:fillRect/>
          </a:stretch>
        </p:blipFill>
        <p:spPr>
          <a:xfrm>
            <a:off x="3294136" y="3171077"/>
            <a:ext cx="4369025" cy="1092256"/>
          </a:xfrm>
          <a:prstGeom prst="rect">
            <a:avLst/>
          </a:prstGeom>
        </p:spPr>
      </p:pic>
      <p:pic>
        <p:nvPicPr>
          <p:cNvPr id="7" name="Picture 6">
            <a:extLst>
              <a:ext uri="{FF2B5EF4-FFF2-40B4-BE49-F238E27FC236}">
                <a16:creationId xmlns:a16="http://schemas.microsoft.com/office/drawing/2014/main" id="{4D020832-D9DD-6D7F-2AB6-9F72E112B39D}"/>
              </a:ext>
            </a:extLst>
          </p:cNvPr>
          <p:cNvPicPr>
            <a:picLocks noChangeAspect="1"/>
          </p:cNvPicPr>
          <p:nvPr/>
        </p:nvPicPr>
        <p:blipFill>
          <a:blip r:embed="rId4"/>
          <a:stretch>
            <a:fillRect/>
          </a:stretch>
        </p:blipFill>
        <p:spPr>
          <a:xfrm>
            <a:off x="3294136" y="1088413"/>
            <a:ext cx="4095961" cy="1968601"/>
          </a:xfrm>
          <a:prstGeom prst="rect">
            <a:avLst/>
          </a:prstGeom>
        </p:spPr>
      </p:pic>
    </p:spTree>
    <p:extLst>
      <p:ext uri="{BB962C8B-B14F-4D97-AF65-F5344CB8AC3E}">
        <p14:creationId xmlns:p14="http://schemas.microsoft.com/office/powerpoint/2010/main" val="1544747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D9604C-97B5-F727-AF4E-FE64A74F513F}"/>
              </a:ext>
            </a:extLst>
          </p:cNvPr>
          <p:cNvSpPr>
            <a:spLocks noGrp="1"/>
          </p:cNvSpPr>
          <p:nvPr>
            <p:ph type="body" idx="1"/>
          </p:nvPr>
        </p:nvSpPr>
        <p:spPr>
          <a:xfrm>
            <a:off x="713225" y="539500"/>
            <a:ext cx="7795344" cy="977700"/>
          </a:xfrm>
        </p:spPr>
        <p:txBody>
          <a:bodyPr/>
          <a:lstStyle/>
          <a:p>
            <a:r>
              <a:rPr lang="en-IN" dirty="0"/>
              <a:t>Results from time domain analysis</a:t>
            </a:r>
          </a:p>
          <a:p>
            <a:endParaRPr lang="en-IN" dirty="0"/>
          </a:p>
        </p:txBody>
      </p:sp>
      <p:sp>
        <p:nvSpPr>
          <p:cNvPr id="5" name="TextBox 4">
            <a:extLst>
              <a:ext uri="{FF2B5EF4-FFF2-40B4-BE49-F238E27FC236}">
                <a16:creationId xmlns:a16="http://schemas.microsoft.com/office/drawing/2014/main" id="{2A15C76E-2E1D-D696-3F88-EDEC85D25430}"/>
              </a:ext>
            </a:extLst>
          </p:cNvPr>
          <p:cNvSpPr txBox="1"/>
          <p:nvPr/>
        </p:nvSpPr>
        <p:spPr>
          <a:xfrm>
            <a:off x="4415394" y="1028350"/>
            <a:ext cx="3903633" cy="1600438"/>
          </a:xfrm>
          <a:prstGeom prst="rect">
            <a:avLst/>
          </a:prstGeom>
          <a:noFill/>
        </p:spPr>
        <p:txBody>
          <a:bodyPr wrap="none" rtlCol="0">
            <a:spAutoFit/>
          </a:bodyPr>
          <a:lstStyle/>
          <a:p>
            <a:endParaRPr lang="en-US" dirty="0"/>
          </a:p>
          <a:p>
            <a:endParaRPr lang="en-US" dirty="0"/>
          </a:p>
          <a:p>
            <a:r>
              <a:rPr lang="en-US" dirty="0"/>
              <a:t>parameters:</a:t>
            </a:r>
          </a:p>
          <a:p>
            <a:r>
              <a:rPr lang="en-US" dirty="0" err="1"/>
              <a:t>batch_size</a:t>
            </a:r>
            <a:r>
              <a:rPr lang="en-US" dirty="0"/>
              <a:t>=200,epochs=100,</a:t>
            </a:r>
          </a:p>
          <a:p>
            <a:r>
              <a:rPr lang="en-US" dirty="0" err="1"/>
              <a:t>early_stopping</a:t>
            </a:r>
            <a:r>
              <a:rPr lang="en-US" dirty="0"/>
              <a:t>: </a:t>
            </a:r>
            <a:r>
              <a:rPr lang="en-US" dirty="0" err="1"/>
              <a:t>min_delta</a:t>
            </a:r>
            <a:r>
              <a:rPr lang="en-US" dirty="0"/>
              <a:t>=0.001, patience=20,</a:t>
            </a:r>
          </a:p>
          <a:p>
            <a:r>
              <a:rPr lang="en-US" dirty="0" err="1"/>
              <a:t>restore_best_weights</a:t>
            </a:r>
            <a:r>
              <a:rPr lang="en-US" dirty="0"/>
              <a:t>=true,</a:t>
            </a:r>
          </a:p>
          <a:p>
            <a:endParaRPr lang="en-IN" dirty="0"/>
          </a:p>
        </p:txBody>
      </p:sp>
      <p:sp>
        <p:nvSpPr>
          <p:cNvPr id="7" name="TextBox 6">
            <a:extLst>
              <a:ext uri="{FF2B5EF4-FFF2-40B4-BE49-F238E27FC236}">
                <a16:creationId xmlns:a16="http://schemas.microsoft.com/office/drawing/2014/main" id="{25B8D2C3-7522-58B0-D20E-1E4B93E5399E}"/>
              </a:ext>
            </a:extLst>
          </p:cNvPr>
          <p:cNvSpPr txBox="1"/>
          <p:nvPr/>
        </p:nvSpPr>
        <p:spPr>
          <a:xfrm>
            <a:off x="635431" y="1157518"/>
            <a:ext cx="2823209" cy="307777"/>
          </a:xfrm>
          <a:prstGeom prst="rect">
            <a:avLst/>
          </a:prstGeom>
          <a:noFill/>
        </p:spPr>
        <p:txBody>
          <a:bodyPr wrap="none" rtlCol="0">
            <a:spAutoFit/>
          </a:bodyPr>
          <a:lstStyle/>
          <a:p>
            <a:r>
              <a:rPr lang="en-IN" dirty="0"/>
              <a:t>1D CNN loss curve and accuracy</a:t>
            </a:r>
          </a:p>
        </p:txBody>
      </p:sp>
      <p:pic>
        <p:nvPicPr>
          <p:cNvPr id="9" name="Picture 8">
            <a:extLst>
              <a:ext uri="{FF2B5EF4-FFF2-40B4-BE49-F238E27FC236}">
                <a16:creationId xmlns:a16="http://schemas.microsoft.com/office/drawing/2014/main" id="{BC8C1BEF-B3CD-3FB7-8B9D-1558B9CC4BFA}"/>
              </a:ext>
            </a:extLst>
          </p:cNvPr>
          <p:cNvPicPr>
            <a:picLocks noChangeAspect="1"/>
          </p:cNvPicPr>
          <p:nvPr/>
        </p:nvPicPr>
        <p:blipFill>
          <a:blip r:embed="rId2"/>
          <a:stretch>
            <a:fillRect/>
          </a:stretch>
        </p:blipFill>
        <p:spPr>
          <a:xfrm>
            <a:off x="399665" y="1631827"/>
            <a:ext cx="3854102" cy="3088420"/>
          </a:xfrm>
          <a:prstGeom prst="rect">
            <a:avLst/>
          </a:prstGeom>
        </p:spPr>
      </p:pic>
      <p:sp>
        <p:nvSpPr>
          <p:cNvPr id="10" name="TextBox 9">
            <a:extLst>
              <a:ext uri="{FF2B5EF4-FFF2-40B4-BE49-F238E27FC236}">
                <a16:creationId xmlns:a16="http://schemas.microsoft.com/office/drawing/2014/main" id="{79E6815B-6FCA-7A15-B7CC-FA7C7CEB657D}"/>
              </a:ext>
            </a:extLst>
          </p:cNvPr>
          <p:cNvSpPr txBox="1"/>
          <p:nvPr/>
        </p:nvSpPr>
        <p:spPr>
          <a:xfrm>
            <a:off x="4386172" y="2478492"/>
            <a:ext cx="3517310" cy="307777"/>
          </a:xfrm>
          <a:prstGeom prst="rect">
            <a:avLst/>
          </a:prstGeom>
          <a:noFill/>
        </p:spPr>
        <p:txBody>
          <a:bodyPr wrap="none" rtlCol="0">
            <a:spAutoFit/>
          </a:bodyPr>
          <a:lstStyle/>
          <a:p>
            <a:r>
              <a:rPr lang="en-IN" dirty="0"/>
              <a:t>CNN test accuracy : </a:t>
            </a:r>
            <a:r>
              <a:rPr kumimoji="0" lang="en-US" altLang="en-US" sz="1400" b="0" i="0" u="none" strike="noStrike" cap="none" normalizeH="0" baseline="0" dirty="0">
                <a:ln>
                  <a:noFill/>
                </a:ln>
                <a:solidFill>
                  <a:schemeClr val="tx1"/>
                </a:solidFill>
                <a:effectLst/>
                <a:latin typeface="var(--jp-code-font-family)"/>
              </a:rPr>
              <a:t>0.23125000298023224</a:t>
            </a:r>
            <a:endParaRPr lang="en-IN" dirty="0"/>
          </a:p>
        </p:txBody>
      </p:sp>
      <p:sp>
        <p:nvSpPr>
          <p:cNvPr id="3" name="TextBox 2">
            <a:extLst>
              <a:ext uri="{FF2B5EF4-FFF2-40B4-BE49-F238E27FC236}">
                <a16:creationId xmlns:a16="http://schemas.microsoft.com/office/drawing/2014/main" id="{61445CE6-5206-7560-EAC5-EF44B9FD14E4}"/>
              </a:ext>
            </a:extLst>
          </p:cNvPr>
          <p:cNvSpPr txBox="1"/>
          <p:nvPr/>
        </p:nvSpPr>
        <p:spPr>
          <a:xfrm>
            <a:off x="4456656" y="3967616"/>
            <a:ext cx="3237509" cy="523220"/>
          </a:xfrm>
          <a:prstGeom prst="rect">
            <a:avLst/>
          </a:prstGeom>
          <a:noFill/>
        </p:spPr>
        <p:txBody>
          <a:bodyPr wrap="square" rtlCol="0">
            <a:spAutoFit/>
          </a:bodyPr>
          <a:lstStyle/>
          <a:p>
            <a:r>
              <a:rPr lang="en-IN" dirty="0"/>
              <a:t>There are signs of overfitting which can be reduced by taking more inputs. </a:t>
            </a:r>
          </a:p>
        </p:txBody>
      </p:sp>
      <p:sp>
        <p:nvSpPr>
          <p:cNvPr id="6" name="TextBox 5">
            <a:extLst>
              <a:ext uri="{FF2B5EF4-FFF2-40B4-BE49-F238E27FC236}">
                <a16:creationId xmlns:a16="http://schemas.microsoft.com/office/drawing/2014/main" id="{AF8540A1-F382-847A-E31D-5A13E52AB0B2}"/>
              </a:ext>
            </a:extLst>
          </p:cNvPr>
          <p:cNvSpPr txBox="1"/>
          <p:nvPr/>
        </p:nvSpPr>
        <p:spPr>
          <a:xfrm>
            <a:off x="4386172" y="2856028"/>
            <a:ext cx="3378479" cy="954107"/>
          </a:xfrm>
          <a:prstGeom prst="rect">
            <a:avLst/>
          </a:prstGeom>
          <a:noFill/>
        </p:spPr>
        <p:txBody>
          <a:bodyPr wrap="square" rtlCol="0">
            <a:spAutoFit/>
          </a:bodyPr>
          <a:lstStyle/>
          <a:p>
            <a:r>
              <a:rPr lang="en-IN" dirty="0"/>
              <a:t>Batch normalization reduced the validation loss significantly</a:t>
            </a:r>
          </a:p>
          <a:p>
            <a:r>
              <a:rPr lang="en-IN" dirty="0"/>
              <a:t>Dropouts were kept in two layers with rate 0.2 and 0.3</a:t>
            </a:r>
          </a:p>
        </p:txBody>
      </p:sp>
    </p:spTree>
    <p:extLst>
      <p:ext uri="{BB962C8B-B14F-4D97-AF65-F5344CB8AC3E}">
        <p14:creationId xmlns:p14="http://schemas.microsoft.com/office/powerpoint/2010/main" val="668163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D6B7FF-B54C-5AC3-B938-BE901CB4B687}"/>
              </a:ext>
            </a:extLst>
          </p:cNvPr>
          <p:cNvPicPr>
            <a:picLocks noChangeAspect="1"/>
          </p:cNvPicPr>
          <p:nvPr/>
        </p:nvPicPr>
        <p:blipFill>
          <a:blip r:embed="rId2"/>
          <a:stretch>
            <a:fillRect/>
          </a:stretch>
        </p:blipFill>
        <p:spPr>
          <a:xfrm>
            <a:off x="271993" y="411538"/>
            <a:ext cx="3454578" cy="3930852"/>
          </a:xfrm>
          <a:prstGeom prst="rect">
            <a:avLst/>
          </a:prstGeom>
        </p:spPr>
      </p:pic>
      <p:sp>
        <p:nvSpPr>
          <p:cNvPr id="8" name="TextBox 7">
            <a:extLst>
              <a:ext uri="{FF2B5EF4-FFF2-40B4-BE49-F238E27FC236}">
                <a16:creationId xmlns:a16="http://schemas.microsoft.com/office/drawing/2014/main" id="{F067165B-EFEE-4FDC-F3FF-852E1B2207E3}"/>
              </a:ext>
            </a:extLst>
          </p:cNvPr>
          <p:cNvSpPr txBox="1"/>
          <p:nvPr/>
        </p:nvSpPr>
        <p:spPr>
          <a:xfrm>
            <a:off x="402956" y="4342390"/>
            <a:ext cx="3336170" cy="523220"/>
          </a:xfrm>
          <a:prstGeom prst="rect">
            <a:avLst/>
          </a:prstGeom>
          <a:noFill/>
        </p:spPr>
        <p:txBody>
          <a:bodyPr wrap="none" rtlCol="0">
            <a:spAutoFit/>
          </a:bodyPr>
          <a:lstStyle/>
          <a:p>
            <a:r>
              <a:rPr kumimoji="0" lang="en-US" altLang="en-US" sz="1400" b="0" i="0" u="none" strike="noStrike" cap="none" normalizeH="0" baseline="0" dirty="0">
                <a:ln>
                  <a:noFill/>
                </a:ln>
                <a:solidFill>
                  <a:schemeClr val="tx1"/>
                </a:solidFill>
                <a:effectLst/>
                <a:latin typeface="var(--jp-code-font-family)"/>
              </a:rPr>
              <a:t>CNN Train Accuracy: 0.1666666716337204</a:t>
            </a:r>
            <a:r>
              <a:rPr kumimoji="0" lang="en-US" altLang="en-US" sz="8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lang="en-IN" dirty="0"/>
          </a:p>
        </p:txBody>
      </p:sp>
      <p:sp>
        <p:nvSpPr>
          <p:cNvPr id="12" name="TextBox 11">
            <a:extLst>
              <a:ext uri="{FF2B5EF4-FFF2-40B4-BE49-F238E27FC236}">
                <a16:creationId xmlns:a16="http://schemas.microsoft.com/office/drawing/2014/main" id="{5D673132-8F38-E030-8D45-0BE6AEF4AD6F}"/>
              </a:ext>
            </a:extLst>
          </p:cNvPr>
          <p:cNvSpPr txBox="1"/>
          <p:nvPr/>
        </p:nvSpPr>
        <p:spPr>
          <a:xfrm>
            <a:off x="4572000" y="2154264"/>
            <a:ext cx="3758339" cy="1169551"/>
          </a:xfrm>
          <a:prstGeom prst="rect">
            <a:avLst/>
          </a:prstGeom>
          <a:noFill/>
        </p:spPr>
        <p:txBody>
          <a:bodyPr wrap="square" rtlCol="0">
            <a:spAutoFit/>
          </a:bodyPr>
          <a:lstStyle/>
          <a:p>
            <a:r>
              <a:rPr lang="en-US" dirty="0"/>
              <a:t>The train set results itself requires improvement before testing and we intend to work to improve it.</a:t>
            </a:r>
          </a:p>
          <a:p>
            <a:r>
              <a:rPr lang="en-US" dirty="0"/>
              <a:t>One possible way is to increase the number of signals taken.  </a:t>
            </a:r>
            <a:endParaRPr lang="en-IN" dirty="0"/>
          </a:p>
        </p:txBody>
      </p:sp>
    </p:spTree>
    <p:extLst>
      <p:ext uri="{BB962C8B-B14F-4D97-AF65-F5344CB8AC3E}">
        <p14:creationId xmlns:p14="http://schemas.microsoft.com/office/powerpoint/2010/main" val="2034555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63B923-3075-AF23-111D-F97D33DBF9EA}"/>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EF44EFE4-EBEB-9F94-9777-7A71DC8613CF}"/>
              </a:ext>
            </a:extLst>
          </p:cNvPr>
          <p:cNvPicPr>
            <a:picLocks noChangeAspect="1"/>
          </p:cNvPicPr>
          <p:nvPr/>
        </p:nvPicPr>
        <p:blipFill>
          <a:blip r:embed="rId2"/>
          <a:stretch>
            <a:fillRect/>
          </a:stretch>
        </p:blipFill>
        <p:spPr>
          <a:xfrm>
            <a:off x="4678018" y="619449"/>
            <a:ext cx="3988005" cy="2044805"/>
          </a:xfrm>
          <a:prstGeom prst="rect">
            <a:avLst/>
          </a:prstGeom>
        </p:spPr>
      </p:pic>
      <p:pic>
        <p:nvPicPr>
          <p:cNvPr id="10" name="Picture 9">
            <a:extLst>
              <a:ext uri="{FF2B5EF4-FFF2-40B4-BE49-F238E27FC236}">
                <a16:creationId xmlns:a16="http://schemas.microsoft.com/office/drawing/2014/main" id="{D74D9703-E09C-9EDD-04FD-ED1BC46CFB13}"/>
              </a:ext>
            </a:extLst>
          </p:cNvPr>
          <p:cNvPicPr>
            <a:picLocks noChangeAspect="1"/>
          </p:cNvPicPr>
          <p:nvPr/>
        </p:nvPicPr>
        <p:blipFill>
          <a:blip r:embed="rId3"/>
          <a:stretch>
            <a:fillRect/>
          </a:stretch>
        </p:blipFill>
        <p:spPr>
          <a:xfrm>
            <a:off x="260128" y="477507"/>
            <a:ext cx="4311872" cy="3505380"/>
          </a:xfrm>
          <a:prstGeom prst="rect">
            <a:avLst/>
          </a:prstGeom>
        </p:spPr>
      </p:pic>
      <p:sp>
        <p:nvSpPr>
          <p:cNvPr id="11" name="TextBox 10">
            <a:extLst>
              <a:ext uri="{FF2B5EF4-FFF2-40B4-BE49-F238E27FC236}">
                <a16:creationId xmlns:a16="http://schemas.microsoft.com/office/drawing/2014/main" id="{03C195CA-E69D-63ED-EC69-B4C86FF57A53}"/>
              </a:ext>
            </a:extLst>
          </p:cNvPr>
          <p:cNvSpPr txBox="1"/>
          <p:nvPr/>
        </p:nvSpPr>
        <p:spPr>
          <a:xfrm>
            <a:off x="260128" y="4044880"/>
            <a:ext cx="2206053" cy="307777"/>
          </a:xfrm>
          <a:prstGeom prst="rect">
            <a:avLst/>
          </a:prstGeom>
          <a:noFill/>
        </p:spPr>
        <p:txBody>
          <a:bodyPr wrap="none" rtlCol="0">
            <a:spAutoFit/>
          </a:bodyPr>
          <a:lstStyle/>
          <a:p>
            <a:r>
              <a:rPr lang="en-IN" dirty="0"/>
              <a:t>SVC test accuracy: 0.425</a:t>
            </a:r>
          </a:p>
        </p:txBody>
      </p:sp>
    </p:spTree>
    <p:extLst>
      <p:ext uri="{BB962C8B-B14F-4D97-AF65-F5344CB8AC3E}">
        <p14:creationId xmlns:p14="http://schemas.microsoft.com/office/powerpoint/2010/main" val="4192923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C47AF-5A88-7405-43C0-FFE1A6C9ECA7}"/>
              </a:ext>
            </a:extLst>
          </p:cNvPr>
          <p:cNvSpPr>
            <a:spLocks noGrp="1"/>
          </p:cNvSpPr>
          <p:nvPr>
            <p:ph type="title"/>
          </p:nvPr>
        </p:nvSpPr>
        <p:spPr/>
        <p:txBody>
          <a:bodyPr/>
          <a:lstStyle/>
          <a:p>
            <a:r>
              <a:rPr lang="en-US" dirty="0"/>
              <a:t>Observations :</a:t>
            </a:r>
            <a:br>
              <a:rPr lang="en-US" dirty="0"/>
            </a:br>
            <a:endParaRPr lang="en-IN" dirty="0"/>
          </a:p>
        </p:txBody>
      </p:sp>
      <p:sp>
        <p:nvSpPr>
          <p:cNvPr id="3" name="Text Placeholder 2">
            <a:extLst>
              <a:ext uri="{FF2B5EF4-FFF2-40B4-BE49-F238E27FC236}">
                <a16:creationId xmlns:a16="http://schemas.microsoft.com/office/drawing/2014/main" id="{46A04A9D-955C-E053-84BF-5F7200221498}"/>
              </a:ext>
            </a:extLst>
          </p:cNvPr>
          <p:cNvSpPr>
            <a:spLocks noGrp="1"/>
          </p:cNvSpPr>
          <p:nvPr>
            <p:ph type="body" idx="1"/>
          </p:nvPr>
        </p:nvSpPr>
        <p:spPr/>
        <p:txBody>
          <a:bodyPr/>
          <a:lstStyle/>
          <a:p>
            <a:pPr marL="114300" indent="0">
              <a:buNone/>
            </a:pPr>
            <a:r>
              <a:rPr lang="en-US" sz="1600" dirty="0">
                <a:solidFill>
                  <a:srgbClr val="4D294B"/>
                </a:solidFill>
                <a:latin typeface="Lora"/>
              </a:rPr>
              <a:t>From both the methods, we could only achieve around 40% to 45% accuracy at best. We understand the data points are overlapping thus not giving good results. But, we realize this is due to constraints we unknowingly set before the sample collection was done:</a:t>
            </a:r>
          </a:p>
          <a:p>
            <a:r>
              <a:rPr lang="en-US" sz="1600" dirty="0">
                <a:solidFill>
                  <a:srgbClr val="4D294B"/>
                </a:solidFill>
                <a:latin typeface="Lora"/>
              </a:rPr>
              <a:t>Using combination of two or four instead of one electrode, would have been better for getting unique signatures among the different gestures.</a:t>
            </a:r>
          </a:p>
          <a:p>
            <a:r>
              <a:rPr lang="en-US" sz="1600" dirty="0">
                <a:solidFill>
                  <a:srgbClr val="4D294B"/>
                </a:solidFill>
                <a:latin typeface="Lora"/>
              </a:rPr>
              <a:t> The muscle sensor we used gives rectified and smoothed EMG signal (instead of raw EMG signal), which is easier to work with Arduino UNO, but affects greatly in our classification.</a:t>
            </a:r>
          </a:p>
          <a:p>
            <a:r>
              <a:rPr lang="en-US" sz="1600" dirty="0">
                <a:solidFill>
                  <a:srgbClr val="4D294B"/>
                </a:solidFill>
                <a:latin typeface="Lora"/>
              </a:rPr>
              <a:t>The rectified and smoothed EMG signal works quite well for static gesture detection but for dynamic, makes certain features absent. </a:t>
            </a:r>
            <a:endParaRPr lang="en-IN" sz="1600" dirty="0">
              <a:solidFill>
                <a:srgbClr val="4D294B"/>
              </a:solidFill>
              <a:latin typeface="Lora"/>
            </a:endParaRPr>
          </a:p>
        </p:txBody>
      </p:sp>
    </p:spTree>
    <p:extLst>
      <p:ext uri="{BB962C8B-B14F-4D97-AF65-F5344CB8AC3E}">
        <p14:creationId xmlns:p14="http://schemas.microsoft.com/office/powerpoint/2010/main" val="3390009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60"/>
          <p:cNvSpPr txBox="1">
            <a:spLocks noGrp="1"/>
          </p:cNvSpPr>
          <p:nvPr>
            <p:ph type="title"/>
          </p:nvPr>
        </p:nvSpPr>
        <p:spPr>
          <a:xfrm>
            <a:off x="1606650" y="2715025"/>
            <a:ext cx="5930700"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8C549B"/>
                </a:solidFill>
                <a:latin typeface="Playfair Display Medium"/>
                <a:ea typeface="Playfair Display Medium"/>
                <a:cs typeface="Playfair Display Medium"/>
                <a:sym typeface="Playfair Display Medium"/>
              </a:rPr>
              <a:t>Future Work</a:t>
            </a:r>
            <a:endParaRPr>
              <a:solidFill>
                <a:srgbClr val="8C549B"/>
              </a:solidFill>
              <a:latin typeface="Playfair Display Medium"/>
              <a:ea typeface="Playfair Display Medium"/>
              <a:cs typeface="Playfair Display Medium"/>
              <a:sym typeface="Playfair Display Medium"/>
            </a:endParaRPr>
          </a:p>
        </p:txBody>
      </p:sp>
      <p:sp>
        <p:nvSpPr>
          <p:cNvPr id="390" name="Google Shape;390;p60"/>
          <p:cNvSpPr txBox="1">
            <a:spLocks noGrp="1"/>
          </p:cNvSpPr>
          <p:nvPr>
            <p:ph type="title" idx="2"/>
          </p:nvPr>
        </p:nvSpPr>
        <p:spPr>
          <a:xfrm>
            <a:off x="3746550" y="1574875"/>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61"/>
          <p:cNvSpPr txBox="1">
            <a:spLocks noGrp="1"/>
          </p:cNvSpPr>
          <p:nvPr>
            <p:ph type="subTitle" idx="1"/>
          </p:nvPr>
        </p:nvSpPr>
        <p:spPr>
          <a:xfrm>
            <a:off x="603599" y="1067925"/>
            <a:ext cx="7822500" cy="3554789"/>
          </a:xfrm>
          <a:prstGeom prst="rect">
            <a:avLst/>
          </a:prstGeom>
        </p:spPr>
        <p:txBody>
          <a:bodyPr spcFirstLastPara="1" wrap="square" lIns="91425" tIns="91425" rIns="91425" bIns="91425" anchor="t" anchorCtr="0">
            <a:spAutoFit/>
          </a:bodyPr>
          <a:lstStyle/>
          <a:p>
            <a:pPr marL="101600" lvl="0" indent="0" algn="just" rtl="0">
              <a:lnSpc>
                <a:spcPct val="150000"/>
              </a:lnSpc>
              <a:spcBef>
                <a:spcPts val="0"/>
              </a:spcBef>
              <a:spcAft>
                <a:spcPts val="0"/>
              </a:spcAft>
              <a:buClr>
                <a:srgbClr val="4D294B"/>
              </a:buClr>
              <a:buSzPts val="2000"/>
            </a:pPr>
            <a:r>
              <a:rPr lang="en-US" sz="1800" dirty="0">
                <a:solidFill>
                  <a:srgbClr val="4D294B"/>
                </a:solidFill>
                <a:latin typeface="Lora"/>
                <a:ea typeface="Lora"/>
                <a:cs typeface="Lora"/>
                <a:sym typeface="Lora"/>
              </a:rPr>
              <a:t>The current model that we have presented is based on a few simple gestures, by taking readings of them in a fixed order to show the change in signals given by the muscle.</a:t>
            </a:r>
          </a:p>
          <a:p>
            <a:pPr marL="101600" lvl="0" indent="0" algn="just" rtl="0">
              <a:lnSpc>
                <a:spcPct val="150000"/>
              </a:lnSpc>
              <a:spcBef>
                <a:spcPts val="0"/>
              </a:spcBef>
              <a:spcAft>
                <a:spcPts val="0"/>
              </a:spcAft>
              <a:buClr>
                <a:srgbClr val="4D294B"/>
              </a:buClr>
              <a:buSzPts val="2000"/>
            </a:pPr>
            <a:r>
              <a:rPr lang="en-US" sz="1800" dirty="0">
                <a:solidFill>
                  <a:srgbClr val="4D294B"/>
                </a:solidFill>
                <a:latin typeface="Lora"/>
                <a:ea typeface="Lora"/>
                <a:cs typeface="Lora"/>
                <a:sym typeface="Lora"/>
              </a:rPr>
              <a:t>As we have above stated there are many places for improvement in our current model.</a:t>
            </a:r>
          </a:p>
          <a:p>
            <a:pPr marL="101600" lvl="0" indent="0" algn="just" rtl="0">
              <a:lnSpc>
                <a:spcPct val="150000"/>
              </a:lnSpc>
              <a:spcBef>
                <a:spcPts val="0"/>
              </a:spcBef>
              <a:spcAft>
                <a:spcPts val="0"/>
              </a:spcAft>
              <a:buClr>
                <a:srgbClr val="4D294B"/>
              </a:buClr>
              <a:buSzPts val="2000"/>
            </a:pPr>
            <a:r>
              <a:rPr lang="en-US" sz="1800" dirty="0">
                <a:solidFill>
                  <a:srgbClr val="4D294B"/>
                </a:solidFill>
                <a:latin typeface="Lora"/>
                <a:ea typeface="Lora"/>
                <a:cs typeface="Lora"/>
                <a:sym typeface="Lora"/>
              </a:rPr>
              <a:t>The model could also be made to process real time data to precisely determine the gestures being made.</a:t>
            </a:r>
          </a:p>
          <a:p>
            <a:pPr marL="457200" lvl="0" indent="-355600" algn="just" rtl="0">
              <a:lnSpc>
                <a:spcPct val="150000"/>
              </a:lnSpc>
              <a:spcBef>
                <a:spcPts val="0"/>
              </a:spcBef>
              <a:spcAft>
                <a:spcPts val="0"/>
              </a:spcAft>
              <a:buClr>
                <a:srgbClr val="4D294B"/>
              </a:buClr>
              <a:buSzPts val="2000"/>
              <a:buFont typeface="Lora"/>
              <a:buChar char="●"/>
            </a:pPr>
            <a:endParaRPr lang="en-US" dirty="0">
              <a:solidFill>
                <a:srgbClr val="4D294B"/>
              </a:solidFill>
              <a:latin typeface="Lora"/>
              <a:ea typeface="Lora"/>
              <a:cs typeface="Lora"/>
              <a:sym typeface="Lor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65D8E1-EE47-B2B4-8A3F-8DA8FAB9473C}"/>
              </a:ext>
            </a:extLst>
          </p:cNvPr>
          <p:cNvSpPr>
            <a:spLocks noGrp="1"/>
          </p:cNvSpPr>
          <p:nvPr>
            <p:ph type="body" idx="1"/>
          </p:nvPr>
        </p:nvSpPr>
        <p:spPr>
          <a:xfrm>
            <a:off x="2652087" y="2724761"/>
            <a:ext cx="3839825" cy="977700"/>
          </a:xfrm>
        </p:spPr>
        <p:txBody>
          <a:bodyPr/>
          <a:lstStyle/>
          <a:p>
            <a:pPr algn="ctr"/>
            <a:r>
              <a:rPr lang="en-IN" sz="5000" dirty="0">
                <a:solidFill>
                  <a:srgbClr val="8C549B"/>
                </a:solidFill>
                <a:latin typeface="Playfair Display Medium"/>
              </a:rPr>
              <a:t>Conclusion</a:t>
            </a:r>
          </a:p>
        </p:txBody>
      </p:sp>
      <p:sp>
        <p:nvSpPr>
          <p:cNvPr id="3" name="Google Shape;401;p62">
            <a:extLst>
              <a:ext uri="{FF2B5EF4-FFF2-40B4-BE49-F238E27FC236}">
                <a16:creationId xmlns:a16="http://schemas.microsoft.com/office/drawing/2014/main" id="{970F2741-E4F3-C35D-78FC-5BCAE16210CB}"/>
              </a:ext>
            </a:extLst>
          </p:cNvPr>
          <p:cNvSpPr txBox="1">
            <a:spLocks/>
          </p:cNvSpPr>
          <p:nvPr/>
        </p:nvSpPr>
        <p:spPr>
          <a:xfrm>
            <a:off x="3746550" y="1574875"/>
            <a:ext cx="1650900" cy="978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7000" dirty="0">
                <a:solidFill>
                  <a:schemeClr val="accent1"/>
                </a:solidFill>
                <a:latin typeface="Vidaloka"/>
                <a:sym typeface="Vidaloka"/>
              </a:rPr>
              <a:t>06</a:t>
            </a:r>
          </a:p>
        </p:txBody>
      </p:sp>
    </p:spTree>
    <p:extLst>
      <p:ext uri="{BB962C8B-B14F-4D97-AF65-F5344CB8AC3E}">
        <p14:creationId xmlns:p14="http://schemas.microsoft.com/office/powerpoint/2010/main" val="95217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AD5380-BA95-73C2-D37D-F1CD6B748056}"/>
              </a:ext>
            </a:extLst>
          </p:cNvPr>
          <p:cNvSpPr>
            <a:spLocks noGrp="1"/>
          </p:cNvSpPr>
          <p:nvPr>
            <p:ph type="body" idx="1"/>
          </p:nvPr>
        </p:nvSpPr>
        <p:spPr>
          <a:xfrm>
            <a:off x="628010" y="923850"/>
            <a:ext cx="7717500" cy="3295800"/>
          </a:xfrm>
        </p:spPr>
        <p:txBody>
          <a:bodyPr/>
          <a:lstStyle/>
          <a:p>
            <a:pPr marL="101600" indent="0">
              <a:lnSpc>
                <a:spcPct val="150000"/>
              </a:lnSpc>
              <a:buClr>
                <a:srgbClr val="4D294B"/>
              </a:buClr>
              <a:buSzPts val="2000"/>
              <a:buNone/>
            </a:pPr>
            <a:r>
              <a:rPr lang="en-US" sz="1600" dirty="0">
                <a:solidFill>
                  <a:srgbClr val="4D294B"/>
                </a:solidFill>
                <a:latin typeface="Lora"/>
              </a:rPr>
              <a:t>We got to learn a whole lot of stuff in domains like biomedical signals, machine learning, CNN and likewise. </a:t>
            </a:r>
          </a:p>
          <a:p>
            <a:pPr marL="101600" indent="0">
              <a:lnSpc>
                <a:spcPct val="150000"/>
              </a:lnSpc>
              <a:buClr>
                <a:srgbClr val="4D294B"/>
              </a:buClr>
              <a:buSzPts val="2000"/>
              <a:buNone/>
            </a:pPr>
            <a:r>
              <a:rPr lang="en-US" sz="1600" dirty="0">
                <a:solidFill>
                  <a:srgbClr val="4D294B"/>
                </a:solidFill>
                <a:latin typeface="Lora"/>
              </a:rPr>
              <a:t>We do get a much clearer picture on real world signals and how hard it is to formulate it into some fixed constraints.</a:t>
            </a:r>
          </a:p>
          <a:p>
            <a:pPr marL="101600" indent="0">
              <a:lnSpc>
                <a:spcPct val="150000"/>
              </a:lnSpc>
              <a:buClr>
                <a:srgbClr val="4D294B"/>
              </a:buClr>
              <a:buSzPts val="2000"/>
              <a:buNone/>
            </a:pPr>
            <a:r>
              <a:rPr lang="en-US" sz="1600" dirty="0">
                <a:solidFill>
                  <a:srgbClr val="4D294B"/>
                </a:solidFill>
                <a:latin typeface="Lora"/>
              </a:rPr>
              <a:t> We get a good idea of why sophisticated equipment are essential for better feature/signature detection. </a:t>
            </a:r>
          </a:p>
          <a:p>
            <a:pPr marL="101600" indent="0">
              <a:lnSpc>
                <a:spcPct val="150000"/>
              </a:lnSpc>
              <a:buClr>
                <a:srgbClr val="4D294B"/>
              </a:buClr>
              <a:buSzPts val="2000"/>
              <a:buNone/>
            </a:pPr>
            <a:r>
              <a:rPr lang="en-US" sz="1600" dirty="0">
                <a:solidFill>
                  <a:srgbClr val="4D294B"/>
                </a:solidFill>
                <a:latin typeface="Lora"/>
              </a:rPr>
              <a:t>But it was a somewhat full-filling experience for our first time venturing into this domain.</a:t>
            </a:r>
          </a:p>
          <a:p>
            <a:pPr marL="101600" indent="0">
              <a:lnSpc>
                <a:spcPct val="150000"/>
              </a:lnSpc>
              <a:buClr>
                <a:srgbClr val="4D294B"/>
              </a:buClr>
              <a:buSzPts val="2000"/>
              <a:buNone/>
            </a:pPr>
            <a:r>
              <a:rPr lang="en-US" sz="1600" dirty="0">
                <a:solidFill>
                  <a:srgbClr val="4D294B"/>
                </a:solidFill>
                <a:latin typeface="Lora"/>
              </a:rPr>
              <a:t> We expect our project can help others who are starting it new. </a:t>
            </a:r>
          </a:p>
          <a:p>
            <a:endParaRPr lang="en-IN" sz="1800" dirty="0">
              <a:solidFill>
                <a:srgbClr val="4D294B"/>
              </a:solidFill>
              <a:latin typeface="Lora"/>
            </a:endParaRPr>
          </a:p>
        </p:txBody>
      </p:sp>
    </p:spTree>
    <p:extLst>
      <p:ext uri="{BB962C8B-B14F-4D97-AF65-F5344CB8AC3E}">
        <p14:creationId xmlns:p14="http://schemas.microsoft.com/office/powerpoint/2010/main" val="2278553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1;p62">
            <a:extLst>
              <a:ext uri="{FF2B5EF4-FFF2-40B4-BE49-F238E27FC236}">
                <a16:creationId xmlns:a16="http://schemas.microsoft.com/office/drawing/2014/main" id="{19537468-5288-C4A4-9A73-ACDC83A493DA}"/>
              </a:ext>
            </a:extLst>
          </p:cNvPr>
          <p:cNvSpPr txBox="1">
            <a:spLocks/>
          </p:cNvSpPr>
          <p:nvPr/>
        </p:nvSpPr>
        <p:spPr>
          <a:xfrm>
            <a:off x="3746550" y="1574875"/>
            <a:ext cx="1650900" cy="978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7000" dirty="0">
                <a:solidFill>
                  <a:schemeClr val="accent1"/>
                </a:solidFill>
                <a:latin typeface="Vidaloka"/>
                <a:sym typeface="Vidaloka"/>
              </a:rPr>
              <a:t>07</a:t>
            </a:r>
          </a:p>
        </p:txBody>
      </p:sp>
      <p:sp>
        <p:nvSpPr>
          <p:cNvPr id="4" name="Text Placeholder 1">
            <a:extLst>
              <a:ext uri="{FF2B5EF4-FFF2-40B4-BE49-F238E27FC236}">
                <a16:creationId xmlns:a16="http://schemas.microsoft.com/office/drawing/2014/main" id="{D0852165-C58F-7D28-9D6D-0D43DF509A07}"/>
              </a:ext>
            </a:extLst>
          </p:cNvPr>
          <p:cNvSpPr>
            <a:spLocks noGrp="1"/>
          </p:cNvSpPr>
          <p:nvPr>
            <p:ph type="body" idx="1"/>
          </p:nvPr>
        </p:nvSpPr>
        <p:spPr>
          <a:xfrm>
            <a:off x="1053885" y="2724761"/>
            <a:ext cx="7043979" cy="977700"/>
          </a:xfrm>
        </p:spPr>
        <p:txBody>
          <a:bodyPr/>
          <a:lstStyle/>
          <a:p>
            <a:pPr algn="ctr"/>
            <a:r>
              <a:rPr lang="en-IN" sz="5000" dirty="0">
                <a:solidFill>
                  <a:srgbClr val="8C549B"/>
                </a:solidFill>
                <a:latin typeface="Playfair Display Medium"/>
              </a:rPr>
              <a:t>Acknowledgements</a:t>
            </a:r>
          </a:p>
        </p:txBody>
      </p:sp>
    </p:spTree>
    <p:extLst>
      <p:ext uri="{BB962C8B-B14F-4D97-AF65-F5344CB8AC3E}">
        <p14:creationId xmlns:p14="http://schemas.microsoft.com/office/powerpoint/2010/main" val="3676662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A6EFA6-FC0B-8165-E287-786DBE18ACF8}"/>
              </a:ext>
            </a:extLst>
          </p:cNvPr>
          <p:cNvSpPr>
            <a:spLocks noGrp="1"/>
          </p:cNvSpPr>
          <p:nvPr>
            <p:ph type="body" idx="1"/>
          </p:nvPr>
        </p:nvSpPr>
        <p:spPr/>
        <p:txBody>
          <a:bodyPr/>
          <a:lstStyle/>
          <a:p>
            <a:pPr marL="114300" indent="0" algn="ctr">
              <a:buNone/>
            </a:pPr>
            <a:r>
              <a:rPr lang="en-IN" sz="2400" dirty="0">
                <a:solidFill>
                  <a:srgbClr val="4D294B"/>
                </a:solidFill>
                <a:latin typeface="Lora"/>
              </a:rPr>
              <a:t>We are grateful to </a:t>
            </a:r>
            <a:r>
              <a:rPr lang="en-US" sz="2400" dirty="0">
                <a:solidFill>
                  <a:srgbClr val="4D294B"/>
                </a:solidFill>
                <a:latin typeface="Lora"/>
              </a:rPr>
              <a:t>Krishnan sir and </a:t>
            </a:r>
            <a:r>
              <a:rPr lang="en-US" sz="2400" dirty="0" err="1">
                <a:solidFill>
                  <a:srgbClr val="4D294B"/>
                </a:solidFill>
                <a:latin typeface="Lora"/>
              </a:rPr>
              <a:t>Prathap</a:t>
            </a:r>
            <a:r>
              <a:rPr lang="en-US" sz="2400" dirty="0">
                <a:solidFill>
                  <a:srgbClr val="4D294B"/>
                </a:solidFill>
                <a:latin typeface="Lora"/>
              </a:rPr>
              <a:t> sir,  dept. of EEE, NITK for giving us the opportunity to work on the project where we got to learn extensively about biomedical signals, machine learning and glimpse on prosthetic arm rehabilitation. </a:t>
            </a:r>
            <a:endParaRPr lang="en-IN" sz="2400" dirty="0">
              <a:solidFill>
                <a:srgbClr val="4D294B"/>
              </a:solidFill>
              <a:latin typeface="Lora"/>
            </a:endParaRPr>
          </a:p>
        </p:txBody>
      </p:sp>
    </p:spTree>
    <p:extLst>
      <p:ext uri="{BB962C8B-B14F-4D97-AF65-F5344CB8AC3E}">
        <p14:creationId xmlns:p14="http://schemas.microsoft.com/office/powerpoint/2010/main" val="1896368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2"/>
          <p:cNvSpPr txBox="1">
            <a:spLocks noGrp="1"/>
          </p:cNvSpPr>
          <p:nvPr>
            <p:ph type="title"/>
          </p:nvPr>
        </p:nvSpPr>
        <p:spPr>
          <a:xfrm>
            <a:off x="1606650" y="2715025"/>
            <a:ext cx="5930700" cy="6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8C549B"/>
                </a:solidFill>
                <a:latin typeface="Playfair Display Medium"/>
                <a:ea typeface="Playfair Display Medium"/>
                <a:cs typeface="Playfair Display Medium"/>
                <a:sym typeface="Playfair Display Medium"/>
              </a:rPr>
              <a:t>References</a:t>
            </a:r>
            <a:endParaRPr dirty="0">
              <a:solidFill>
                <a:srgbClr val="8C549B"/>
              </a:solidFill>
              <a:latin typeface="Playfair Display Medium"/>
              <a:ea typeface="Playfair Display Medium"/>
              <a:cs typeface="Playfair Display Medium"/>
              <a:sym typeface="Playfair Display Medium"/>
            </a:endParaRPr>
          </a:p>
        </p:txBody>
      </p:sp>
      <p:sp>
        <p:nvSpPr>
          <p:cNvPr id="401" name="Google Shape;401;p62"/>
          <p:cNvSpPr txBox="1">
            <a:spLocks noGrp="1"/>
          </p:cNvSpPr>
          <p:nvPr>
            <p:ph type="title" idx="2"/>
          </p:nvPr>
        </p:nvSpPr>
        <p:spPr>
          <a:xfrm>
            <a:off x="3746550" y="1574875"/>
            <a:ext cx="1650900" cy="97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3"/>
          <p:cNvSpPr txBox="1">
            <a:spLocks noGrp="1"/>
          </p:cNvSpPr>
          <p:nvPr>
            <p:ph type="subTitle" idx="1"/>
          </p:nvPr>
        </p:nvSpPr>
        <p:spPr>
          <a:xfrm>
            <a:off x="331350" y="314840"/>
            <a:ext cx="8481300" cy="4001065"/>
          </a:xfrm>
          <a:prstGeom prst="rect">
            <a:avLst/>
          </a:prstGeom>
        </p:spPr>
        <p:txBody>
          <a:bodyPr spcFirstLastPara="1" wrap="square" lIns="91425" tIns="91425" rIns="91425" bIns="91425" anchor="t" anchorCtr="0">
            <a:spAutoFit/>
          </a:bodyPr>
          <a:lstStyle/>
          <a:p>
            <a:pPr marL="457200" lvl="0" indent="-295275" algn="l" rtl="0">
              <a:lnSpc>
                <a:spcPct val="100000"/>
              </a:lnSpc>
              <a:spcBef>
                <a:spcPts val="1000"/>
              </a:spcBef>
              <a:spcAft>
                <a:spcPts val="0"/>
              </a:spcAft>
              <a:buSzPts val="1050"/>
              <a:buFont typeface="Lora"/>
              <a:buAutoNum type="arabicPeriod"/>
            </a:pPr>
            <a:r>
              <a:rPr lang="en-IN" sz="1100" dirty="0"/>
              <a:t>P. K. </a:t>
            </a:r>
            <a:r>
              <a:rPr lang="en-IN" sz="1100" dirty="0" err="1"/>
              <a:t>Koppolu</a:t>
            </a:r>
            <a:r>
              <a:rPr lang="en-IN" sz="1100" dirty="0"/>
              <a:t> and K. </a:t>
            </a:r>
            <a:r>
              <a:rPr lang="en-IN" sz="1100" dirty="0" err="1"/>
              <a:t>Chemmangat</a:t>
            </a:r>
            <a:r>
              <a:rPr lang="en-IN" sz="1100" dirty="0"/>
              <a:t>, "A two-stage classification strategy to reduce the effect of wrist orientation in surface myoelectric pattern recognition," 2022 IEEE International Conference on Signal Processing and Communications (SPCOM), Bangalore, India, 2022, pp. 1-5, </a:t>
            </a:r>
            <a:r>
              <a:rPr lang="en-IN" sz="1100" dirty="0" err="1"/>
              <a:t>doi</a:t>
            </a:r>
            <a:r>
              <a:rPr lang="en-IN" sz="1100" dirty="0"/>
              <a:t>: 10.1109/SPCOM55316.2022.9840809. </a:t>
            </a:r>
          </a:p>
          <a:p>
            <a:pPr marL="457200" lvl="0" indent="-295275" algn="l" rtl="0">
              <a:lnSpc>
                <a:spcPct val="100000"/>
              </a:lnSpc>
              <a:spcBef>
                <a:spcPts val="1000"/>
              </a:spcBef>
              <a:spcAft>
                <a:spcPts val="0"/>
              </a:spcAft>
              <a:buSzPts val="1050"/>
              <a:buFont typeface="Lora"/>
              <a:buAutoNum type="arabicPeriod"/>
            </a:pPr>
            <a:r>
              <a:rPr lang="en-IN" sz="1100" dirty="0"/>
              <a:t>O. S. </a:t>
            </a:r>
            <a:r>
              <a:rPr lang="en-IN" sz="1100" dirty="0" err="1"/>
              <a:t>Powar</a:t>
            </a:r>
            <a:r>
              <a:rPr lang="en-IN" sz="1100" dirty="0"/>
              <a:t>, K. </a:t>
            </a:r>
            <a:r>
              <a:rPr lang="en-IN" sz="1100" dirty="0" err="1"/>
              <a:t>Chemmangat</a:t>
            </a:r>
            <a:r>
              <a:rPr lang="en-IN" sz="1100" dirty="0"/>
              <a:t>, S. </a:t>
            </a:r>
            <a:r>
              <a:rPr lang="en-IN" sz="1100" dirty="0" err="1"/>
              <a:t>Figarado</a:t>
            </a:r>
            <a:r>
              <a:rPr lang="en-IN" sz="1100" dirty="0"/>
              <a:t>, "A novel pre-processing procedure for enhanced feature extraction and characterisation of electromyogram signals," Biomedical Signal Processing and Control, vol. 42, pp. 277-286, 2018, ISSN: 1746-8094, </a:t>
            </a:r>
            <a:r>
              <a:rPr lang="en-IN" sz="1100" dirty="0" err="1"/>
              <a:t>doi</a:t>
            </a:r>
            <a:r>
              <a:rPr lang="en-IN" sz="1100" dirty="0"/>
              <a:t>: 10.1016/j.bspc.2018.02.006. </a:t>
            </a:r>
          </a:p>
          <a:p>
            <a:pPr marL="457200" lvl="0" indent="-295275" algn="l" rtl="0">
              <a:lnSpc>
                <a:spcPct val="100000"/>
              </a:lnSpc>
              <a:spcBef>
                <a:spcPts val="1000"/>
              </a:spcBef>
              <a:spcAft>
                <a:spcPts val="0"/>
              </a:spcAft>
              <a:buSzPts val="1050"/>
              <a:buFont typeface="Lora"/>
              <a:buAutoNum type="arabicPeriod"/>
            </a:pPr>
            <a:r>
              <a:rPr lang="en-IN" sz="1100" dirty="0" err="1"/>
              <a:t>Powar</a:t>
            </a:r>
            <a:r>
              <a:rPr lang="en-IN" sz="1100" dirty="0"/>
              <a:t>, Omkar S &amp; </a:t>
            </a:r>
            <a:r>
              <a:rPr lang="en-IN" sz="1100" dirty="0" err="1"/>
              <a:t>Chemmangat</a:t>
            </a:r>
            <a:r>
              <a:rPr lang="en-IN" sz="1100" dirty="0"/>
              <a:t> </a:t>
            </a:r>
            <a:r>
              <a:rPr lang="en-IN" sz="1100" dirty="0" err="1"/>
              <a:t>Manakkal</a:t>
            </a:r>
            <a:r>
              <a:rPr lang="en-IN" sz="1100" dirty="0"/>
              <a:t> </a:t>
            </a:r>
            <a:r>
              <a:rPr lang="en-IN" sz="1100" dirty="0" err="1"/>
              <a:t>Cheriya</a:t>
            </a:r>
            <a:r>
              <a:rPr lang="en-IN" sz="1100" dirty="0"/>
              <a:t>, Krishnan. (2020). Reducing the effect of wrist variation on pattern recognition of Myoelectric Hand Prostheses Control through Dynamic Time Warping. Biomedical Signal Processing and Control. 55. 10.1016/j.bspc.2019.101626. </a:t>
            </a:r>
          </a:p>
          <a:p>
            <a:pPr marL="457200" lvl="0" indent="-295275" algn="l" rtl="0">
              <a:lnSpc>
                <a:spcPct val="100000"/>
              </a:lnSpc>
              <a:spcBef>
                <a:spcPts val="1000"/>
              </a:spcBef>
              <a:spcAft>
                <a:spcPts val="0"/>
              </a:spcAft>
              <a:buSzPts val="1050"/>
              <a:buFont typeface="Lora"/>
              <a:buAutoNum type="arabicPeriod"/>
            </a:pPr>
            <a:r>
              <a:rPr lang="en-IN" sz="1100" dirty="0"/>
              <a:t>O. S. </a:t>
            </a:r>
            <a:r>
              <a:rPr lang="en-IN" sz="1100" dirty="0" err="1"/>
              <a:t>Powar</a:t>
            </a:r>
            <a:r>
              <a:rPr lang="en-IN" sz="1100" dirty="0"/>
              <a:t> and K. </a:t>
            </a:r>
            <a:r>
              <a:rPr lang="en-IN" sz="1100" dirty="0" err="1"/>
              <a:t>Chemmangat</a:t>
            </a:r>
            <a:r>
              <a:rPr lang="en-IN" sz="1100" dirty="0"/>
              <a:t>, "Dynamic time warping for reducing the effect of force variation on myoelectric control of hand prostheses," J. </a:t>
            </a:r>
            <a:r>
              <a:rPr lang="en-IN" sz="1100" dirty="0" err="1"/>
              <a:t>Electromyogr</a:t>
            </a:r>
            <a:r>
              <a:rPr lang="en-IN" sz="1100" dirty="0"/>
              <a:t>. </a:t>
            </a:r>
            <a:r>
              <a:rPr lang="en-IN" sz="1100" dirty="0" err="1"/>
              <a:t>Kinesiol</a:t>
            </a:r>
            <a:r>
              <a:rPr lang="en-IN" sz="1100" dirty="0"/>
              <a:t>., vol. 48, pp. 152-160, Oct. 2019. </a:t>
            </a:r>
            <a:r>
              <a:rPr lang="en-IN" sz="1100" dirty="0" err="1"/>
              <a:t>doi</a:t>
            </a:r>
            <a:r>
              <a:rPr lang="en-IN" sz="1100" dirty="0"/>
              <a:t>: 10.1016/j.jelekin.2019.07.006. PMID: 31357113.</a:t>
            </a:r>
          </a:p>
          <a:p>
            <a:pPr marL="457200" lvl="0" indent="-295275" algn="l" rtl="0">
              <a:lnSpc>
                <a:spcPct val="100000"/>
              </a:lnSpc>
              <a:spcBef>
                <a:spcPts val="1000"/>
              </a:spcBef>
              <a:spcAft>
                <a:spcPts val="0"/>
              </a:spcAft>
              <a:buSzPts val="1050"/>
              <a:buFont typeface="Lora"/>
              <a:buAutoNum type="arabicPeriod"/>
            </a:pPr>
            <a:r>
              <a:rPr lang="en-IN" sz="1100" dirty="0"/>
              <a:t>R. </a:t>
            </a:r>
            <a:r>
              <a:rPr lang="en-IN" sz="1100" dirty="0" err="1"/>
              <a:t>Tamilselvi</a:t>
            </a:r>
            <a:r>
              <a:rPr lang="en-IN" sz="1100" dirty="0"/>
              <a:t>, A. </a:t>
            </a:r>
            <a:r>
              <a:rPr lang="en-IN" sz="1100" dirty="0" err="1"/>
              <a:t>Merline</a:t>
            </a:r>
            <a:r>
              <a:rPr lang="en-IN" sz="1100" dirty="0"/>
              <a:t>, M. P. </a:t>
            </a:r>
            <a:r>
              <a:rPr lang="en-IN" sz="1100" dirty="0" err="1"/>
              <a:t>Beham</a:t>
            </a:r>
            <a:r>
              <a:rPr lang="en-IN" sz="1100" dirty="0"/>
              <a:t>, R. V. Anand, M. S. Karthik and R. H. </a:t>
            </a:r>
            <a:r>
              <a:rPr lang="en-IN" sz="1100" dirty="0" err="1"/>
              <a:t>Uthayakumar</a:t>
            </a:r>
            <a:r>
              <a:rPr lang="en-IN" sz="1100" dirty="0"/>
              <a:t>, "EMG activated robotic arm for amputees," 2018 2nd International Conference on Inventive Systems and Control (ICISC), Coimbatore, India, 2018, pp. 456-461, </a:t>
            </a:r>
            <a:r>
              <a:rPr lang="en-IN" sz="1100" dirty="0" err="1"/>
              <a:t>doi</a:t>
            </a:r>
            <a:r>
              <a:rPr lang="en-IN" sz="1100" dirty="0"/>
              <a:t>: 10.1109/ICISC.2018.8399114. </a:t>
            </a:r>
          </a:p>
          <a:p>
            <a:pPr marL="457200" lvl="0" indent="-295275" algn="l" rtl="0">
              <a:lnSpc>
                <a:spcPct val="100000"/>
              </a:lnSpc>
              <a:spcBef>
                <a:spcPts val="1000"/>
              </a:spcBef>
              <a:spcAft>
                <a:spcPts val="0"/>
              </a:spcAft>
              <a:buSzPts val="1050"/>
              <a:buFont typeface="Lora"/>
              <a:buAutoNum type="arabicPeriod"/>
            </a:pPr>
            <a:r>
              <a:rPr lang="en-IN" sz="1100" dirty="0"/>
              <a:t>C. </a:t>
            </a:r>
            <a:r>
              <a:rPr lang="en-IN" sz="1100" dirty="0" err="1"/>
              <a:t>Tejas</a:t>
            </a:r>
            <a:r>
              <a:rPr lang="en-IN" sz="1100" dirty="0"/>
              <a:t>, V. </a:t>
            </a:r>
            <a:r>
              <a:rPr lang="en-IN" sz="1100" dirty="0" err="1"/>
              <a:t>Tejashwini</a:t>
            </a:r>
            <a:r>
              <a:rPr lang="en-IN" sz="1100" dirty="0"/>
              <a:t>, S. Dhal and P. S. Sirisha, "Flex controlled robotic arm for the amputees," 2017 2nd International Conference on Communication and Electronics Systems (ICCES), Coimbatore, India, 2017, pp. 92-97, </a:t>
            </a:r>
            <a:r>
              <a:rPr lang="en-IN" sz="1100" dirty="0" err="1"/>
              <a:t>doi</a:t>
            </a:r>
            <a:r>
              <a:rPr lang="en-IN" sz="1100" dirty="0"/>
              <a:t>: 10.1109/CESYS.2017.8321224. </a:t>
            </a:r>
            <a:endParaRPr lang="en-IN" sz="1200" u="sng" dirty="0">
              <a:solidFill>
                <a:srgbClr val="1155CC"/>
              </a:solidFill>
              <a:latin typeface="Lora"/>
              <a:ea typeface="Lora"/>
              <a:cs typeface="Lora"/>
              <a:sym typeface="Lor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4"/>
          <p:cNvSpPr txBox="1">
            <a:spLocks noGrp="1"/>
          </p:cNvSpPr>
          <p:nvPr>
            <p:ph type="title"/>
          </p:nvPr>
        </p:nvSpPr>
        <p:spPr>
          <a:xfrm>
            <a:off x="713225" y="1497763"/>
            <a:ext cx="7717500" cy="164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8C549B"/>
                </a:solidFill>
              </a:rPr>
              <a:t>Thank You</a:t>
            </a:r>
            <a:endParaRPr sz="6000">
              <a:solidFill>
                <a:srgbClr val="8C549B"/>
              </a:solidFill>
            </a:endParaRPr>
          </a:p>
        </p:txBody>
      </p:sp>
    </p:spTree>
  </p:cSld>
  <p:clrMapOvr>
    <a:masterClrMapping/>
  </p:clrMapOvr>
</p:sld>
</file>

<file path=ppt/theme/theme1.xml><?xml version="1.0" encoding="utf-8"?>
<a:theme xmlns:a="http://schemas.openxmlformats.org/drawingml/2006/main"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1709</TotalTime>
  <Words>2713</Words>
  <Application>Microsoft Office PowerPoint</Application>
  <PresentationFormat>On-screen Show (16:9)</PresentationFormat>
  <Paragraphs>273</Paragraphs>
  <Slides>47</Slides>
  <Notes>13</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47</vt:i4>
      </vt:variant>
    </vt:vector>
  </HeadingPairs>
  <TitlesOfParts>
    <vt:vector size="65" baseType="lpstr">
      <vt:lpstr>Arial</vt:lpstr>
      <vt:lpstr>Calibri</vt:lpstr>
      <vt:lpstr>Crimson Text</vt:lpstr>
      <vt:lpstr>Google Sans</vt:lpstr>
      <vt:lpstr>Janna LT</vt:lpstr>
      <vt:lpstr>Josefin Sans</vt:lpstr>
      <vt:lpstr>Lato</vt:lpstr>
      <vt:lpstr>Lora</vt:lpstr>
      <vt:lpstr>Merriweather Light</vt:lpstr>
      <vt:lpstr>Montserrat</vt:lpstr>
      <vt:lpstr>Open Sans</vt:lpstr>
      <vt:lpstr>Open Sans SemiBold</vt:lpstr>
      <vt:lpstr>Playfair Display Medium</vt:lpstr>
      <vt:lpstr>Rockford Sans Light</vt:lpstr>
      <vt:lpstr>Russo One</vt:lpstr>
      <vt:lpstr>var(--jp-code-font-family)</vt:lpstr>
      <vt:lpstr>Vidaloka</vt:lpstr>
      <vt:lpstr>Minimalist Business Slides by Slidesgo</vt:lpstr>
      <vt:lpstr>PowerPoint Presentation</vt:lpstr>
      <vt:lpstr>About the IET</vt:lpstr>
      <vt:lpstr>Communities &amp; Networks</vt:lpstr>
      <vt:lpstr>Dynamic Hand Gesture Detection using EMG Signals</vt:lpstr>
      <vt:lpstr>Objectives and Introduction</vt:lpstr>
      <vt:lpstr>PowerPoint Presentation</vt:lpstr>
      <vt:lpstr>Motivation</vt:lpstr>
      <vt:lpstr>PowerPoint Presentation</vt:lpstr>
      <vt:lpstr>PowerPoint Presentation</vt:lpstr>
      <vt:lpstr>Methodology</vt:lpstr>
      <vt:lpstr>PowerPoint Presentation</vt:lpstr>
      <vt:lpstr>PowerPoint Presentation</vt:lpstr>
      <vt:lpstr>Frequency-domain analysis </vt:lpstr>
      <vt:lpstr>Discrete Fourier Transform</vt:lpstr>
      <vt:lpstr>PowerPoint Presentation</vt:lpstr>
      <vt:lpstr>Random Forest Classifier</vt:lpstr>
      <vt:lpstr>GridSearch</vt:lpstr>
      <vt:lpstr>Time domain analysis</vt:lpstr>
      <vt:lpstr>RMS (Root Mean Square): Calculates the average strength (magnitude) of an EMG signal by considering both positive and negative fluctuations.  Variance: Measures how spread out an EMG signal is, indicating the variability in its amplitude over time.  Mean: Represents the average value of an EMG signal over a specified time window.  Integrated EMG (iEMG): Captures the total electrical activity of an EMG signal within a defined period, reflecting the overall muscle effort. </vt:lpstr>
      <vt:lpstr>Support Vector Classifier (SVC)</vt:lpstr>
      <vt:lpstr>1D Convolutional Neural Network (1D CNN):</vt:lpstr>
      <vt:lpstr>Work Done</vt:lpstr>
      <vt:lpstr>PowerPoint Presentation</vt:lpstr>
      <vt:lpstr>PowerPoint Presentation</vt:lpstr>
      <vt:lpstr>PowerPoint Presentation</vt:lpstr>
      <vt:lpstr>Dataset Generation and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Observations : </vt:lpstr>
      <vt:lpstr>Future Work</vt:lpstr>
      <vt:lpstr>PowerPoint Presentation</vt:lpstr>
      <vt:lpstr>PowerPoint Presentation</vt:lpstr>
      <vt:lpstr>PowerPoint Presentation</vt:lpstr>
      <vt:lpstr>PowerPoint Presentation</vt:lpstr>
      <vt:lpstr>PowerPoint Presentation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SUMMARISATION USING NATURAL LANGUAGE PROCESSING (NLP)</dc:title>
  <dc:creator>Rajashri</dc:creator>
  <cp:lastModifiedBy>Siddhartha Basu</cp:lastModifiedBy>
  <cp:revision>28</cp:revision>
  <dcterms:modified xsi:type="dcterms:W3CDTF">2024-03-22T12:33:22Z</dcterms:modified>
</cp:coreProperties>
</file>